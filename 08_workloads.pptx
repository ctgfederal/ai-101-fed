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spcAft>
                <a:spcPts val="500"/>
              </a:spcAft>
            </a:pPr>
            <a:r>
              <a:rPr sz="1300" b="1">
                <a:latin typeface="Verdana"/>
              </a:rPr>
              <a:t>▸  SAY:  Pick by the shape of the problem, not by sophistication.</a:t>
            </a:r>
          </a:p>
          <a:p>
            <a:pPr>
              <a:spcAft>
                <a:spcPts val="500"/>
              </a:spcAft>
            </a:pPr>
            <a:r>
              <a:rPr sz="1100" b="0">
                <a:latin typeface="Verdana"/>
              </a:rPr>
              <a:t>•  Open on the thesis for the whole section: the hard part of automation is not building it, it's choosing the right shape.</a:t>
            </a:r>
          </a:p>
          <a:p>
            <a:pPr>
              <a:spcAft>
                <a:spcPts val="500"/>
              </a:spcAft>
            </a:pPr>
            <a:r>
              <a:rPr sz="1100" b="0">
                <a:latin typeface="Verdana"/>
              </a:rPr>
              <a:t>•  A thirty-line script can do what a six-agent crew was built to do; a six-agent crew can do what a script never could.</a:t>
            </a:r>
          </a:p>
          <a:p>
            <a:pPr>
              <a:spcAft>
                <a:spcPts val="500"/>
              </a:spcAft>
            </a:pPr>
            <a:r>
              <a:rPr sz="1100" b="0">
                <a:latin typeface="Verdana"/>
              </a:rPr>
              <a:t>•  The skill is knowing which problem you actually have.</a:t>
            </a:r>
          </a:p>
          <a:p>
            <a:pPr>
              <a:spcAft>
                <a:spcPts val="500"/>
              </a:spcAft>
            </a:pPr>
            <a:r>
              <a:rPr sz="1100" b="0">
                <a:latin typeface="Verdana"/>
              </a:rPr>
              <a:t>•  Over the next slides we lay out seven distinct workload types, each with the shape of problem it fits, the shape it doesn't, and its real cost.</a:t>
            </a:r>
          </a:p>
          <a:p>
            <a:pPr>
              <a:spcAft>
                <a:spcPts val="500"/>
              </a:spcAft>
            </a:pPr>
            <a:r>
              <a:rPr sz="1100" b="0">
                <a:latin typeface="Verdana"/>
              </a:rPr>
              <a:t>•  Two honesty notes up front, because this room rewards them.</a:t>
            </a:r>
          </a:p>
          <a:p>
            <a:pPr>
              <a:spcAft>
                <a:spcPts val="500"/>
              </a:spcAft>
            </a:pPr>
            <a:r>
              <a:rPr sz="1100" b="0">
                <a:latin typeface="Verdana"/>
              </a:rPr>
              <a:t>•  First, the catalog itself is a teaching lens — other people draw the boundaries differently, and I'll say where ours is opinionated.</a:t>
            </a:r>
          </a:p>
          <a:p>
            <a:pPr>
              <a:spcAft>
                <a:spcPts val="500"/>
              </a:spcAft>
            </a:pPr>
            <a:r>
              <a:rPr sz="1100" b="0">
                <a:latin typeface="Verdana"/>
              </a:rPr>
              <a:t>•  Second, the most important idea in the deck is the last one: real systems almost never use a single type.</a:t>
            </a:r>
          </a:p>
          <a:p>
            <a:pPr>
              <a:spcAft>
                <a:spcPts val="500"/>
              </a:spcAft>
            </a:pPr>
            <a:r>
              <a:rPr sz="1100" b="0">
                <a:latin typeface="Verdana"/>
              </a:rPr>
              <a:t>•  They decompose a problem and point the right tool at each piece.</a:t>
            </a:r>
          </a:p>
          <a:p>
            <a:pPr>
              <a:spcAft>
                <a:spcPts val="500"/>
              </a:spcAft>
            </a:pPr>
            <a:r>
              <a:rPr sz="1100" b="0">
                <a:latin typeface="Verdana"/>
              </a:rPr>
              <a:t>•  Land the goal: by the end you should be able to look at a new problem and name, out loud, which two or three of these seven it actually is.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spcAft>
                <a:spcPts val="500"/>
              </a:spcAft>
            </a:pPr>
            <a:r>
              <a:rPr sz="1300" b="1">
                <a:latin typeface="Verdana"/>
              </a:rPr>
              <a:t>▸  SAY:  Automation is a toolkit, not a ladder — the types answer different questions about the work.</a:t>
            </a:r>
          </a:p>
          <a:p>
            <a:pPr>
              <a:spcAft>
                <a:spcPts val="500"/>
              </a:spcAft>
            </a:pPr>
            <a:r>
              <a:rPr sz="1100" b="0">
                <a:latin typeface="Verdana"/>
              </a:rPr>
              <a:t>•  Make the cost of getting selection wrong concrete, in both directions, because directors have felt both.</a:t>
            </a:r>
          </a:p>
          <a:p>
            <a:pPr>
              <a:spcAft>
                <a:spcPts val="500"/>
              </a:spcAft>
            </a:pPr>
            <a:r>
              <a:rPr sz="1100" b="0">
                <a:latin typeface="Verdana"/>
              </a:rPr>
              <a:t>•  Under-building is the quiet one: you wrote a script for something that actually needs judgment, so it runs fine until the day the input shifts and it does the wrong thing without raising its hand.</a:t>
            </a:r>
          </a:p>
          <a:p>
            <a:pPr>
              <a:spcAft>
                <a:spcPts val="500"/>
              </a:spcAft>
            </a:pPr>
            <a:r>
              <a:rPr sz="1100" b="0">
                <a:latin typeface="Verdana"/>
              </a:rPr>
              <a:t>•  Over-building is the loud one this audience is now most at risk of: reaching for an LLM agent because it's the exciting tool, when the work is a deterministic transform a cron job nails for a millionth of the cost.</a:t>
            </a:r>
          </a:p>
          <a:p>
            <a:pPr>
              <a:spcAft>
                <a:spcPts val="500"/>
              </a:spcAft>
            </a:pPr>
            <a:r>
              <a:rPr sz="1100" b="0">
                <a:latin typeface="Verdana"/>
              </a:rPr>
              <a:t>•  The frame to leave them with: automation is a toolkit, not a ladder.</a:t>
            </a:r>
          </a:p>
          <a:p>
            <a:pPr>
              <a:spcAft>
                <a:spcPts val="500"/>
              </a:spcAft>
            </a:pPr>
            <a:r>
              <a:rPr sz="1100" b="0">
                <a:latin typeface="Verdana"/>
              </a:rPr>
              <a:t>•  The newer types do not supersede the older ones — agents do not replace scripts any more than a CNC machine replaces a screwdriver.</a:t>
            </a:r>
          </a:p>
          <a:p>
            <a:pPr>
              <a:spcAft>
                <a:spcPts val="500"/>
              </a:spcAft>
            </a:pPr>
            <a:r>
              <a:rPr sz="1100" b="0">
                <a:latin typeface="Verdana"/>
              </a:rPr>
              <a:t>•  Each type answers a different question about the work, and a senior engineer is fluent in all of them and snobbish about none.</a:t>
            </a:r>
          </a:p>
          <a:p>
            <a:pPr>
              <a:spcAft>
                <a:spcPts val="500"/>
              </a:spcAft>
            </a:pPr>
            <a:r>
              <a:rPr sz="1100" b="0">
                <a:latin typeface="Verdana"/>
              </a:rPr>
              <a:t>•  That fluency — knowing the whole bench, not just the shiniest tool — is exactly the credibility CTG Federal is in the room to demonstrate.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spcAft>
                <a:spcPts val="500"/>
              </a:spcAft>
            </a:pPr>
            <a:r>
              <a:rPr sz="1300" b="1">
                <a:latin typeface="Verdana"/>
              </a:rPr>
              <a:t>▸  SAY:  Most catalogs blur two questions: where the decision comes from, and how the steps are composed.</a:t>
            </a:r>
          </a:p>
          <a:p>
            <a:pPr>
              <a:spcAft>
                <a:spcPts val="500"/>
              </a:spcAft>
            </a:pPr>
            <a:r>
              <a:rPr sz="1100" b="0">
                <a:latin typeface="Verdana"/>
              </a:rPr>
              <a:t>•  This is the spine of the section — read it as a map, not a list, because the axis column is the insight.</a:t>
            </a:r>
          </a:p>
          <a:p>
            <a:pPr>
              <a:spcAft>
                <a:spcPts val="500"/>
              </a:spcAft>
            </a:pPr>
            <a:r>
              <a:rPr sz="1100" b="0">
                <a:latin typeface="Verdana"/>
              </a:rPr>
              <a:t>•  Five of the seven types are different answers to one question: where does the decision logic come from?</a:t>
            </a:r>
          </a:p>
          <a:p>
            <a:pPr>
              <a:spcAft>
                <a:spcPts val="500"/>
              </a:spcAft>
            </a:pPr>
            <a:r>
              <a:rPr sz="1100" b="0">
                <a:latin typeface="Verdana"/>
              </a:rPr>
              <a:t>•  A script: you wrote it by hand.</a:t>
            </a:r>
          </a:p>
          <a:p>
            <a:pPr>
              <a:spcAft>
                <a:spcPts val="500"/>
              </a:spcAft>
            </a:pPr>
            <a:r>
              <a:rPr sz="1100" b="0">
                <a:latin typeface="Verdana"/>
              </a:rPr>
              <a:t>•  A rules engine: a domain expert wrote it as declarative policy.</a:t>
            </a:r>
          </a:p>
          <a:p>
            <a:pPr>
              <a:spcAft>
                <a:spcPts val="500"/>
              </a:spcAft>
            </a:pPr>
            <a:r>
              <a:rPr sz="1100" b="0">
                <a:latin typeface="Verdana"/>
              </a:rPr>
              <a:t>•  ML: it was learned from data.</a:t>
            </a:r>
          </a:p>
          <a:p>
            <a:pPr>
              <a:spcAft>
                <a:spcPts val="500"/>
              </a:spcAft>
            </a:pPr>
            <a:r>
              <a:rPr sz="1100" b="0">
                <a:latin typeface="Verdana"/>
              </a:rPr>
              <a:t>•  Optimization: it's computed from an objective and constraints.</a:t>
            </a:r>
          </a:p>
          <a:p>
            <a:pPr>
              <a:spcAft>
                <a:spcPts val="500"/>
              </a:spcAft>
            </a:pPr>
            <a:r>
              <a:rPr sz="1100" b="0">
                <a:latin typeface="Verdana"/>
              </a:rPr>
              <a:t>•  An agent: it's decided at runtime by reasoning.</a:t>
            </a:r>
          </a:p>
          <a:p>
            <a:pPr>
              <a:spcAft>
                <a:spcPts val="500"/>
              </a:spcAft>
            </a:pPr>
            <a:r>
              <a:rPr sz="1100" b="0">
                <a:latin typeface="Verdana"/>
              </a:rPr>
              <a:t>•  Those five are genuinely alternatives — for a given decision you usually pick one.</a:t>
            </a:r>
          </a:p>
          <a:p>
            <a:pPr>
              <a:spcAft>
                <a:spcPts val="500"/>
              </a:spcAft>
            </a:pPr>
            <a:r>
              <a:rPr sz="1100" b="0">
                <a:latin typeface="Verdana"/>
              </a:rPr>
              <a:t>•  The other two are not on that axis at all, and conflating them is the most common taxonomy mistake.</a:t>
            </a:r>
          </a:p>
          <a:p>
            <a:pPr>
              <a:spcAft>
                <a:spcPts val="500"/>
              </a:spcAft>
            </a:pPr>
            <a:r>
              <a:rPr sz="1100" b="0">
                <a:latin typeface="Verdana"/>
              </a:rPr>
              <a:t>•  Retrieval is lookup — it doesn't decide anything, it fetches the knowledge a decision needs.</a:t>
            </a:r>
          </a:p>
          <a:p>
            <a:pPr>
              <a:spcAft>
                <a:spcPts val="500"/>
              </a:spcAft>
            </a:pPr>
            <a:r>
              <a:rPr sz="1100" b="0">
                <a:latin typeface="Verdana"/>
              </a:rPr>
              <a:t>•  A workflow is composition — it's the wiring that runs the other six in order, with state between them.</a:t>
            </a:r>
          </a:p>
          <a:p>
            <a:pPr>
              <a:spcAft>
                <a:spcPts val="500"/>
              </a:spcAft>
            </a:pPr>
            <a:r>
              <a:rPr sz="1100" b="0">
                <a:latin typeface="Verdana"/>
              </a:rPr>
              <a:t>•  So when someone shows you a diagram with "scripts, ML, n8n, and agents" as four peers, push back gently: n8n is a different axis.</a:t>
            </a:r>
          </a:p>
          <a:p>
            <a:pPr>
              <a:spcAft>
                <a:spcPts val="500"/>
              </a:spcAft>
            </a:pPr>
            <a:r>
              <a:rPr sz="1100" b="0">
                <a:latin typeface="Verdana"/>
              </a:rPr>
              <a:t>•  Naming the axes is what lets you combine types cleanly later instead of treating them as rival camps.</a:t>
            </a:r>
          </a:p>
          <a:p>
            <a:pPr>
              <a:spcAft>
                <a:spcPts val="500"/>
              </a:spcAft>
            </a:pPr>
            <a:r>
              <a:rPr sz="1100" b="0">
                <a:latin typeface="Verdana"/>
              </a:rPr>
              <a:t>•  Honesty note: the seven-way cut is ours — useful, opinionated, not a standard.</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spcAft>
                <a:spcPts val="500"/>
              </a:spcAft>
            </a:pPr>
            <a:r>
              <a:rPr sz="1300" b="1">
                <a:latin typeface="Verdana"/>
              </a:rPr>
              <a:t>▸  SAY:  The first thing to try — and often the right answer even after you've seen the rest of the bench.</a:t>
            </a:r>
          </a:p>
          <a:p>
            <a:pPr>
              <a:spcAft>
                <a:spcPts val="500"/>
              </a:spcAft>
            </a:pPr>
            <a:r>
              <a:rPr sz="1100" b="0">
                <a:latin typeface="Verdana"/>
              </a:rPr>
              <a:t>•  Start here on purpose, because this audience is at risk of skipping it.</a:t>
            </a:r>
          </a:p>
          <a:p>
            <a:pPr>
              <a:spcAft>
                <a:spcPts val="500"/>
              </a:spcAft>
            </a:pPr>
            <a:r>
              <a:rPr sz="1100" b="0">
                <a:latin typeface="Verdana"/>
              </a:rPr>
              <a:t>•  A script is a list of steps a computer follows without judgment.</a:t>
            </a:r>
          </a:p>
          <a:p>
            <a:pPr>
              <a:spcAft>
                <a:spcPts val="500"/>
              </a:spcAft>
            </a:pPr>
            <a:r>
              <a:rPr sz="1100" b="0">
                <a:latin typeface="Verdana"/>
              </a:rPr>
              <a:t>•  If you can write the rule, a script runs it — and it runs identically at 2 a.m. on a holiday and at noon on a Tuesday.</a:t>
            </a:r>
          </a:p>
          <a:p>
            <a:pPr>
              <a:spcAft>
                <a:spcPts val="500"/>
              </a:spcAft>
            </a:pPr>
            <a:r>
              <a:rPr sz="1100" b="0">
                <a:latin typeface="Verdana"/>
              </a:rPr>
              <a:t>•  Where it fits: repeated work with stable schemas — pulling a nightly report, normalizing a feed, renaming files, calling an API on a cron, reshaping data between two systems.</a:t>
            </a:r>
          </a:p>
          <a:p>
            <a:pPr>
              <a:spcAft>
                <a:spcPts val="500"/>
              </a:spcAft>
            </a:pPr>
            <a:r>
              <a:rPr sz="1100" b="0">
                <a:latin typeface="Verdana"/>
              </a:rPr>
              <a:t>•  Anything where the rule can be written once and trusted.</a:t>
            </a:r>
          </a:p>
          <a:p>
            <a:pPr>
              <a:spcAft>
                <a:spcPts val="500"/>
              </a:spcAft>
            </a:pPr>
            <a:r>
              <a:rPr sz="1100" b="0">
                <a:latin typeface="Verdana"/>
              </a:rPr>
              <a:t>•  Where it breaks: scripts are brittle to schema drift and silent on edge cases — the upstream system renames a column and the script keeps running on the wrong field without complaint.</a:t>
            </a:r>
          </a:p>
          <a:p>
            <a:pPr>
              <a:spcAft>
                <a:spcPts val="500"/>
              </a:spcAft>
            </a:pPr>
            <a:r>
              <a:rPr sz="1100" b="0">
                <a:latin typeface="Verdana"/>
              </a:rPr>
              <a:t>•  That silence is the whole risk: no judgment is both the feature and the limit.</a:t>
            </a:r>
          </a:p>
          <a:p>
            <a:pPr>
              <a:spcAft>
                <a:spcPts val="500"/>
              </a:spcAft>
            </a:pPr>
            <a:r>
              <a:rPr sz="1100" b="0">
                <a:latin typeface="Verdana"/>
              </a:rPr>
              <a:t>•  The discipline that makes scripts safe is therefore validation — check your inputs, fail loud, alert on drift.</a:t>
            </a:r>
          </a:p>
          <a:p>
            <a:pPr>
              <a:spcAft>
                <a:spcPts val="500"/>
              </a:spcAft>
            </a:pPr>
            <a:r>
              <a:rPr sz="1100" b="0">
                <a:latin typeface="Verdana"/>
              </a:rPr>
              <a:t>•  For a lab: the vast majority of day-to-day automation is and should remain scripts.</a:t>
            </a:r>
          </a:p>
          <a:p>
            <a:pPr>
              <a:spcAft>
                <a:spcPts val="500"/>
              </a:spcAft>
            </a:pPr>
            <a:r>
              <a:rPr sz="1100" b="0">
                <a:latin typeface="Verdana"/>
              </a:rPr>
              <a:t>•  Reserve the expensive types for the problems that genuinely have judgment in them, and you'll spend a fraction of the budget for most of the value.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spcAft>
                <a:spcPts val="500"/>
              </a:spcAft>
            </a:pPr>
            <a:r>
              <a:rPr sz="1300" b="1">
                <a:latin typeface="Verdana"/>
              </a:rPr>
              <a:t>▸  SAY:  Reach for it when the policy changes weekly and a non-programmer has to own it.</a:t>
            </a:r>
          </a:p>
          <a:p>
            <a:pPr>
              <a:spcAft>
                <a:spcPts val="500"/>
              </a:spcAft>
            </a:pPr>
            <a:r>
              <a:rPr sz="1100" b="0">
                <a:latin typeface="Verdana"/>
              </a:rPr>
              <a:t>•  The key move that separates a rules engine from a script is separation of concerns: the rules live apart from the code that runs them, as declarative data — "if income &lt; X and dependents &gt; Y then eligible." That buys two things a script can't.</a:t>
            </a:r>
          </a:p>
          <a:p>
            <a:pPr>
              <a:spcAft>
                <a:spcPts val="500"/>
              </a:spcAft>
            </a:pPr>
            <a:r>
              <a:rPr sz="1100" b="0">
                <a:latin typeface="Verdana"/>
              </a:rPr>
              <a:t>•  First, a domain expert who doesn't code can read and change the policy directly, with no deploy.</a:t>
            </a:r>
          </a:p>
          <a:p>
            <a:pPr>
              <a:spcAft>
                <a:spcPts val="500"/>
              </a:spcAft>
            </a:pPr>
            <a:r>
              <a:rPr sz="1100" b="0">
                <a:latin typeface="Verdana"/>
              </a:rPr>
              <a:t>•  Second, every decision is explainable — the engine can tell you exactly which rules fired, which matters enormously for anything audited or regulated.</a:t>
            </a:r>
          </a:p>
          <a:p>
            <a:pPr>
              <a:spcAft>
                <a:spcPts val="500"/>
              </a:spcAft>
            </a:pPr>
            <a:r>
              <a:rPr sz="1100" b="0">
                <a:latin typeface="Verdana"/>
              </a:rPr>
              <a:t>•  Where it fits: eligibility determination, pricing and discount logic, compliance and policy checks, claims adjudication, fraud rules, configuration validation — domains with many stable, human-authored conditions that change on a governance cadence.</a:t>
            </a:r>
          </a:p>
          <a:p>
            <a:pPr>
              <a:spcAft>
                <a:spcPts val="500"/>
              </a:spcAft>
            </a:pPr>
            <a:r>
              <a:rPr sz="1100" b="0">
                <a:latin typeface="Verdana"/>
              </a:rPr>
              <a:t>•  Where it breaks: rules interact.</a:t>
            </a:r>
          </a:p>
          <a:p>
            <a:pPr>
              <a:spcAft>
                <a:spcPts val="500"/>
              </a:spcAft>
            </a:pPr>
            <a:r>
              <a:rPr sz="1100" b="0">
                <a:latin typeface="Verdana"/>
              </a:rPr>
              <a:t>•  Past a few hundred, the interactions between them — conflicts, ordering, unintended overlaps — become the maintenance burden, and no one can predict the behavior of the whole set by reading any one rule.</a:t>
            </a:r>
          </a:p>
          <a:p>
            <a:pPr>
              <a:spcAft>
                <a:spcPts val="500"/>
              </a:spcAft>
            </a:pPr>
            <a:r>
              <a:rPr sz="1100" b="0">
                <a:latin typeface="Verdana"/>
              </a:rPr>
              <a:t>•  And a rules engine never learns; it only knows what was written.</a:t>
            </a:r>
          </a:p>
          <a:p>
            <a:pPr>
              <a:spcAft>
                <a:spcPts val="500"/>
              </a:spcAft>
            </a:pPr>
            <a:r>
              <a:rPr sz="1100" b="0">
                <a:latin typeface="Verdana"/>
              </a:rPr>
              <a:t>•  The honest boundary with the next type: if you find yourself trying to hand-write hundreds of subtle conditions to approximate a pattern, that's the signal you've outgrown rules and the rule should be learned from data instead.</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spcAft>
                <a:spcPts val="500"/>
              </a:spcAft>
            </a:pPr>
            <a:r>
              <a:rPr sz="1300" b="1">
                <a:latin typeface="Verdana"/>
              </a:rPr>
              <a:t>▸  SAY:  Use ML when if/else runs out — and budget for the data pipeline, not just the model.</a:t>
            </a:r>
          </a:p>
          <a:p>
            <a:pPr>
              <a:spcAft>
                <a:spcPts val="500"/>
              </a:spcAft>
            </a:pPr>
            <a:r>
              <a:rPr sz="1100" b="0">
                <a:latin typeface="Verdana"/>
              </a:rPr>
              <a:t>•  Machine learning is the right tool when the input is messy, the rule is statistical, and you have labeled examples to learn from — or, for reinforcement learning, an environment that gives feedback.</a:t>
            </a:r>
          </a:p>
          <a:p>
            <a:pPr>
              <a:spcAft>
                <a:spcPts val="500"/>
              </a:spcAft>
            </a:pPr>
            <a:r>
              <a:rPr sz="1100" b="0">
                <a:latin typeface="Verdana"/>
              </a:rPr>
              <a:t>•  You reach for it precisely when if/else runs out and you can't hand-write the rule because the rule lives in the data.</a:t>
            </a:r>
          </a:p>
          <a:p>
            <a:pPr>
              <a:spcAft>
                <a:spcPts val="500"/>
              </a:spcAft>
            </a:pPr>
            <a:r>
              <a:rPr sz="1100" b="0">
                <a:latin typeface="Verdana"/>
              </a:rPr>
              <a:t>•  Where it fits: demand forecasting, fraud scoring, churn prediction, defect classification, anomaly detection, recommendation, ranking, route scoring, time-series projection — a number or a label that depends on patterns too tangled to code by hand, with a backlog of history to learn from.</a:t>
            </a:r>
          </a:p>
          <a:p>
            <a:pPr>
              <a:spcAft>
                <a:spcPts val="500"/>
              </a:spcAft>
            </a:pPr>
            <a:r>
              <a:rPr sz="1100" b="0">
                <a:latin typeface="Verdana"/>
              </a:rPr>
              <a:t>•  Where it breaks, and this is the part teams underbudget: ML needs data infrastructure, labeling discipline, monitoring, and a retraining cadence — none of it free.</a:t>
            </a:r>
          </a:p>
          <a:p>
            <a:pPr>
              <a:spcAft>
                <a:spcPts val="500"/>
              </a:spcAft>
            </a:pPr>
            <a:r>
              <a:rPr sz="1100" b="0">
                <a:latin typeface="Verdana"/>
              </a:rPr>
              <a:t>•  Most "AI" failures here are infrastructure failures, not model failures.</a:t>
            </a:r>
          </a:p>
          <a:p>
            <a:pPr>
              <a:spcAft>
                <a:spcPts val="500"/>
              </a:spcAft>
            </a:pPr>
            <a:r>
              <a:rPr sz="1100" b="0">
                <a:latin typeface="Verdana"/>
              </a:rPr>
              <a:t>•  The training loop, not the model file, is the real engineering surface.</a:t>
            </a:r>
          </a:p>
          <a:p>
            <a:pPr>
              <a:spcAft>
                <a:spcPts val="500"/>
              </a:spcAft>
            </a:pPr>
            <a:r>
              <a:rPr sz="1100" b="0">
                <a:latin typeface="Verdana"/>
              </a:rPr>
              <a:t>•  One sharp, current caveat this room will appreciate: large language models are not the right tool for ML's traditional numeric jobs.</a:t>
            </a:r>
          </a:p>
          <a:p>
            <a:pPr>
              <a:spcAft>
                <a:spcPts val="500"/>
              </a:spcAft>
            </a:pPr>
            <a:r>
              <a:rPr sz="1100" b="0">
                <a:latin typeface="Verdana"/>
              </a:rPr>
              <a:t>•  A logistic regression beats a chat completion at predicting a number, every time, for a fraction of the cost and with calibrated confidence.</a:t>
            </a:r>
          </a:p>
          <a:p>
            <a:pPr>
              <a:spcAft>
                <a:spcPts val="500"/>
              </a:spcAft>
            </a:pPr>
            <a:r>
              <a:rPr sz="1100" b="0">
                <a:latin typeface="Verdana"/>
              </a:rPr>
              <a:t>•  The arrival of LLMs did not retire classical ML — it sits beside it.</a:t>
            </a:r>
          </a:p>
          <a:p>
            <a:pPr>
              <a:spcAft>
                <a:spcPts val="500"/>
              </a:spcAft>
            </a:pPr>
            <a:r>
              <a:rPr sz="1100" b="0">
                <a:latin typeface="Verdana"/>
              </a:rPr>
              <a:t>•  Use the model class that fits the output: a number or a class is classical ML's job.</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spcAft>
                <a:spcPts val="500"/>
              </a:spcAft>
            </a:pPr>
            <a:r>
              <a:rPr sz="1300" b="1">
                <a:latin typeface="Verdana"/>
              </a:rPr>
              <a:t>▸  SAY:  Choose the retriever by the shape of the question — exact, conceptual, or relational.</a:t>
            </a:r>
          </a:p>
          <a:p>
            <a:pPr>
              <a:spcAft>
                <a:spcPts val="500"/>
              </a:spcAft>
            </a:pPr>
            <a:r>
              <a:rPr sz="1100" b="0">
                <a:latin typeface="Verdana"/>
              </a:rPr>
              <a:t>•  Retrieval is the type that doesn't decide anything — it supplies the knowledge a decision needs.</a:t>
            </a:r>
          </a:p>
          <a:p>
            <a:pPr>
              <a:spcAft>
                <a:spcPts val="500"/>
              </a:spcAft>
            </a:pPr>
            <a:r>
              <a:rPr sz="1100" b="0">
                <a:latin typeface="Verdana"/>
              </a:rPr>
              <a:t>•  The model knows what it was trained on; your organization knows things the model never saw — and, for a lab, things it must never be trained on.</a:t>
            </a:r>
          </a:p>
          <a:p>
            <a:pPr>
              <a:spcAft>
                <a:spcPts val="500"/>
              </a:spcAft>
            </a:pPr>
            <a:r>
              <a:rPr sz="1100" b="0">
                <a:latin typeface="Verdana"/>
              </a:rPr>
              <a:t>•  Retrieval is the bridge: saved knowledge made available on demand, in the form most useful to the question.</a:t>
            </a:r>
          </a:p>
          <a:p>
            <a:pPr>
              <a:spcAft>
                <a:spcPts val="500"/>
              </a:spcAft>
            </a:pPr>
            <a:r>
              <a:rPr sz="1100" b="0">
                <a:latin typeface="Verdana"/>
              </a:rPr>
              <a:t>•  The design rule is the slide: retrieval shape follows question shape.</a:t>
            </a:r>
          </a:p>
          <a:p>
            <a:pPr>
              <a:spcAft>
                <a:spcPts val="500"/>
              </a:spcAft>
            </a:pPr>
            <a:r>
              <a:rPr sz="1100" b="0">
                <a:latin typeface="Verdana"/>
              </a:rPr>
              <a:t>•  Grep or keyword when the user asks for a specific phrase or identifier.</a:t>
            </a:r>
          </a:p>
          <a:p>
            <a:pPr>
              <a:spcAft>
                <a:spcPts val="500"/>
              </a:spcAft>
            </a:pPr>
            <a:r>
              <a:rPr sz="1100" b="0">
                <a:latin typeface="Verdana"/>
              </a:rPr>
              <a:t>•  Vector search when the question is conceptual — "anything about thermal runaway" — and the exact words won't appear.</a:t>
            </a:r>
          </a:p>
          <a:p>
            <a:pPr>
              <a:spcAft>
                <a:spcPts val="500"/>
              </a:spcAft>
            </a:pPr>
            <a:r>
              <a:rPr sz="1100" b="0">
                <a:latin typeface="Verdana"/>
              </a:rPr>
              <a:t>•  Hybrid when both matter, which is the most common production answer.</a:t>
            </a:r>
          </a:p>
          <a:p>
            <a:pPr>
              <a:spcAft>
                <a:spcPts val="500"/>
              </a:spcAft>
            </a:pPr>
            <a:r>
              <a:rPr sz="1100" b="0">
                <a:latin typeface="Verdana"/>
              </a:rPr>
              <a:t>•  Knowledge graph when the value is in the relationships — org charts, supply chains, dependency trees, who-touched-what audit trails.</a:t>
            </a:r>
          </a:p>
          <a:p>
            <a:pPr>
              <a:spcAft>
                <a:spcPts val="500"/>
              </a:spcAft>
            </a:pPr>
            <a:r>
              <a:rPr sz="1100" b="0">
                <a:latin typeface="Verdana"/>
              </a:rPr>
              <a:t>•  And a structured query when the answer is a row in a database, not a paragraph.</a:t>
            </a:r>
          </a:p>
          <a:p>
            <a:pPr>
              <a:spcAft>
                <a:spcPts val="500"/>
              </a:spcAft>
            </a:pPr>
            <a:r>
              <a:rPr sz="1100" b="0">
                <a:latin typeface="Verdana"/>
              </a:rPr>
              <a:t>•  Where it breaks, and why it earns real engineering respect: retrieval is the part of an AI system most likely to silently hand back the wrong answer — bad chunking, a stale index, a missing citation — and the model will then reason confidently on top of irrelevant context.</a:t>
            </a:r>
          </a:p>
          <a:p>
            <a:pPr>
              <a:spcAft>
                <a:spcPts val="500"/>
              </a:spcAft>
            </a:pPr>
            <a:r>
              <a:rPr sz="1100" b="0">
                <a:latin typeface="Verdana"/>
              </a:rPr>
              <a:t>•  The wrong retriever is more dangerous than no retriever.</a:t>
            </a:r>
          </a:p>
          <a:p>
            <a:pPr>
              <a:spcAft>
                <a:spcPts val="500"/>
              </a:spcAft>
            </a:pPr>
            <a:r>
              <a:rPr sz="1100" b="0">
                <a:latin typeface="Verdana"/>
              </a:rPr>
              <a:t>•  Treat retrieval quality as a first-class metric and evaluate it independently of the model that consumes it.</a:t>
            </a:r>
          </a:p>
          <a:p>
            <a:pPr>
              <a:spcAft>
                <a:spcPts val="500"/>
              </a:spcAft>
            </a:pPr>
            <a:r>
              <a:rPr sz="1100" b="0">
                <a:latin typeface="Verdana"/>
              </a:rPr>
              <a:t>•  For on-prem and air-gapped labs this is the workhorse: it's how a model uses your private corpus without that corpus ever entering training.</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spcAft>
                <a:spcPts val="500"/>
              </a:spcAft>
            </a:pPr>
            <a:r>
              <a:rPr sz="1300" b="1">
                <a:latin typeface="Verdana"/>
              </a:rPr>
              <a:t>▸  SAY:  A solver gives a proof a model can't — when you can state the math, solve it.</a:t>
            </a:r>
          </a:p>
          <a:p>
            <a:pPr>
              <a:spcAft>
                <a:spcPts val="500"/>
              </a:spcAft>
            </a:pPr>
            <a:r>
              <a:rPr sz="1100" b="0">
                <a:latin typeface="Verdana"/>
              </a:rPr>
              <a:t>•  This is the type most automation catalogs omit and the one this audience lives in, so give it weight.</a:t>
            </a:r>
          </a:p>
          <a:p>
            <a:pPr>
              <a:spcAft>
                <a:spcPts val="500"/>
              </a:spcAft>
            </a:pPr>
            <a:r>
              <a:rPr sz="1100" b="0">
                <a:latin typeface="Verdana"/>
              </a:rPr>
              <a:t>•  Some problems aren't learned from data and aren't a lookup — they're computed.</a:t>
            </a:r>
          </a:p>
          <a:p>
            <a:pPr>
              <a:spcAft>
                <a:spcPts val="500"/>
              </a:spcAft>
            </a:pPr>
            <a:r>
              <a:rPr sz="1100" b="0">
                <a:latin typeface="Verdana"/>
              </a:rPr>
              <a:t>•  Split it in two.</a:t>
            </a:r>
          </a:p>
          <a:p>
            <a:pPr>
              <a:spcAft>
                <a:spcPts val="500"/>
              </a:spcAft>
            </a:pPr>
            <a:r>
              <a:rPr sz="1100" b="0">
                <a:latin typeface="Verdana"/>
              </a:rPr>
              <a:t>•  Optimization: you can state an objective and a set of constraints, and you want the best feasible answer — scheduling, routing, resource and beam-time allocation, portfolio and load balancing, network design.</a:t>
            </a:r>
          </a:p>
          <a:p>
            <a:pPr>
              <a:spcAft>
                <a:spcPts val="500"/>
              </a:spcAft>
            </a:pPr>
            <a:r>
              <a:rPr sz="1100" b="0">
                <a:latin typeface="Verdana"/>
              </a:rPr>
              <a:t>•  The tools are mathematical solvers — linear and mixed-integer programming via OR-Tools, Gurobi, CPLEX — and crucially they return a provably optimal or provably feasible answer, with a bound.</a:t>
            </a:r>
          </a:p>
          <a:p>
            <a:pPr>
              <a:spcAft>
                <a:spcPts val="500"/>
              </a:spcAft>
            </a:pPr>
            <a:r>
              <a:rPr sz="1100" b="0">
                <a:latin typeface="Verdana"/>
              </a:rPr>
              <a:t>•  That guarantee is something no learned model offers.</a:t>
            </a:r>
          </a:p>
          <a:p>
            <a:pPr>
              <a:spcAft>
                <a:spcPts val="500"/>
              </a:spcAft>
            </a:pPr>
            <a:r>
              <a:rPr sz="1100" b="0">
                <a:latin typeface="Verdana"/>
              </a:rPr>
              <a:t>•  Simulation: you have a model of a system and want to know how it behaves — Monte Carlo for uncertainty, finite-element and computational fluid dynamics for physical systems, discrete- event for operations.</a:t>
            </a:r>
          </a:p>
          <a:p>
            <a:pPr>
              <a:spcAft>
                <a:spcPts val="500"/>
              </a:spcAft>
            </a:pPr>
            <a:r>
              <a:rPr sz="1100" b="0">
                <a:latin typeface="Verdana"/>
              </a:rPr>
              <a:t>•  The output is a distribution of outcomes, and the workload is numerical compute, which is exactly what HPC and accelerators exist for.</a:t>
            </a:r>
          </a:p>
          <a:p>
            <a:pPr>
              <a:spcAft>
                <a:spcPts val="500"/>
              </a:spcAft>
            </a:pPr>
            <a:r>
              <a:rPr sz="1100" b="0">
                <a:latin typeface="Verdana"/>
              </a:rPr>
              <a:t>•  Where it breaks: the result is only as good as the model — a beautiful optimum for the wrong constraints, or a simulation whose assumptions drift from reality, is confidently wrong.</a:t>
            </a:r>
          </a:p>
          <a:p>
            <a:pPr>
              <a:spcAft>
                <a:spcPts val="500"/>
              </a:spcAft>
            </a:pPr>
            <a:r>
              <a:rPr sz="1100" b="0">
                <a:latin typeface="Verdana"/>
              </a:rPr>
              <a:t>•  The honesty this room wants: an LLM does not replace a solver or a simulator.</a:t>
            </a:r>
          </a:p>
          <a:p>
            <a:pPr>
              <a:spcAft>
                <a:spcPts val="500"/>
              </a:spcAft>
            </a:pPr>
            <a:r>
              <a:rPr sz="1100" b="0">
                <a:latin typeface="Verdana"/>
              </a:rPr>
              <a:t>•  What it can do is help formulate the model, generate the constraints, explain the result, and sit at the human interface — natural language in front, exact math underneath.</a:t>
            </a:r>
          </a:p>
          <a:p>
            <a:pPr>
              <a:spcAft>
                <a:spcPts val="500"/>
              </a:spcAft>
            </a:pPr>
            <a:r>
              <a:rPr sz="1100" b="0">
                <a:latin typeface="Verdana"/>
              </a:rPr>
              <a:t>•  Pairing the two, rather than substituting one for the other, is the design pattern.</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spcAft>
                <a:spcPts val="500"/>
              </a:spcAft>
            </a:pPr>
            <a:r>
              <a:rPr sz="1300" b="1">
                <a:latin typeface="Verdana"/>
              </a:rPr>
              <a:t>▸  SAY:  A workflow is the sentence; the other types are the words.</a:t>
            </a:r>
          </a:p>
          <a:p>
            <a:pPr>
              <a:spcAft>
                <a:spcPts val="500"/>
              </a:spcAft>
            </a:pPr>
            <a:r>
              <a:rPr sz="1100" b="0">
                <a:latin typeface="Verdana"/>
              </a:rPr>
              <a:t>•  Say the axis distinction out loud again, because it's the slide's whole point: a workflow is not a rival to scripts or ML, it's the layer that composes them.</a:t>
            </a:r>
          </a:p>
          <a:p>
            <a:pPr>
              <a:spcAft>
                <a:spcPts val="500"/>
              </a:spcAft>
            </a:pPr>
            <a:r>
              <a:rPr sz="1100" b="0">
                <a:latin typeface="Verdana"/>
              </a:rPr>
              <a:t>•  A DAG — a directed acyclic graph — is an ordered set of steps with the dependencies drawn explicitly, state passed between them, retries on failure, and gates where a human or a validator can intervene.</a:t>
            </a:r>
          </a:p>
          <a:p>
            <a:pPr>
              <a:spcAft>
                <a:spcPts val="500"/>
              </a:spcAft>
            </a:pPr>
            <a:r>
              <a:rPr sz="1100" b="0">
                <a:latin typeface="Verdana"/>
              </a:rPr>
              <a:t>•  The bottleneck a workflow tool solves is integration breadth, not reasoning depth: the litmus test is "take this thing from here, move it to there, do something simple in the middle, notify someone." Two flavors worth naming.</a:t>
            </a:r>
          </a:p>
          <a:p>
            <a:pPr>
              <a:spcAft>
                <a:spcPts val="500"/>
              </a:spcAft>
            </a:pPr>
            <a:r>
              <a:rPr sz="1100" b="0">
                <a:latin typeface="Verdana"/>
              </a:rPr>
              <a:t>•  Visual, node-based tools — n8n is the canonical one, a thousand-plus connectors, a canvas an operator can read and fix — win when the work is gluing SaaS systems together and time-to-first-win matters.</a:t>
            </a:r>
          </a:p>
          <a:p>
            <a:pPr>
              <a:spcAft>
                <a:spcPts val="500"/>
              </a:spcAft>
            </a:pPr>
            <a:r>
              <a:rPr sz="1100" b="0">
                <a:latin typeface="Verdana"/>
              </a:rPr>
              <a:t>•  Code-first frameworks — Airflow and Dagster for data pipelines, LangGraph when an agent loop has to ship as a versioned, testable product — win when the graph grows past a hundred nodes or needs unit tests and a deploy pipeline.</a:t>
            </a:r>
          </a:p>
          <a:p>
            <a:pPr>
              <a:spcAft>
                <a:spcPts val="500"/>
              </a:spcAft>
            </a:pPr>
            <a:r>
              <a:rPr sz="1100" b="0">
                <a:latin typeface="Verdana"/>
              </a:rPr>
              <a:t>•  Where it breaks: a workflow inherits the fragility of its glue.</a:t>
            </a:r>
          </a:p>
          <a:p>
            <a:pPr>
              <a:spcAft>
                <a:spcPts val="500"/>
              </a:spcAft>
            </a:pPr>
            <a:r>
              <a:rPr sz="1100" b="0">
                <a:latin typeface="Verdana"/>
              </a:rPr>
              <a:t>•  Every connector is a coupling, and a visual canvas that was approachable at twenty nodes becomes an unmaintainable liability at two hundred.</a:t>
            </a:r>
          </a:p>
          <a:p>
            <a:pPr>
              <a:spcAft>
                <a:spcPts val="500"/>
              </a:spcAft>
            </a:pPr>
            <a:r>
              <a:rPr sz="1100" b="0">
                <a:latin typeface="Verdana"/>
              </a:rPr>
              <a:t>•  The discipline is the same as for code — version it, test it, and keep the graph legible.</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spcAft>
                <a:spcPts val="500"/>
              </a:spcAft>
            </a:pPr>
            <a:r>
              <a:rPr sz="1300" b="1">
                <a:latin typeface="Verdana"/>
              </a:rPr>
              <a:t>▸  SAY:  Reach for an agent only when the workflow genuinely can't be drawn ahead of time.</a:t>
            </a:r>
          </a:p>
          <a:p>
            <a:pPr>
              <a:spcAft>
                <a:spcPts val="500"/>
              </a:spcAft>
            </a:pPr>
            <a:r>
              <a:rPr sz="1100" b="0">
                <a:latin typeface="Verdana"/>
              </a:rPr>
              <a:t>•  The defining difference from a workflow is who chooses the next step.</a:t>
            </a:r>
          </a:p>
          <a:p>
            <a:pPr>
              <a:spcAft>
                <a:spcPts val="500"/>
              </a:spcAft>
            </a:pPr>
            <a:r>
              <a:rPr sz="1100" b="0">
                <a:latin typeface="Verdana"/>
              </a:rPr>
              <a:t>•  In a workflow you drew the graph; in an agentic loop the model draws it as it goes — it reasons about the goal, calls a tool, observes the result, and decides the next move, repeating until a stopping condition.</a:t>
            </a:r>
          </a:p>
          <a:p>
            <a:pPr>
              <a:spcAft>
                <a:spcPts val="500"/>
              </a:spcAft>
            </a:pPr>
            <a:r>
              <a:rPr sz="1100" b="0">
                <a:latin typeface="Verdana"/>
              </a:rPr>
              <a:t>•  Make it grabbable with the trace on the slide: the model literally emits a structured tool call — name and arguments — the harness executes it against the real world, and the observation comes back into the context for the next turn.</a:t>
            </a:r>
          </a:p>
          <a:p>
            <a:pPr>
              <a:spcAft>
                <a:spcPts val="500"/>
              </a:spcAft>
            </a:pPr>
            <a:r>
              <a:rPr sz="1100" b="0">
                <a:latin typeface="Verdana"/>
              </a:rPr>
              <a:t>•  That loop is the whole mechanism; everything else is engineering around it.</a:t>
            </a:r>
          </a:p>
          <a:p>
            <a:pPr>
              <a:spcAft>
                <a:spcPts val="500"/>
              </a:spcAft>
            </a:pPr>
            <a:r>
              <a:rPr sz="1100" b="0">
                <a:latin typeface="Verdana"/>
              </a:rPr>
              <a:t>•  Where it fits: tasks with real judgment whose steps vary per input and can't be enumerated up front — triage this unfamiliar incident, investigate why this run failed, navigate this system to accomplish a goal. Where it breaks, and why two of the three specs are about cost: an agent is the most expensive type by far.</a:t>
            </a:r>
          </a:p>
          <a:p>
            <a:pPr>
              <a:spcAft>
                <a:spcPts val="500"/>
              </a:spcAft>
            </a:pPr>
            <a:r>
              <a:rPr sz="1100" b="0">
                <a:latin typeface="Verdana"/>
              </a:rPr>
              <a:t>•  You pay tokens times turns, latency is unbounded, and the output is non-deterministic — the same input can take a different path twice.</a:t>
            </a:r>
          </a:p>
          <a:p>
            <a:pPr>
              <a:spcAft>
                <a:spcPts val="500"/>
              </a:spcAft>
            </a:pPr>
            <a:r>
              <a:rPr sz="1100" b="0">
                <a:latin typeface="Verdana"/>
              </a:rPr>
              <a:t>•  The failure modes are specific: it picks the wrong tool, or it loops without converging.</a:t>
            </a:r>
          </a:p>
          <a:p>
            <a:pPr>
              <a:spcAft>
                <a:spcPts val="500"/>
              </a:spcAft>
            </a:pPr>
            <a:r>
              <a:rPr sz="1100" b="0">
                <a:latin typeface="Verdana"/>
              </a:rPr>
              <a:t>•  So the engineering is all about control — a turn budget, a stopping condition, guardrails on irreversible actions, and a human gate.</a:t>
            </a:r>
          </a:p>
          <a:p>
            <a:pPr>
              <a:spcAft>
                <a:spcPts val="500"/>
              </a:spcAft>
            </a:pPr>
            <a:r>
              <a:rPr sz="1100" b="0">
                <a:latin typeface="Verdana"/>
              </a:rPr>
              <a:t>•  The honest rule, which sets up the next two slides: an agent is the right answer surprisingly rarely on its own.</a:t>
            </a:r>
          </a:p>
          <a:p>
            <a:pPr>
              <a:spcAft>
                <a:spcPts val="500"/>
              </a:spcAft>
            </a:pPr>
            <a:r>
              <a:rPr sz="1100" b="0">
                <a:latin typeface="Verdana"/>
              </a:rPr>
              <a:t>•  Most of its value shows up as one judgment-heavy step inside a larger workflow, not as the whole system.</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spcAft>
                <a:spcPts val="500"/>
              </a:spcAft>
            </a:pPr>
            <a:r>
              <a:rPr sz="1300" b="1">
                <a:latin typeface="Verdana"/>
              </a:rPr>
              <a:t>▸  SAY:  Most real problems answer "yes" more than once.</a:t>
            </a:r>
          </a:p>
          <a:p>
            <a:pPr>
              <a:spcAft>
                <a:spcPts val="500"/>
              </a:spcAft>
            </a:pPr>
            <a:r>
              <a:rPr sz="1100" b="0">
                <a:latin typeface="Verdana"/>
              </a:rPr>
              <a:t>•  Give them a portable decision procedure they can run in their head on Monday.</a:t>
            </a:r>
          </a:p>
          <a:p>
            <a:pPr>
              <a:spcAft>
                <a:spcPts val="500"/>
              </a:spcAft>
            </a:pPr>
            <a:r>
              <a:rPr sz="1100" b="0">
                <a:latin typeface="Verdana"/>
              </a:rPr>
              <a:t>•  Walk it top to bottom and take the first fit, because the questions are ordered cheapest-first.</a:t>
            </a:r>
          </a:p>
          <a:p>
            <a:pPr>
              <a:spcAft>
                <a:spcPts val="500"/>
              </a:spcAft>
            </a:pPr>
            <a:r>
              <a:rPr sz="1100" b="0">
                <a:latin typeface="Verdana"/>
              </a:rPr>
              <a:t>•  One: can you write the rule?</a:t>
            </a:r>
          </a:p>
          <a:p>
            <a:pPr>
              <a:spcAft>
                <a:spcPts val="500"/>
              </a:spcAft>
            </a:pPr>
            <a:r>
              <a:rPr sz="1100" b="0">
                <a:latin typeface="Verdana"/>
              </a:rPr>
              <a:t>•  If yes and the inputs are stable, it's a script — done, go home.</a:t>
            </a:r>
          </a:p>
          <a:p>
            <a:pPr>
              <a:spcAft>
                <a:spcPts val="500"/>
              </a:spcAft>
            </a:pPr>
            <a:r>
              <a:rPr sz="1100" b="0">
                <a:latin typeface="Verdana"/>
              </a:rPr>
              <a:t>•  If yes but the policy belongs to a non-programmer who changes it often, it's a rules engine.</a:t>
            </a:r>
          </a:p>
          <a:p>
            <a:pPr>
              <a:spcAft>
                <a:spcPts val="500"/>
              </a:spcAft>
            </a:pPr>
            <a:r>
              <a:rPr sz="1100" b="0">
                <a:latin typeface="Verdana"/>
              </a:rPr>
              <a:t>•  Two: if you can't write the rule, is the answer simply sitting in your data?</a:t>
            </a:r>
          </a:p>
          <a:p>
            <a:pPr>
              <a:spcAft>
                <a:spcPts val="500"/>
              </a:spcAft>
            </a:pPr>
            <a:r>
              <a:rPr sz="1100" b="0">
                <a:latin typeface="Verdana"/>
              </a:rPr>
              <a:t>•  Then it's retrieval — you don't need to compute anything, you need to find it.</a:t>
            </a:r>
          </a:p>
          <a:p>
            <a:pPr>
              <a:spcAft>
                <a:spcPts val="500"/>
              </a:spcAft>
            </a:pPr>
            <a:r>
              <a:rPr sz="1100" b="0">
                <a:latin typeface="Verdana"/>
              </a:rPr>
              <a:t>•  Three: if it has to be computed, is it provable math from an objective and constraints, or a pattern learned from examples?</a:t>
            </a:r>
          </a:p>
          <a:p>
            <a:pPr>
              <a:spcAft>
                <a:spcPts val="500"/>
              </a:spcAft>
            </a:pPr>
            <a:r>
              <a:rPr sz="1100" b="0">
                <a:latin typeface="Verdana"/>
              </a:rPr>
              <a:t>•  Provable math is optimization or simulation; a learned pattern is ML.</a:t>
            </a:r>
          </a:p>
          <a:p>
            <a:pPr>
              <a:spcAft>
                <a:spcPts val="500"/>
              </a:spcAft>
            </a:pPr>
            <a:r>
              <a:rPr sz="1100" b="0">
                <a:latin typeface="Verdana"/>
              </a:rPr>
              <a:t>•  And the special case that defines our era: if the steps themselves can't be known until runtime, it's an agent.</a:t>
            </a:r>
          </a:p>
          <a:p>
            <a:pPr>
              <a:spcAft>
                <a:spcPts val="500"/>
              </a:spcAft>
            </a:pPr>
            <a:r>
              <a:rPr sz="1100" b="0">
                <a:latin typeface="Verdana"/>
              </a:rPr>
              <a:t>•  Note what this rubric quietly does — it puts the agent last, not because agents are bad but because they're the most expensive answer, so you only land there when the cheaper questions have all said no.</a:t>
            </a:r>
          </a:p>
          <a:p>
            <a:pPr>
              <a:spcAft>
                <a:spcPts val="500"/>
              </a:spcAft>
            </a:pPr>
            <a:r>
              <a:rPr sz="1100" b="0">
                <a:latin typeface="Verdana"/>
              </a:rPr>
              <a:t>•  Say the honest caveat: this is a teaching heuristic, not a law, and a real problem often answers yes at several levels at once.</a:t>
            </a:r>
          </a:p>
          <a:p>
            <a:pPr>
              <a:spcAft>
                <a:spcPts val="500"/>
              </a:spcAft>
            </a:pPr>
            <a:r>
              <a:rPr sz="1100" b="0">
                <a:latin typeface="Verdana"/>
              </a:rPr>
              <a:t>•  That's not the rubric failing — that's the rubric telling you the problem is a combination, which is exactly where we go next.</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spcAft>
                <a:spcPts val="500"/>
              </a:spcAft>
            </a:pPr>
            <a:r>
              <a:rPr sz="1300" b="1">
                <a:latin typeface="Verdana"/>
              </a:rPr>
              <a:t>▸  SAY:  The skill is decomposition — match each sub-problem to the cheapest type that fits it.</a:t>
            </a:r>
          </a:p>
          <a:p>
            <a:pPr>
              <a:spcAft>
                <a:spcPts val="500"/>
              </a:spcAft>
            </a:pPr>
            <a:r>
              <a:rPr sz="1100" b="0">
                <a:latin typeface="Verdana"/>
              </a:rPr>
              <a:t>•  This is the payoff slide, so slow down and make it concrete with one end-to-end example the room will recognize: predictive maintenance on expensive instruments.</a:t>
            </a:r>
          </a:p>
          <a:p>
            <a:pPr>
              <a:spcAft>
                <a:spcPts val="500"/>
              </a:spcAft>
            </a:pPr>
            <a:r>
              <a:rPr sz="1100" b="0">
                <a:latin typeface="Verdana"/>
              </a:rPr>
              <a:t>•  Sensor data comes in continuously — that's a script, a deterministic ingest on a schedule; no judgment, no model, don't over-think it.</a:t>
            </a:r>
          </a:p>
          <a:p>
            <a:pPr>
              <a:spcAft>
                <a:spcPts val="500"/>
              </a:spcAft>
            </a:pPr>
            <a:r>
              <a:rPr sz="1100" b="0">
                <a:latin typeface="Verdana"/>
              </a:rPr>
              <a:t>•  A model scores each reading for anomaly — that's ML, because "is this vibration pattern abnormal" is learned from history, not hand-written.</a:t>
            </a:r>
          </a:p>
          <a:p>
            <a:pPr>
              <a:spcAft>
                <a:spcPts val="500"/>
              </a:spcAft>
            </a:pPr>
            <a:r>
              <a:rPr sz="1100" b="0">
                <a:latin typeface="Verdana"/>
              </a:rPr>
              <a:t>•  When something looks off, the system pulls the most similar past failures and their fixes — that's retrieval over your maintenance records.</a:t>
            </a:r>
          </a:p>
          <a:p>
            <a:pPr>
              <a:spcAft>
                <a:spcPts val="500"/>
              </a:spcAft>
            </a:pPr>
            <a:r>
              <a:rPr sz="1100" b="0">
                <a:latin typeface="Verdana"/>
              </a:rPr>
              <a:t>•  Then it has to schedule the repair against technician availability, parts, and downtime windows — that's optimization, a real constraint problem with a provable best answer.</a:t>
            </a:r>
          </a:p>
          <a:p>
            <a:pPr>
              <a:spcAft>
                <a:spcPts val="500"/>
              </a:spcAft>
            </a:pPr>
            <a:r>
              <a:rPr sz="1100" b="0">
                <a:latin typeface="Verdana"/>
              </a:rPr>
              <a:t>•  And for the genuinely strange case that matches no known pattern, it hands off to an agent that investigates across logs and manuals before escalating — that's the one place runtime judgment earns its cost.</a:t>
            </a:r>
          </a:p>
          <a:p>
            <a:pPr>
              <a:spcAft>
                <a:spcPts val="500"/>
              </a:spcAft>
            </a:pPr>
            <a:r>
              <a:rPr sz="1100" b="0">
                <a:latin typeface="Verdana"/>
              </a:rPr>
              <a:t>•  Holding all five in order, with state between them and a human gate before any work order goes out, is the workflow.</a:t>
            </a:r>
          </a:p>
          <a:p>
            <a:pPr>
              <a:spcAft>
                <a:spcPts val="500"/>
              </a:spcAft>
            </a:pPr>
            <a:r>
              <a:rPr sz="1100" b="0">
                <a:latin typeface="Verdana"/>
              </a:rPr>
              <a:t>•  Now the lesson: nobody should build that as "an AI system." You build it by decomposing the problem and asking, for each piece, the rubric question — and pointing the cheapest type that fits at each one.</a:t>
            </a:r>
          </a:p>
          <a:p>
            <a:pPr>
              <a:spcAft>
                <a:spcPts val="500"/>
              </a:spcAft>
            </a:pPr>
            <a:r>
              <a:rPr sz="1100" b="0">
                <a:latin typeface="Verdana"/>
              </a:rPr>
              <a:t>•  Get the decomposition right and most of the system is cheap, deterministic, and trustworthy, with the expensive agentic judgment reserved for the one slice that truly needs it.</a:t>
            </a:r>
          </a:p>
          <a:p>
            <a:pPr>
              <a:spcAft>
                <a:spcPts val="500"/>
              </a:spcAft>
            </a:pPr>
            <a:r>
              <a:rPr sz="1100" b="0">
                <a:latin typeface="Verdana"/>
              </a:rPr>
              <a:t>•  That discipline — not the agent — is the engineering.</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spcAft>
                <a:spcPts val="500"/>
              </a:spcAft>
            </a:pPr>
            <a:r>
              <a:rPr sz="1300" b="1">
                <a:latin typeface="Verdana"/>
              </a:rPr>
              <a:t>▸  SAY:  The newest type isn't the best type — it's the most expensive one that happens to fit.</a:t>
            </a:r>
          </a:p>
          <a:p>
            <a:pPr>
              <a:spcAft>
                <a:spcPts val="500"/>
              </a:spcAft>
            </a:pPr>
            <a:r>
              <a:rPr sz="1100" b="0">
                <a:latin typeface="Verdana"/>
              </a:rPr>
              <a:t>•  Don't oversell — in a technical room the willingness to say "use the boring tool" is what earns belief about when to use the exciting one.</a:t>
            </a:r>
          </a:p>
          <a:p>
            <a:pPr>
              <a:spcAft>
                <a:spcPts val="500"/>
              </a:spcAft>
            </a:pPr>
            <a:r>
              <a:rPr sz="1100" b="0">
                <a:latin typeface="Verdana"/>
              </a:rPr>
              <a:t>•  Read the ladder as a cost-and-trust gradient: every rung up buys more flexibility and pays for it in cost, determinism, and how much you have to trust a black box.</a:t>
            </a:r>
          </a:p>
          <a:p>
            <a:pPr>
              <a:spcAft>
                <a:spcPts val="500"/>
              </a:spcAft>
            </a:pPr>
            <a:r>
              <a:rPr sz="1100" b="0">
                <a:latin typeface="Verdana"/>
              </a:rPr>
              <a:t>•  A script is the cheapest and most reliable thing you can build; an agent is the most flexible and the least predictable.</a:t>
            </a:r>
          </a:p>
          <a:p>
            <a:pPr>
              <a:spcAft>
                <a:spcPts val="500"/>
              </a:spcAft>
            </a:pPr>
            <a:r>
              <a:rPr sz="1100" b="0">
                <a:latin typeface="Verdana"/>
              </a:rPr>
              <a:t>•  The rule is simple and unfashionable — stop at the first rung that actually fits the problem, and resist the pull to climb for its own sake.</a:t>
            </a:r>
          </a:p>
          <a:p>
            <a:pPr>
              <a:spcAft>
                <a:spcPts val="500"/>
              </a:spcAft>
            </a:pPr>
            <a:r>
              <a:rPr sz="1100" b="0">
                <a:latin typeface="Verdana"/>
              </a:rPr>
              <a:t>•  Two specific don'ts, both orange because they're the expensive mistakes this audience is most likely to make in 2026.</a:t>
            </a:r>
          </a:p>
          <a:p>
            <a:pPr>
              <a:spcAft>
                <a:spcPts val="500"/>
              </a:spcAft>
            </a:pPr>
            <a:r>
              <a:rPr sz="1100" b="0">
                <a:latin typeface="Verdana"/>
              </a:rPr>
              <a:t>•  First: an agent where a script would do.</a:t>
            </a:r>
          </a:p>
          <a:p>
            <a:pPr>
              <a:spcAft>
                <a:spcPts val="500"/>
              </a:spcAft>
            </a:pPr>
            <a:r>
              <a:rPr sz="1100" b="0">
                <a:latin typeface="Verdana"/>
              </a:rPr>
              <a:t>•  You pay roughly a thousand times the cost and trade a deterministic, auditable result for a probabilistic one — for a transform that never needed judgment.</a:t>
            </a:r>
          </a:p>
          <a:p>
            <a:pPr>
              <a:spcAft>
                <a:spcPts val="500"/>
              </a:spcAft>
            </a:pPr>
            <a:r>
              <a:rPr sz="1100" b="0">
                <a:latin typeface="Verdana"/>
              </a:rPr>
              <a:t>•  Second, the one people get wrong even when agents are appropriate: multi-agent orchestration is not free.</a:t>
            </a:r>
          </a:p>
          <a:p>
            <a:pPr>
              <a:spcAft>
                <a:spcPts val="500"/>
              </a:spcAft>
            </a:pPr>
            <a:r>
              <a:rPr sz="1100" b="0">
                <a:latin typeface="Verdana"/>
              </a:rPr>
              <a:t>•  Anthropic reported their multi-agent research system used about fifteen times the tokens of a single chat, and roughly eighty percent of the quality variance was explained by token spend — it only beat a single agent because the work genuinely fanned out into parallel, independent sub-tasks.</a:t>
            </a:r>
          </a:p>
          <a:p>
            <a:pPr>
              <a:spcAft>
                <a:spcPts val="500"/>
              </a:spcAft>
            </a:pPr>
            <a:r>
              <a:rPr sz="1100" b="0">
                <a:latin typeface="Verdana"/>
              </a:rPr>
              <a:t>•  Sequential, tightly-coupled work doesn't recover that cost.</a:t>
            </a:r>
          </a:p>
          <a:p>
            <a:pPr>
              <a:spcAft>
                <a:spcPts val="500"/>
              </a:spcAft>
            </a:pPr>
            <a:r>
              <a:rPr sz="1100" b="0">
                <a:latin typeface="Verdana"/>
              </a:rPr>
              <a:t>•  So: orchestrate when the work parallelizes, otherwise one well-engineered context is cheaper and often just as good.</a:t>
            </a:r>
          </a:p>
          <a:p>
            <a:pPr>
              <a:spcAft>
                <a:spcPts val="500"/>
              </a:spcAft>
            </a:pPr>
            <a:r>
              <a:rPr sz="1100" b="0">
                <a:latin typeface="Verdana"/>
              </a:rPr>
              <a:t>•  Isolation is a budget line, not a default.</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spcAft>
                <a:spcPts val="500"/>
              </a:spcAft>
            </a:pPr>
            <a:r>
              <a:rPr sz="1300" b="1">
                <a:latin typeface="Verdana"/>
              </a:rPr>
              <a:t>▸  SAY:  Let's decompose a real problem live and name each piece. → To the notebook.</a:t>
            </a:r>
          </a:p>
          <a:p>
            <a:pPr>
              <a:spcAft>
                <a:spcPts val="500"/>
              </a:spcAft>
            </a:pPr>
            <a:r>
              <a:rPr sz="1100" b="0">
                <a:latin typeface="Verdana"/>
              </a:rPr>
              <a:t>•  The bookend.</a:t>
            </a:r>
          </a:p>
          <a:p>
            <a:pPr>
              <a:spcAft>
                <a:spcPts val="500"/>
              </a:spcAft>
            </a:pPr>
            <a:r>
              <a:rPr sz="1100" b="0">
                <a:latin typeface="Verdana"/>
              </a:rPr>
              <a:t>•  Land the whole section in one breath: there are seven types on the bench, and fluency is knowing which fits which problem — scripts and rules for what you can write down, ML and solvers for the math that's hard in two different ways, retrieval for what you already know, workflows to wire it together, and agents for the genuinely unknown path.</a:t>
            </a:r>
          </a:p>
          <a:p>
            <a:pPr>
              <a:spcAft>
                <a:spcPts val="500"/>
              </a:spcAft>
            </a:pPr>
            <a:r>
              <a:rPr sz="1100" b="0">
                <a:latin typeface="Verdana"/>
              </a:rPr>
              <a:t>•  The senior move is never reaching for the fanciest type; it's decomposing the problem and pointing the cheapest fit at each piece.</a:t>
            </a:r>
          </a:p>
          <a:p>
            <a:pPr>
              <a:spcAft>
                <a:spcPts val="500"/>
              </a:spcAft>
            </a:pPr>
            <a:r>
              <a:rPr sz="1100" b="0">
                <a:latin typeface="Verdana"/>
              </a:rPr>
              <a:t>•  Then hand off to the notebook concretely: we'll take one real problem the room brings, decompose it on the whiteboard into sub-problems, run the five-question rubric on each, and end with a labeled diagram — this piece is a script, this one's retrieval, this one truly needs an agent.</a:t>
            </a:r>
          </a:p>
          <a:p>
            <a:pPr>
              <a:spcAft>
                <a:spcPts val="500"/>
              </a:spcAft>
            </a:pPr>
            <a:r>
              <a:rPr sz="1100" b="0">
                <a:latin typeface="Verdana"/>
              </a:rPr>
              <a:t>•  Watch for the moment when a piece everyone assumed needed AI turns out to be a ten-line script — that's the whole lesson made real. Leave them with the line: pick by the shape of the problem, not the tool.</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spcAft>
                <a:spcPts val="500"/>
              </a:spcAft>
            </a:pPr>
            <a:r>
              <a:rPr sz="1300" b="1">
                <a:latin typeface="Verdana"/>
              </a:rPr>
              <a:t>▸  SAY:  Agree on the mechanism; the seven boxes are how we teach it — and we'll say so.</a:t>
            </a:r>
          </a:p>
          <a:p>
            <a:pPr>
              <a:spcAft>
                <a:spcPts val="500"/>
              </a:spcAft>
            </a:pPr>
            <a:r>
              <a:rPr sz="1100" b="0">
                <a:latin typeface="Verdana"/>
              </a:rPr>
              <a:t>•  Insurance slide — leave it up during Q&amp;A.</a:t>
            </a:r>
          </a:p>
          <a:p>
            <a:pPr>
              <a:spcAft>
                <a:spcPts val="500"/>
              </a:spcAft>
            </a:pPr>
            <a:r>
              <a:rPr sz="1100" b="0">
                <a:latin typeface="Verdana"/>
              </a:rPr>
              <a:t>•  When someone says "your categories are arbitrary," agree cheerfully and point here: the individual mechanisms are real and well-sourced — ReAct for the agent loop, RAG for retrieval, the OR and simulation literature for solvers, Anthropic's own measurements for the cost of multi-agent, the production-rule lineage for rules engines.</a:t>
            </a:r>
          </a:p>
          <a:p>
            <a:pPr>
              <a:spcAft>
                <a:spcPts val="500"/>
              </a:spcAft>
            </a:pPr>
            <a:r>
              <a:rPr sz="1100" b="0">
                <a:latin typeface="Verdana"/>
              </a:rPr>
              <a:t>•  What's ours is the packaging: cutting the space into exactly seven types and organizing them on a decision-vs-composition-vs-lookup set of axes.</a:t>
            </a:r>
          </a:p>
          <a:p>
            <a:pPr>
              <a:spcAft>
                <a:spcPts val="500"/>
              </a:spcAft>
            </a:pPr>
            <a:r>
              <a:rPr sz="1100" b="0">
                <a:latin typeface="Verdana"/>
              </a:rPr>
              <a:t>•  That's a teaching lens, not a result from a paper, and saying so plainly is the thing that keeps this room trusting the rest of the talk.</a:t>
            </a:r>
          </a:p>
          <a:p>
            <a:pPr>
              <a:spcAft>
                <a:spcPts val="500"/>
              </a:spcAft>
            </a:pPr>
            <a:r>
              <a:rPr sz="1100" b="0">
                <a:latin typeface="Verdana"/>
              </a:rPr>
              <a:t>•  The defensible claim underneath all of it is the one on the title slide and the landing: match the type to the shape of the problem, and most systems are a disciplined combination of the cheap types with expensive judgment reserved for the slice that needs it.</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15.xml"/></Relationships>
</file>

<file path=ppt/slides/slide1.xml><?xml version="1.0" encoding="utf-8"?>
<p:sld xmlns:a="http://schemas.openxmlformats.org/drawingml/2006/main" xmlns:p="http://schemas.openxmlformats.org/presentationml/2006/main" xmlns:r="http://schemas.openxmlformats.org/officeDocument/2006/relationships">
  <p:cSld>
    <p:bg>
      <p:bgPr>
        <a:gradFill rotWithShape="1">
          <a:gsLst>
            <a:gs pos="0">
              <a:srgbClr val="0F1E38"/>
            </a:gs>
            <a:gs pos="100000">
              <a:srgbClr val="05080F"/>
            </a:gs>
          </a:gsLst>
          <a:lin scaled="0" ang="14400000"/>
        </a:gradFill>
        <a:effectLst/>
      </p:bgPr>
    </p:bg>
    <p:spTree>
      <p:nvGrpSpPr>
        <p:cNvPr id="1" name=""/>
        <p:cNvGrpSpPr/>
        <p:nvPr/>
      </p:nvGrpSpPr>
      <p:grpSpPr/>
      <p:pic>
        <p:nvPicPr>
          <p:cNvPr id="2" name="Picture 1" descr="CTG emblem_watermark.png"/>
          <p:cNvPicPr>
            <a:picLocks noChangeAspect="1"/>
          </p:cNvPicPr>
          <p:nvPr/>
        </p:nvPicPr>
        <p:blipFill>
          <a:blip r:embed="rId2"/>
          <a:stretch>
            <a:fillRect/>
          </a:stretch>
        </p:blipFill>
        <p:spPr>
          <a:xfrm>
            <a:off x="7437120" y="1481218"/>
            <a:ext cx="4754880" cy="3895564"/>
          </a:xfrm>
          <a:prstGeom prst="rect">
            <a:avLst/>
          </a:prstGeom>
        </p:spPr>
      </p:pic>
      <p:sp>
        <p:nvSpPr>
          <p:cNvPr id="3" name="TextBox 2"/>
          <p:cNvSpPr txBox="1"/>
          <p:nvPr/>
        </p:nvSpPr>
        <p:spPr>
          <a:xfrm>
            <a:off x="841248" y="1554480"/>
            <a:ext cx="7680960" cy="3657600"/>
          </a:xfrm>
          <a:prstGeom prst="rect">
            <a:avLst/>
          </a:prstGeom>
          <a:noFill/>
        </p:spPr>
        <p:txBody>
          <a:bodyPr wrap="square" anchor="t" lIns="0" rIns="0" tIns="0" bIns="0">
            <a:spAutoFit/>
          </a:bodyPr>
          <a:lstStyle/>
          <a:p>
            <a:r>
              <a:rPr sz="1150" b="1" i="0" spc="300">
                <a:solidFill>
                  <a:srgbClr val="5A9CFF"/>
                </a:solidFill>
                <a:latin typeface="JetBrains Mono"/>
              </a:rPr>
              <a:t>CTG FEDERAL  ·  THE AI ROADSHOW  ·  08</a:t>
            </a:r>
          </a:p>
          <a:p>
            <a:pPr>
              <a:lnSpc>
                <a:spcPct val="100000"/>
              </a:lnSpc>
              <a:spcBef>
                <a:spcPts val="1200"/>
              </a:spcBef>
            </a:pPr>
            <a:r>
              <a:rPr sz="4600" b="1" i="0">
                <a:solidFill>
                  <a:srgbClr val="FFFFFF"/>
                </a:solidFill>
                <a:latin typeface="Verdana"/>
              </a:rPr>
              <a:t>TYPES OF WORKLOADS</a:t>
            </a:r>
          </a:p>
          <a:p>
            <a:pPr>
              <a:lnSpc>
                <a:spcPct val="100000"/>
              </a:lnSpc>
            </a:pPr>
            <a:r>
              <a:rPr sz="4600" b="1" i="0">
                <a:solidFill>
                  <a:srgbClr val="FFFFFF"/>
                </a:solidFill>
                <a:latin typeface="Verdana"/>
              </a:rPr>
              <a:t>THE SHAPE OF THE </a:t>
            </a:r>
            <a:r>
              <a:rPr sz="4600" b="1" i="0">
                <a:solidFill>
                  <a:srgbClr val="5A9CFF"/>
                </a:solidFill>
                <a:latin typeface="Verdana"/>
              </a:rPr>
              <a:t>WORK</a:t>
            </a:r>
          </a:p>
          <a:p>
            <a:pPr>
              <a:spcBef>
                <a:spcPts val="1600"/>
              </a:spcBef>
            </a:pPr>
            <a:r>
              <a:rPr sz="1500" b="0" i="0">
                <a:solidFill>
                  <a:srgbClr val="C7D6E8"/>
                </a:solidFill>
                <a:latin typeface="Verdana"/>
              </a:rPr>
              <a:t>Seven kinds of automation — scripts, rules, models, retrieval, solvers, workflows, agents. Most real systems are a blend.</a:t>
            </a:r>
          </a:p>
          <a:p>
            <a:pPr>
              <a:spcBef>
                <a:spcPts val="1400"/>
              </a:spcBef>
            </a:pPr>
            <a:r>
              <a:rPr sz="1700" b="0" i="1">
                <a:solidFill>
                  <a:srgbClr val="D6E6FF"/>
                </a:solidFill>
                <a:latin typeface="Georgia"/>
              </a:rPr>
              <a:t>Pick by the shape of the problem, not by sophistication.</a:t>
            </a:r>
          </a:p>
        </p:txBody>
      </p:sp>
      <p:pic>
        <p:nvPicPr>
          <p:cNvPr id="4" name="Picture 3" descr="CTG-Federal-logo-horizontal-reverse-72-dpi.png"/>
          <p:cNvPicPr>
            <a:picLocks noChangeAspect="1"/>
          </p:cNvPicPr>
          <p:nvPr/>
        </p:nvPicPr>
        <p:blipFill>
          <a:blip r:embed="rId3"/>
          <a:stretch>
            <a:fillRect/>
          </a:stretch>
        </p:blipFill>
        <p:spPr>
          <a:xfrm>
            <a:off x="9979152" y="6052700"/>
            <a:ext cx="1371600" cy="302380"/>
          </a:xfrm>
          <a:prstGeom prst="rect">
            <a:avLst/>
          </a:prstGeom>
        </p:spPr>
      </p:pic>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gradFill rotWithShape="1">
          <a:gsLst>
            <a:gs pos="0">
              <a:srgbClr val="0F1E38"/>
            </a:gs>
            <a:gs pos="100000">
              <a:srgbClr val="05080F"/>
            </a:gs>
          </a:gsLst>
          <a:lin scaled="0" ang="15000000"/>
        </a:gradFill>
        <a:effectLst/>
      </p:bgPr>
    </p:bg>
    <p:spTree>
      <p:nvGrpSpPr>
        <p:cNvPr id="1" name=""/>
        <p:cNvGrpSpPr/>
        <p:nvPr/>
      </p:nvGrpSpPr>
      <p:grpSpPr/>
      <p:sp>
        <p:nvSpPr>
          <p:cNvPr id="2" name="TextBox 1"/>
          <p:cNvSpPr txBox="1"/>
          <p:nvPr/>
        </p:nvSpPr>
        <p:spPr>
          <a:xfrm>
            <a:off x="841248" y="548640"/>
            <a:ext cx="10424160" cy="365760"/>
          </a:xfrm>
          <a:prstGeom prst="rect">
            <a:avLst/>
          </a:prstGeom>
          <a:noFill/>
        </p:spPr>
        <p:txBody>
          <a:bodyPr wrap="square" anchor="t" lIns="0" rIns="0" tIns="0" bIns="0">
            <a:spAutoFit/>
          </a:bodyPr>
          <a:lstStyle/>
          <a:p>
            <a:r>
              <a:rPr sz="1150" b="1" i="0" spc="300">
                <a:solidFill>
                  <a:srgbClr val="5A9CFF"/>
                </a:solidFill>
                <a:latin typeface="JetBrains Mono"/>
              </a:rPr>
              <a:t>02 · THE THESIS</a:t>
            </a:r>
          </a:p>
        </p:txBody>
      </p:sp>
      <p:sp>
        <p:nvSpPr>
          <p:cNvPr id="3" name="TextBox 2"/>
          <p:cNvSpPr txBox="1"/>
          <p:nvPr/>
        </p:nvSpPr>
        <p:spPr>
          <a:xfrm>
            <a:off x="841248" y="896112"/>
            <a:ext cx="10515600" cy="1143000"/>
          </a:xfrm>
          <a:prstGeom prst="rect">
            <a:avLst/>
          </a:prstGeom>
          <a:noFill/>
        </p:spPr>
        <p:txBody>
          <a:bodyPr wrap="square" anchor="t" lIns="0" rIns="0" tIns="0" bIns="0">
            <a:spAutoFit/>
          </a:bodyPr>
          <a:lstStyle/>
          <a:p>
            <a:pPr>
              <a:lnSpc>
                <a:spcPct val="100000"/>
              </a:lnSpc>
            </a:pPr>
            <a:r>
              <a:rPr sz="2900" b="1" i="0">
                <a:solidFill>
                  <a:srgbClr val="FFFFFF"/>
                </a:solidFill>
                <a:latin typeface="Verdana"/>
              </a:rPr>
              <a:t>Pick by problem shape, not by </a:t>
            </a:r>
            <a:r>
              <a:rPr sz="2900" b="1" i="0">
                <a:solidFill>
                  <a:srgbClr val="5A9CFF"/>
                </a:solidFill>
                <a:latin typeface="Verdana"/>
              </a:rPr>
              <a:t>sophistication</a:t>
            </a:r>
            <a:r>
              <a:rPr sz="2900" b="1" i="0">
                <a:solidFill>
                  <a:srgbClr val="FFFFFF"/>
                </a:solidFill>
                <a:latin typeface="Verdana"/>
              </a:rPr>
              <a:t>.</a:t>
            </a:r>
          </a:p>
        </p:txBody>
      </p:sp>
      <p:sp>
        <p:nvSpPr>
          <p:cNvPr id="4" name="TextBox 3"/>
          <p:cNvSpPr txBox="1"/>
          <p:nvPr/>
        </p:nvSpPr>
        <p:spPr>
          <a:xfrm>
            <a:off x="841248" y="1993392"/>
            <a:ext cx="9509760" cy="731520"/>
          </a:xfrm>
          <a:prstGeom prst="rect">
            <a:avLst/>
          </a:prstGeom>
          <a:noFill/>
        </p:spPr>
        <p:txBody>
          <a:bodyPr wrap="square" anchor="t" lIns="0" rIns="0" tIns="0" bIns="0">
            <a:spAutoFit/>
          </a:bodyPr>
          <a:lstStyle/>
          <a:p>
            <a:r>
              <a:rPr sz="1500" b="0" i="0">
                <a:solidFill>
                  <a:srgbClr val="D6E6FF"/>
                </a:solidFill>
                <a:latin typeface="Verdana"/>
              </a:rPr>
              <a:t>Most failed automation isn't a failure of execution — it's a failure of selection: the wrong pattern, applied elaborately, where the right one would have shipped in a day.</a:t>
            </a:r>
          </a:p>
        </p:txBody>
      </p:sp>
      <p:sp>
        <p:nvSpPr>
          <p:cNvPr id="5" name="Rounded Rectangle 4"/>
          <p:cNvSpPr/>
          <p:nvPr/>
        </p:nvSpPr>
        <p:spPr>
          <a:xfrm>
            <a:off x="841248" y="2788920"/>
            <a:ext cx="3350768" cy="1600200"/>
          </a:xfrm>
          <a:prstGeom prst="roundRect">
            <a:avLst/>
          </a:prstGeom>
          <a:solidFill>
            <a:srgbClr val="122240"/>
          </a:solidFill>
          <a:ln w="12700">
            <a:solidFill>
              <a:srgbClr val="2E4C82"/>
            </a:solidFill>
          </a:ln>
          <a:effectLst/>
        </p:spPr>
        <p:style>
          <a:lnRef idx="1">
            <a:schemeClr val="accent1"/>
          </a:lnRef>
          <a:fillRef idx="3">
            <a:schemeClr val="accent1"/>
          </a:fillRef>
          <a:effectRef idx="2">
            <a:schemeClr val="accent1"/>
          </a:effectRef>
          <a:fontRef idx="minor">
            <a:schemeClr val="lt1"/>
          </a:fontRef>
        </p:style>
        <p:txBody>
          <a:bodyPr rtlCol="0" anchor="t" wrap="square" lIns="164592" rIns="164592" tIns="146304"/>
          <a:lstStyle/>
          <a:p>
            <a:pPr algn="ctr"/>
            <a:r>
              <a:rPr sz="1600" b="1" i="0">
                <a:solidFill>
                  <a:srgbClr val="5A9CFF"/>
                </a:solidFill>
                <a:latin typeface="Verdana"/>
              </a:rPr>
              <a:t>Under-build</a:t>
            </a:r>
          </a:p>
          <a:p>
            <a:pPr>
              <a:spcBef>
                <a:spcPts val="600"/>
              </a:spcBef>
            </a:pPr>
            <a:r>
              <a:rPr sz="1250" b="0" i="0">
                <a:solidFill>
                  <a:srgbClr val="C7D6E8"/>
                </a:solidFill>
                <a:latin typeface="Verdana"/>
              </a:rPr>
              <a:t>a script where the problem has real judgment — brittle, silent when wrong.</a:t>
            </a:r>
          </a:p>
        </p:txBody>
      </p:sp>
      <p:sp>
        <p:nvSpPr>
          <p:cNvPr id="6" name="Rounded Rectangle 5"/>
          <p:cNvSpPr/>
          <p:nvPr/>
        </p:nvSpPr>
        <p:spPr>
          <a:xfrm>
            <a:off x="4420616" y="2788920"/>
            <a:ext cx="3350768" cy="1600200"/>
          </a:xfrm>
          <a:prstGeom prst="roundRect">
            <a:avLst/>
          </a:prstGeom>
          <a:solidFill>
            <a:srgbClr val="122240"/>
          </a:solidFill>
          <a:ln w="12700">
            <a:solidFill>
              <a:srgbClr val="2E4C82"/>
            </a:solidFill>
          </a:ln>
          <a:effectLst/>
        </p:spPr>
        <p:style>
          <a:lnRef idx="1">
            <a:schemeClr val="accent1"/>
          </a:lnRef>
          <a:fillRef idx="3">
            <a:schemeClr val="accent1"/>
          </a:fillRef>
          <a:effectRef idx="2">
            <a:schemeClr val="accent1"/>
          </a:effectRef>
          <a:fontRef idx="minor">
            <a:schemeClr val="lt1"/>
          </a:fontRef>
        </p:style>
        <p:txBody>
          <a:bodyPr rtlCol="0" anchor="t" wrap="square" lIns="164592" rIns="164592" tIns="146304"/>
          <a:lstStyle/>
          <a:p>
            <a:pPr algn="ctr"/>
            <a:r>
              <a:rPr sz="1600" b="1" i="0">
                <a:solidFill>
                  <a:srgbClr val="5A9CFF"/>
                </a:solidFill>
                <a:latin typeface="Verdana"/>
              </a:rPr>
              <a:t>Over-build</a:t>
            </a:r>
          </a:p>
          <a:p>
            <a:pPr>
              <a:spcBef>
                <a:spcPts val="600"/>
              </a:spcBef>
            </a:pPr>
            <a:r>
              <a:rPr sz="1250" b="0" i="0">
                <a:solidFill>
                  <a:srgbClr val="C7D6E8"/>
                </a:solidFill>
                <a:latin typeface="Verdana"/>
              </a:rPr>
              <a:t>an agent where a script would do — slow, costly, non-deterministic.</a:t>
            </a:r>
          </a:p>
        </p:txBody>
      </p:sp>
      <p:sp>
        <p:nvSpPr>
          <p:cNvPr id="7" name="Rounded Rectangle 6"/>
          <p:cNvSpPr/>
          <p:nvPr/>
        </p:nvSpPr>
        <p:spPr>
          <a:xfrm>
            <a:off x="7999984" y="2788920"/>
            <a:ext cx="3350768" cy="1600200"/>
          </a:xfrm>
          <a:prstGeom prst="roundRect">
            <a:avLst/>
          </a:prstGeom>
          <a:solidFill>
            <a:srgbClr val="122240"/>
          </a:solidFill>
          <a:ln w="12700">
            <a:solidFill>
              <a:srgbClr val="2E4C82"/>
            </a:solidFill>
          </a:ln>
          <a:effectLst/>
        </p:spPr>
        <p:style>
          <a:lnRef idx="1">
            <a:schemeClr val="accent1"/>
          </a:lnRef>
          <a:fillRef idx="3">
            <a:schemeClr val="accent1"/>
          </a:fillRef>
          <a:effectRef idx="2">
            <a:schemeClr val="accent1"/>
          </a:effectRef>
          <a:fontRef idx="minor">
            <a:schemeClr val="lt1"/>
          </a:fontRef>
        </p:style>
        <p:txBody>
          <a:bodyPr rtlCol="0" anchor="t" wrap="square" lIns="164592" rIns="164592" tIns="146304"/>
          <a:lstStyle/>
          <a:p>
            <a:pPr algn="ctr"/>
            <a:r>
              <a:rPr sz="1600" b="1" i="0">
                <a:solidFill>
                  <a:srgbClr val="5A9CFF"/>
                </a:solidFill>
                <a:latin typeface="Verdana"/>
              </a:rPr>
              <a:t>Right-build</a:t>
            </a:r>
          </a:p>
          <a:p>
            <a:pPr>
              <a:spcBef>
                <a:spcPts val="600"/>
              </a:spcBef>
            </a:pPr>
            <a:r>
              <a:rPr sz="1250" b="0" i="0">
                <a:solidFill>
                  <a:srgbClr val="C7D6E8"/>
                </a:solidFill>
                <a:latin typeface="Verdana"/>
              </a:rPr>
              <a:t>match each sub-problem to the cheapest type that actually fits it.</a:t>
            </a:r>
          </a:p>
        </p:txBody>
      </p:sp>
      <p:sp>
        <p:nvSpPr>
          <p:cNvPr id="8" name="Rectangle 7"/>
          <p:cNvSpPr/>
          <p:nvPr/>
        </p:nvSpPr>
        <p:spPr>
          <a:xfrm>
            <a:off x="841248" y="5715000"/>
            <a:ext cx="45720" cy="640080"/>
          </a:xfrm>
          <a:prstGeom prst="rect">
            <a:avLst/>
          </a:prstGeom>
          <a:solidFill>
            <a:srgbClr val="0073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78992" y="5696712"/>
            <a:ext cx="9144000" cy="640080"/>
          </a:xfrm>
          <a:prstGeom prst="rect">
            <a:avLst/>
          </a:prstGeom>
          <a:noFill/>
        </p:spPr>
        <p:txBody>
          <a:bodyPr wrap="square" anchor="t" lIns="0" rIns="0" tIns="0" bIns="0">
            <a:spAutoFit/>
          </a:bodyPr>
          <a:lstStyle/>
          <a:p>
            <a:r>
              <a:rPr sz="1550" b="0" i="1">
                <a:solidFill>
                  <a:srgbClr val="D6E6FF"/>
                </a:solidFill>
                <a:latin typeface="Georgia"/>
              </a:rPr>
              <a:t>Automation is a toolkit, not a ladder — the types answer different questions about the work.</a:t>
            </a:r>
          </a:p>
        </p:txBody>
      </p:sp>
      <p:sp>
        <p:nvSpPr>
          <p:cNvPr id="10" name="TextBox 9"/>
          <p:cNvSpPr txBox="1"/>
          <p:nvPr/>
        </p:nvSpPr>
        <p:spPr>
          <a:xfrm>
            <a:off x="841248" y="6382512"/>
            <a:ext cx="5486400" cy="274320"/>
          </a:xfrm>
          <a:prstGeom prst="rect">
            <a:avLst/>
          </a:prstGeom>
          <a:noFill/>
        </p:spPr>
        <p:txBody>
          <a:bodyPr wrap="square" anchor="t" lIns="0" rIns="0" tIns="0" bIns="0">
            <a:spAutoFit/>
          </a:bodyPr>
          <a:lstStyle/>
          <a:p>
            <a:r>
              <a:rPr sz="900" b="1" i="0" spc="220">
                <a:solidFill>
                  <a:srgbClr val="5A9CFF"/>
                </a:solidFill>
                <a:latin typeface="JetBrains Mono"/>
              </a:rPr>
              <a:t>WORKLOADS</a:t>
            </a:r>
          </a:p>
        </p:txBody>
      </p:sp>
      <p:pic>
        <p:nvPicPr>
          <p:cNvPr id="11" name="Picture 10" descr="CTG-Federal-logo-horizontal-reverse-72-dpi.png"/>
          <p:cNvPicPr>
            <a:picLocks noChangeAspect="1"/>
          </p:cNvPicPr>
          <p:nvPr/>
        </p:nvPicPr>
        <p:blipFill>
          <a:blip r:embed="rId2"/>
          <a:stretch>
            <a:fillRect/>
          </a:stretch>
        </p:blipFill>
        <p:spPr>
          <a:xfrm>
            <a:off x="9979152" y="6052700"/>
            <a:ext cx="1371600" cy="302380"/>
          </a:xfrm>
          <a:prstGeom prst="rect">
            <a:avLst/>
          </a:prstGeom>
        </p:spPr>
      </p:pic>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gradFill rotWithShape="1">
          <a:gsLst>
            <a:gs pos="0">
              <a:srgbClr val="FFFFFF"/>
            </a:gs>
            <a:gs pos="100000">
              <a:srgbClr val="E8EDF5"/>
            </a:gs>
          </a:gsLst>
          <a:lin scaled="0" ang="12600000"/>
        </a:gradFill>
        <a:effectLst/>
      </p:bgPr>
    </p:bg>
    <p:spTree>
      <p:nvGrpSpPr>
        <p:cNvPr id="1" name=""/>
        <p:cNvGrpSpPr/>
        <p:nvPr/>
      </p:nvGrpSpPr>
      <p:grpSpPr/>
      <p:sp>
        <p:nvSpPr>
          <p:cNvPr id="2" name="TextBox 1"/>
          <p:cNvSpPr txBox="1"/>
          <p:nvPr/>
        </p:nvSpPr>
        <p:spPr>
          <a:xfrm>
            <a:off x="841248" y="548640"/>
            <a:ext cx="10424160" cy="365760"/>
          </a:xfrm>
          <a:prstGeom prst="rect">
            <a:avLst/>
          </a:prstGeom>
          <a:noFill/>
        </p:spPr>
        <p:txBody>
          <a:bodyPr wrap="square" anchor="t" lIns="0" rIns="0" tIns="0" bIns="0">
            <a:spAutoFit/>
          </a:bodyPr>
          <a:lstStyle/>
          <a:p>
            <a:r>
              <a:rPr sz="1150" b="1" i="0" spc="300">
                <a:solidFill>
                  <a:srgbClr val="0055BC"/>
                </a:solidFill>
                <a:latin typeface="JetBrains Mono"/>
              </a:rPr>
              <a:t>03 · THE MAP</a:t>
            </a:r>
          </a:p>
        </p:txBody>
      </p:sp>
      <p:sp>
        <p:nvSpPr>
          <p:cNvPr id="3" name="TextBox 2"/>
          <p:cNvSpPr txBox="1"/>
          <p:nvPr/>
        </p:nvSpPr>
        <p:spPr>
          <a:xfrm>
            <a:off x="841248" y="896112"/>
            <a:ext cx="10515600" cy="1143000"/>
          </a:xfrm>
          <a:prstGeom prst="rect">
            <a:avLst/>
          </a:prstGeom>
          <a:noFill/>
        </p:spPr>
        <p:txBody>
          <a:bodyPr wrap="square" anchor="t" lIns="0" rIns="0" tIns="0" bIns="0">
            <a:spAutoFit/>
          </a:bodyPr>
          <a:lstStyle/>
          <a:p>
            <a:pPr>
              <a:lnSpc>
                <a:spcPct val="100000"/>
              </a:lnSpc>
            </a:pPr>
            <a:r>
              <a:rPr sz="2900" b="1" i="0">
                <a:solidFill>
                  <a:srgbClr val="002550"/>
                </a:solidFill>
                <a:latin typeface="Verdana"/>
              </a:rPr>
              <a:t>Seven types — and they live on </a:t>
            </a:r>
            <a:r>
              <a:rPr sz="2900" b="1" i="0">
                <a:solidFill>
                  <a:srgbClr val="0055BC"/>
                </a:solidFill>
                <a:latin typeface="Verdana"/>
              </a:rPr>
              <a:t>two axes</a:t>
            </a:r>
            <a:r>
              <a:rPr sz="2900" b="1" i="0">
                <a:solidFill>
                  <a:srgbClr val="002550"/>
                </a:solidFill>
                <a:latin typeface="Verdana"/>
              </a:rPr>
              <a:t>.</a:t>
            </a:r>
          </a:p>
        </p:txBody>
      </p:sp>
      <p:sp>
        <p:nvSpPr>
          <p:cNvPr id="4" name="TextBox 3"/>
          <p:cNvSpPr txBox="1"/>
          <p:nvPr/>
        </p:nvSpPr>
        <p:spPr>
          <a:xfrm>
            <a:off x="841248" y="1993392"/>
            <a:ext cx="9509760" cy="731520"/>
          </a:xfrm>
          <a:prstGeom prst="rect">
            <a:avLst/>
          </a:prstGeom>
          <a:noFill/>
        </p:spPr>
        <p:txBody>
          <a:bodyPr wrap="square" anchor="t" lIns="0" rIns="0" tIns="0" bIns="0">
            <a:spAutoFit/>
          </a:bodyPr>
          <a:lstStyle/>
          <a:p>
            <a:r>
              <a:rPr sz="1500" b="0" i="0">
                <a:solidFill>
                  <a:srgbClr val="243042"/>
                </a:solidFill>
                <a:latin typeface="Verdana"/>
              </a:rPr>
              <a:t>Five answer where the decision comes from. One is composition. One is lookup.</a:t>
            </a:r>
          </a:p>
        </p:txBody>
      </p:sp>
      <p:graphicFrame>
        <p:nvGraphicFramePr>
          <p:cNvPr id="5" name="Table 4"/>
          <p:cNvGraphicFramePr>
            <a:graphicFrameLocks noGrp="1"/>
          </p:cNvGraphicFramePr>
          <p:nvPr/>
        </p:nvGraphicFramePr>
        <p:xfrm>
          <a:off x="841248" y="2542032"/>
          <a:ext cx="10509504" cy="2487168"/>
        </p:xfrm>
        <a:graphic>
          <a:graphicData uri="http://schemas.openxmlformats.org/drawingml/2006/table">
            <a:tbl>
              <a:tblPr>
                <a:tableStyleId>{5C22544A-7EE6-4342-B048-85BDC9FD1C3A}</a:tableStyleId>
              </a:tblPr>
              <a:tblGrid>
                <a:gridCol w="457200"/>
                <a:gridCol w="2468880"/>
                <a:gridCol w="6028944"/>
                <a:gridCol w="1554480"/>
              </a:tblGrid>
              <a:tr h="310896">
                <a:tc>
                  <a:txBody>
                    <a:bodyPr wrap="square"/>
                    <a:lstStyle/>
                    <a:p>
                      <a:r>
                        <a:rPr sz="1150" b="1" i="0">
                          <a:solidFill>
                            <a:srgbClr val="0055BC"/>
                          </a:solidFill>
                          <a:latin typeface="Verdana"/>
                        </a:rPr>
                        <a:t>#</a:t>
                      </a:r>
                    </a:p>
                  </a:txBody>
                  <a:tcPr marL="73152" marR="54864" marT="27432" marB="27432" anchor="ctr">
                    <a:solidFill>
                      <a:srgbClr val="EEF3FB"/>
                    </a:solidFill>
                  </a:tcPr>
                </a:tc>
                <a:tc>
                  <a:txBody>
                    <a:bodyPr wrap="square"/>
                    <a:lstStyle/>
                    <a:p>
                      <a:r>
                        <a:rPr sz="1150" b="1" i="0">
                          <a:solidFill>
                            <a:srgbClr val="0055BC"/>
                          </a:solidFill>
                          <a:latin typeface="Verdana"/>
                        </a:rPr>
                        <a:t>Type</a:t>
                      </a:r>
                    </a:p>
                  </a:txBody>
                  <a:tcPr marL="73152" marR="54864" marT="27432" marB="27432" anchor="ctr">
                    <a:solidFill>
                      <a:srgbClr val="EEF3FB"/>
                    </a:solidFill>
                  </a:tcPr>
                </a:tc>
                <a:tc>
                  <a:txBody>
                    <a:bodyPr wrap="square"/>
                    <a:lstStyle/>
                    <a:p>
                      <a:r>
                        <a:rPr sz="1150" b="1" i="0">
                          <a:solidFill>
                            <a:srgbClr val="0055BC"/>
                          </a:solidFill>
                          <a:latin typeface="Verdana"/>
                        </a:rPr>
                        <a:t>The shape of problem it fits</a:t>
                      </a:r>
                    </a:p>
                  </a:txBody>
                  <a:tcPr marL="73152" marR="54864" marT="27432" marB="27432" anchor="ctr">
                    <a:solidFill>
                      <a:srgbClr val="EEF3FB"/>
                    </a:solidFill>
                  </a:tcPr>
                </a:tc>
                <a:tc>
                  <a:txBody>
                    <a:bodyPr wrap="square"/>
                    <a:lstStyle/>
                    <a:p>
                      <a:r>
                        <a:rPr sz="1150" b="1" i="0">
                          <a:solidFill>
                            <a:srgbClr val="0055BC"/>
                          </a:solidFill>
                          <a:latin typeface="Verdana"/>
                        </a:rPr>
                        <a:t>Axis</a:t>
                      </a:r>
                    </a:p>
                  </a:txBody>
                  <a:tcPr marL="73152" marR="54864" marT="27432" marB="27432" anchor="ctr">
                    <a:solidFill>
                      <a:srgbClr val="EEF3FB"/>
                    </a:solidFill>
                  </a:tcPr>
                </a:tc>
              </a:tr>
              <a:tr h="310896">
                <a:tc>
                  <a:txBody>
                    <a:bodyPr wrap="square"/>
                    <a:lstStyle/>
                    <a:p>
                      <a:r>
                        <a:rPr sz="1100" b="0" i="0">
                          <a:solidFill>
                            <a:srgbClr val="54585C"/>
                          </a:solidFill>
                          <a:latin typeface="JetBrains Mono"/>
                        </a:rPr>
                        <a:t>01</a:t>
                      </a:r>
                    </a:p>
                  </a:txBody>
                  <a:tcPr marL="73152" marR="54864" marT="27432" marB="27432" anchor="ctr">
                    <a:solidFill>
                      <a:srgbClr val="FFFFFF"/>
                    </a:solidFill>
                  </a:tcPr>
                </a:tc>
                <a:tc>
                  <a:txBody>
                    <a:bodyPr wrap="square"/>
                    <a:lstStyle/>
                    <a:p>
                      <a:r>
                        <a:rPr sz="1200" b="1" i="0">
                          <a:solidFill>
                            <a:srgbClr val="002550"/>
                          </a:solidFill>
                          <a:latin typeface="Verdana"/>
                        </a:rPr>
                        <a:t>Scripts</a:t>
                      </a:r>
                    </a:p>
                  </a:txBody>
                  <a:tcPr marL="73152" marR="54864" marT="27432" marB="27432" anchor="ctr">
                    <a:solidFill>
                      <a:srgbClr val="FFFFFF"/>
                    </a:solidFill>
                  </a:tcPr>
                </a:tc>
                <a:tc>
                  <a:txBody>
                    <a:bodyPr wrap="square"/>
                    <a:lstStyle/>
                    <a:p>
                      <a:r>
                        <a:rPr sz="1150" b="0" i="0">
                          <a:solidFill>
                            <a:srgbClr val="334052"/>
                          </a:solidFill>
                          <a:latin typeface="Verdana"/>
                        </a:rPr>
                        <a:t>The rule is writable and the inputs are stable.</a:t>
                      </a:r>
                    </a:p>
                  </a:txBody>
                  <a:tcPr marL="73152" marR="54864" marT="27432" marB="27432" anchor="ctr">
                    <a:solidFill>
                      <a:srgbClr val="FFFFFF"/>
                    </a:solidFill>
                  </a:tcPr>
                </a:tc>
                <a:tc>
                  <a:txBody>
                    <a:bodyPr wrap="square"/>
                    <a:lstStyle/>
                    <a:p>
                      <a:r>
                        <a:rPr sz="1050" b="1" i="0" spc="100">
                          <a:solidFill>
                            <a:srgbClr val="0055BC"/>
                          </a:solidFill>
                          <a:latin typeface="JetBrains Mono"/>
                        </a:rPr>
                        <a:t>DECISION</a:t>
                      </a:r>
                    </a:p>
                  </a:txBody>
                  <a:tcPr marL="73152" marR="54864" marT="27432" marB="27432" anchor="ctr">
                    <a:solidFill>
                      <a:srgbClr val="FFFFFF"/>
                    </a:solidFill>
                  </a:tcPr>
                </a:tc>
              </a:tr>
              <a:tr h="310896">
                <a:tc>
                  <a:txBody>
                    <a:bodyPr wrap="square"/>
                    <a:lstStyle/>
                    <a:p>
                      <a:r>
                        <a:rPr sz="1100" b="0" i="0">
                          <a:solidFill>
                            <a:srgbClr val="54585C"/>
                          </a:solidFill>
                          <a:latin typeface="JetBrains Mono"/>
                        </a:rPr>
                        <a:t>02</a:t>
                      </a:r>
                    </a:p>
                  </a:txBody>
                  <a:tcPr marL="73152" marR="54864" marT="27432" marB="27432" anchor="ctr">
                    <a:solidFill>
                      <a:srgbClr val="FFFFFF"/>
                    </a:solidFill>
                  </a:tcPr>
                </a:tc>
                <a:tc>
                  <a:txBody>
                    <a:bodyPr wrap="square"/>
                    <a:lstStyle/>
                    <a:p>
                      <a:r>
                        <a:rPr sz="1200" b="1" i="0">
                          <a:solidFill>
                            <a:srgbClr val="002550"/>
                          </a:solidFill>
                          <a:latin typeface="Verdana"/>
                        </a:rPr>
                        <a:t>Rules engines</a:t>
                      </a:r>
                    </a:p>
                  </a:txBody>
                  <a:tcPr marL="73152" marR="54864" marT="27432" marB="27432" anchor="ctr">
                    <a:solidFill>
                      <a:srgbClr val="FFFFFF"/>
                    </a:solidFill>
                  </a:tcPr>
                </a:tc>
                <a:tc>
                  <a:txBody>
                    <a:bodyPr wrap="square"/>
                    <a:lstStyle/>
                    <a:p>
                      <a:r>
                        <a:rPr sz="1150" b="0" i="0">
                          <a:solidFill>
                            <a:srgbClr val="334052"/>
                          </a:solidFill>
                          <a:latin typeface="Verdana"/>
                        </a:rPr>
                        <a:t>The logic is a policy a human owns and changes often.</a:t>
                      </a:r>
                    </a:p>
                  </a:txBody>
                  <a:tcPr marL="73152" marR="54864" marT="27432" marB="27432" anchor="ctr">
                    <a:solidFill>
                      <a:srgbClr val="FFFFFF"/>
                    </a:solidFill>
                  </a:tcPr>
                </a:tc>
                <a:tc>
                  <a:txBody>
                    <a:bodyPr wrap="square"/>
                    <a:lstStyle/>
                    <a:p>
                      <a:r>
                        <a:rPr sz="1050" b="1" i="0" spc="100">
                          <a:solidFill>
                            <a:srgbClr val="0055BC"/>
                          </a:solidFill>
                          <a:latin typeface="JetBrains Mono"/>
                        </a:rPr>
                        <a:t>DECISION</a:t>
                      </a:r>
                    </a:p>
                  </a:txBody>
                  <a:tcPr marL="73152" marR="54864" marT="27432" marB="27432" anchor="ctr">
                    <a:solidFill>
                      <a:srgbClr val="FFFFFF"/>
                    </a:solidFill>
                  </a:tcPr>
                </a:tc>
              </a:tr>
              <a:tr h="310896">
                <a:tc>
                  <a:txBody>
                    <a:bodyPr wrap="square"/>
                    <a:lstStyle/>
                    <a:p>
                      <a:r>
                        <a:rPr sz="1100" b="0" i="0">
                          <a:solidFill>
                            <a:srgbClr val="54585C"/>
                          </a:solidFill>
                          <a:latin typeface="JetBrains Mono"/>
                        </a:rPr>
                        <a:t>03</a:t>
                      </a:r>
                    </a:p>
                  </a:txBody>
                  <a:tcPr marL="73152" marR="54864" marT="27432" marB="27432" anchor="ctr">
                    <a:solidFill>
                      <a:srgbClr val="FFFFFF"/>
                    </a:solidFill>
                  </a:tcPr>
                </a:tc>
                <a:tc>
                  <a:txBody>
                    <a:bodyPr wrap="square"/>
                    <a:lstStyle/>
                    <a:p>
                      <a:r>
                        <a:rPr sz="1200" b="1" i="0">
                          <a:solidFill>
                            <a:srgbClr val="002550"/>
                          </a:solidFill>
                          <a:latin typeface="Verdana"/>
                        </a:rPr>
                        <a:t>ML / deep learning</a:t>
                      </a:r>
                    </a:p>
                  </a:txBody>
                  <a:tcPr marL="73152" marR="54864" marT="27432" marB="27432" anchor="ctr">
                    <a:solidFill>
                      <a:srgbClr val="FFFFFF"/>
                    </a:solidFill>
                  </a:tcPr>
                </a:tc>
                <a:tc>
                  <a:txBody>
                    <a:bodyPr wrap="square"/>
                    <a:lstStyle/>
                    <a:p>
                      <a:r>
                        <a:rPr sz="1150" b="0" i="0">
                          <a:solidFill>
                            <a:srgbClr val="334052"/>
                          </a:solidFill>
                          <a:latin typeface="Verdana"/>
                        </a:rPr>
                        <a:t>The rule isn't writable, but you have data.</a:t>
                      </a:r>
                    </a:p>
                  </a:txBody>
                  <a:tcPr marL="73152" marR="54864" marT="27432" marB="27432" anchor="ctr">
                    <a:solidFill>
                      <a:srgbClr val="FFFFFF"/>
                    </a:solidFill>
                  </a:tcPr>
                </a:tc>
                <a:tc>
                  <a:txBody>
                    <a:bodyPr wrap="square"/>
                    <a:lstStyle/>
                    <a:p>
                      <a:r>
                        <a:rPr sz="1050" b="1" i="0" spc="100">
                          <a:solidFill>
                            <a:srgbClr val="0055BC"/>
                          </a:solidFill>
                          <a:latin typeface="JetBrains Mono"/>
                        </a:rPr>
                        <a:t>DECISION</a:t>
                      </a:r>
                    </a:p>
                  </a:txBody>
                  <a:tcPr marL="73152" marR="54864" marT="27432" marB="27432" anchor="ctr">
                    <a:solidFill>
                      <a:srgbClr val="FFFFFF"/>
                    </a:solidFill>
                  </a:tcPr>
                </a:tc>
              </a:tr>
              <a:tr h="310896">
                <a:tc>
                  <a:txBody>
                    <a:bodyPr wrap="square"/>
                    <a:lstStyle/>
                    <a:p>
                      <a:r>
                        <a:rPr sz="1100" b="0" i="0">
                          <a:solidFill>
                            <a:srgbClr val="54585C"/>
                          </a:solidFill>
                          <a:latin typeface="JetBrains Mono"/>
                        </a:rPr>
                        <a:t>04</a:t>
                      </a:r>
                    </a:p>
                  </a:txBody>
                  <a:tcPr marL="73152" marR="54864" marT="27432" marB="27432" anchor="ctr">
                    <a:solidFill>
                      <a:srgbClr val="FFFFFF"/>
                    </a:solidFill>
                  </a:tcPr>
                </a:tc>
                <a:tc>
                  <a:txBody>
                    <a:bodyPr wrap="square"/>
                    <a:lstStyle/>
                    <a:p>
                      <a:r>
                        <a:rPr sz="1200" b="1" i="0">
                          <a:solidFill>
                            <a:srgbClr val="002550"/>
                          </a:solidFill>
                          <a:latin typeface="Verdana"/>
                        </a:rPr>
                        <a:t>Retrieval / search</a:t>
                      </a:r>
                    </a:p>
                  </a:txBody>
                  <a:tcPr marL="73152" marR="54864" marT="27432" marB="27432" anchor="ctr">
                    <a:solidFill>
                      <a:srgbClr val="FFFFFF"/>
                    </a:solidFill>
                  </a:tcPr>
                </a:tc>
                <a:tc>
                  <a:txBody>
                    <a:bodyPr wrap="square"/>
                    <a:lstStyle/>
                    <a:p>
                      <a:r>
                        <a:rPr sz="1150" b="0" i="0">
                          <a:solidFill>
                            <a:srgbClr val="334052"/>
                          </a:solidFill>
                          <a:latin typeface="Verdana"/>
                        </a:rPr>
                        <a:t>The answer lives in your data, not the model.</a:t>
                      </a:r>
                    </a:p>
                  </a:txBody>
                  <a:tcPr marL="73152" marR="54864" marT="27432" marB="27432" anchor="ctr">
                    <a:solidFill>
                      <a:srgbClr val="FFFFFF"/>
                    </a:solidFill>
                  </a:tcPr>
                </a:tc>
                <a:tc>
                  <a:txBody>
                    <a:bodyPr wrap="square"/>
                    <a:lstStyle/>
                    <a:p>
                      <a:r>
                        <a:rPr sz="1050" b="1" i="0" spc="100">
                          <a:solidFill>
                            <a:srgbClr val="128C7A"/>
                          </a:solidFill>
                          <a:latin typeface="JetBrains Mono"/>
                        </a:rPr>
                        <a:t>LOOKUP</a:t>
                      </a:r>
                    </a:p>
                  </a:txBody>
                  <a:tcPr marL="73152" marR="54864" marT="27432" marB="27432" anchor="ctr">
                    <a:solidFill>
                      <a:srgbClr val="FFFFFF"/>
                    </a:solidFill>
                  </a:tcPr>
                </a:tc>
              </a:tr>
              <a:tr h="310896">
                <a:tc>
                  <a:txBody>
                    <a:bodyPr wrap="square"/>
                    <a:lstStyle/>
                    <a:p>
                      <a:r>
                        <a:rPr sz="1100" b="0" i="0">
                          <a:solidFill>
                            <a:srgbClr val="54585C"/>
                          </a:solidFill>
                          <a:latin typeface="JetBrains Mono"/>
                        </a:rPr>
                        <a:t>05</a:t>
                      </a:r>
                    </a:p>
                  </a:txBody>
                  <a:tcPr marL="73152" marR="54864" marT="27432" marB="27432" anchor="ctr">
                    <a:solidFill>
                      <a:srgbClr val="FFFFFF"/>
                    </a:solidFill>
                  </a:tcPr>
                </a:tc>
                <a:tc>
                  <a:txBody>
                    <a:bodyPr wrap="square"/>
                    <a:lstStyle/>
                    <a:p>
                      <a:r>
                        <a:rPr sz="1200" b="1" i="0">
                          <a:solidFill>
                            <a:srgbClr val="002550"/>
                          </a:solidFill>
                          <a:latin typeface="Verdana"/>
                        </a:rPr>
                        <a:t>Optimization / simulation</a:t>
                      </a:r>
                    </a:p>
                  </a:txBody>
                  <a:tcPr marL="73152" marR="54864" marT="27432" marB="27432" anchor="ctr">
                    <a:solidFill>
                      <a:srgbClr val="FFFFFF"/>
                    </a:solidFill>
                  </a:tcPr>
                </a:tc>
                <a:tc>
                  <a:txBody>
                    <a:bodyPr wrap="square"/>
                    <a:lstStyle/>
                    <a:p>
                      <a:r>
                        <a:rPr sz="1150" b="0" i="0">
                          <a:solidFill>
                            <a:srgbClr val="334052"/>
                          </a:solidFill>
                          <a:latin typeface="Verdana"/>
                        </a:rPr>
                        <a:t>The answer is computed math — provable, not learned.</a:t>
                      </a:r>
                    </a:p>
                  </a:txBody>
                  <a:tcPr marL="73152" marR="54864" marT="27432" marB="27432" anchor="ctr">
                    <a:solidFill>
                      <a:srgbClr val="FFFFFF"/>
                    </a:solidFill>
                  </a:tcPr>
                </a:tc>
                <a:tc>
                  <a:txBody>
                    <a:bodyPr wrap="square"/>
                    <a:lstStyle/>
                    <a:p>
                      <a:r>
                        <a:rPr sz="1050" b="1" i="0" spc="100">
                          <a:solidFill>
                            <a:srgbClr val="6B3FC4"/>
                          </a:solidFill>
                          <a:latin typeface="JetBrains Mono"/>
                        </a:rPr>
                        <a:t>SOLVE</a:t>
                      </a:r>
                    </a:p>
                  </a:txBody>
                  <a:tcPr marL="73152" marR="54864" marT="27432" marB="27432" anchor="ctr">
                    <a:solidFill>
                      <a:srgbClr val="FFFFFF"/>
                    </a:solidFill>
                  </a:tcPr>
                </a:tc>
              </a:tr>
              <a:tr h="310896">
                <a:tc>
                  <a:txBody>
                    <a:bodyPr wrap="square"/>
                    <a:lstStyle/>
                    <a:p>
                      <a:r>
                        <a:rPr sz="1100" b="0" i="0">
                          <a:solidFill>
                            <a:srgbClr val="54585C"/>
                          </a:solidFill>
                          <a:latin typeface="JetBrains Mono"/>
                        </a:rPr>
                        <a:t>06</a:t>
                      </a:r>
                    </a:p>
                  </a:txBody>
                  <a:tcPr marL="73152" marR="54864" marT="27432" marB="27432" anchor="ctr">
                    <a:solidFill>
                      <a:srgbClr val="FFFFFF"/>
                    </a:solidFill>
                  </a:tcPr>
                </a:tc>
                <a:tc>
                  <a:txBody>
                    <a:bodyPr wrap="square"/>
                    <a:lstStyle/>
                    <a:p>
                      <a:r>
                        <a:rPr sz="1200" b="1" i="0">
                          <a:solidFill>
                            <a:srgbClr val="002550"/>
                          </a:solidFill>
                          <a:latin typeface="Verdana"/>
                        </a:rPr>
                        <a:t>Workflows (DAG)</a:t>
                      </a:r>
                    </a:p>
                  </a:txBody>
                  <a:tcPr marL="73152" marR="54864" marT="27432" marB="27432" anchor="ctr">
                    <a:solidFill>
                      <a:srgbClr val="FFFFFF"/>
                    </a:solidFill>
                  </a:tcPr>
                </a:tc>
                <a:tc>
                  <a:txBody>
                    <a:bodyPr wrap="square"/>
                    <a:lstStyle/>
                    <a:p>
                      <a:r>
                        <a:rPr sz="1150" b="0" i="0">
                          <a:solidFill>
                            <a:srgbClr val="334052"/>
                          </a:solidFill>
                          <a:latin typeface="Verdana"/>
                        </a:rPr>
                        <a:t>Many steps with dependencies need wiring together.</a:t>
                      </a:r>
                    </a:p>
                  </a:txBody>
                  <a:tcPr marL="73152" marR="54864" marT="27432" marB="27432" anchor="ctr">
                    <a:solidFill>
                      <a:srgbClr val="FFFFFF"/>
                    </a:solidFill>
                  </a:tcPr>
                </a:tc>
                <a:tc>
                  <a:txBody>
                    <a:bodyPr wrap="square"/>
                    <a:lstStyle/>
                    <a:p>
                      <a:r>
                        <a:rPr sz="1050" b="1" i="0" spc="100">
                          <a:solidFill>
                            <a:srgbClr val="F68D2E"/>
                          </a:solidFill>
                          <a:latin typeface="JetBrains Mono"/>
                        </a:rPr>
                        <a:t>COMPOSE</a:t>
                      </a:r>
                    </a:p>
                  </a:txBody>
                  <a:tcPr marL="73152" marR="54864" marT="27432" marB="27432" anchor="ctr">
                    <a:solidFill>
                      <a:srgbClr val="FFFFFF"/>
                    </a:solidFill>
                  </a:tcPr>
                </a:tc>
              </a:tr>
              <a:tr h="310896">
                <a:tc>
                  <a:txBody>
                    <a:bodyPr wrap="square"/>
                    <a:lstStyle/>
                    <a:p>
                      <a:r>
                        <a:rPr sz="1100" b="0" i="0">
                          <a:solidFill>
                            <a:srgbClr val="54585C"/>
                          </a:solidFill>
                          <a:latin typeface="JetBrains Mono"/>
                        </a:rPr>
                        <a:t>07</a:t>
                      </a:r>
                    </a:p>
                  </a:txBody>
                  <a:tcPr marL="73152" marR="54864" marT="27432" marB="27432" anchor="ctr">
                    <a:solidFill>
                      <a:srgbClr val="FFFFFF"/>
                    </a:solidFill>
                  </a:tcPr>
                </a:tc>
                <a:tc>
                  <a:txBody>
                    <a:bodyPr wrap="square"/>
                    <a:lstStyle/>
                    <a:p>
                      <a:r>
                        <a:rPr sz="1200" b="1" i="0">
                          <a:solidFill>
                            <a:srgbClr val="002550"/>
                          </a:solidFill>
                          <a:latin typeface="Verdana"/>
                        </a:rPr>
                        <a:t>Agentic</a:t>
                      </a:r>
                    </a:p>
                  </a:txBody>
                  <a:tcPr marL="73152" marR="54864" marT="27432" marB="27432" anchor="ctr">
                    <a:solidFill>
                      <a:srgbClr val="FFFFFF"/>
                    </a:solidFill>
                  </a:tcPr>
                </a:tc>
                <a:tc>
                  <a:txBody>
                    <a:bodyPr wrap="square"/>
                    <a:lstStyle/>
                    <a:p>
                      <a:r>
                        <a:rPr sz="1150" b="0" i="0">
                          <a:solidFill>
                            <a:srgbClr val="334052"/>
                          </a:solidFill>
                          <a:latin typeface="Verdana"/>
                        </a:rPr>
                        <a:t>The steps can't be known until runtime.</a:t>
                      </a:r>
                    </a:p>
                  </a:txBody>
                  <a:tcPr marL="73152" marR="54864" marT="27432" marB="27432" anchor="ctr">
                    <a:solidFill>
                      <a:srgbClr val="FFFFFF"/>
                    </a:solidFill>
                  </a:tcPr>
                </a:tc>
                <a:tc>
                  <a:txBody>
                    <a:bodyPr wrap="square"/>
                    <a:lstStyle/>
                    <a:p>
                      <a:r>
                        <a:rPr sz="1050" b="1" i="0" spc="100">
                          <a:solidFill>
                            <a:srgbClr val="0055BC"/>
                          </a:solidFill>
                          <a:latin typeface="JetBrains Mono"/>
                        </a:rPr>
                        <a:t>DECISION</a:t>
                      </a:r>
                    </a:p>
                  </a:txBody>
                  <a:tcPr marL="73152" marR="54864" marT="27432" marB="27432" anchor="ctr">
                    <a:solidFill>
                      <a:srgbClr val="FFFFFF"/>
                    </a:solidFill>
                  </a:tcPr>
                </a:tc>
              </a:tr>
            </a:tbl>
          </a:graphicData>
        </a:graphic>
      </p:graphicFrame>
      <p:sp>
        <p:nvSpPr>
          <p:cNvPr id="6" name="Rectangle 5"/>
          <p:cNvSpPr/>
          <p:nvPr/>
        </p:nvSpPr>
        <p:spPr>
          <a:xfrm>
            <a:off x="841248" y="5715000"/>
            <a:ext cx="45720" cy="640080"/>
          </a:xfrm>
          <a:prstGeom prst="rect">
            <a:avLst/>
          </a:prstGeom>
          <a:solidFill>
            <a:srgbClr val="0073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78992" y="5696712"/>
            <a:ext cx="9144000" cy="640080"/>
          </a:xfrm>
          <a:prstGeom prst="rect">
            <a:avLst/>
          </a:prstGeom>
          <a:noFill/>
        </p:spPr>
        <p:txBody>
          <a:bodyPr wrap="square" anchor="t" lIns="0" rIns="0" tIns="0" bIns="0">
            <a:spAutoFit/>
          </a:bodyPr>
          <a:lstStyle/>
          <a:p>
            <a:r>
              <a:rPr sz="1550" b="0" i="1">
                <a:solidFill>
                  <a:srgbClr val="003B82"/>
                </a:solidFill>
                <a:latin typeface="Georgia"/>
              </a:rPr>
              <a:t>Most catalogs blur two questions: where the decision comes from, and how the steps are composed.</a:t>
            </a:r>
          </a:p>
        </p:txBody>
      </p:sp>
      <p:sp>
        <p:nvSpPr>
          <p:cNvPr id="8" name="TextBox 7"/>
          <p:cNvSpPr txBox="1"/>
          <p:nvPr/>
        </p:nvSpPr>
        <p:spPr>
          <a:xfrm>
            <a:off x="841248" y="6382512"/>
            <a:ext cx="5486400" cy="274320"/>
          </a:xfrm>
          <a:prstGeom prst="rect">
            <a:avLst/>
          </a:prstGeom>
          <a:noFill/>
        </p:spPr>
        <p:txBody>
          <a:bodyPr wrap="square" anchor="t" lIns="0" rIns="0" tIns="0" bIns="0">
            <a:spAutoFit/>
          </a:bodyPr>
          <a:lstStyle/>
          <a:p>
            <a:r>
              <a:rPr sz="900" b="1" i="0" spc="220">
                <a:solidFill>
                  <a:srgbClr val="0055BC"/>
                </a:solidFill>
                <a:latin typeface="JetBrains Mono"/>
              </a:rPr>
              <a:t>WORKLOADS</a:t>
            </a:r>
          </a:p>
        </p:txBody>
      </p:sp>
      <p:pic>
        <p:nvPicPr>
          <p:cNvPr id="9" name="Picture 8" descr="CTG-Federal-logo-horizontal-color-72-dpi.png"/>
          <p:cNvPicPr>
            <a:picLocks noChangeAspect="1"/>
          </p:cNvPicPr>
          <p:nvPr/>
        </p:nvPicPr>
        <p:blipFill>
          <a:blip r:embed="rId2"/>
          <a:stretch>
            <a:fillRect/>
          </a:stretch>
        </p:blipFill>
        <p:spPr>
          <a:xfrm>
            <a:off x="9979152" y="6052700"/>
            <a:ext cx="1371600" cy="302380"/>
          </a:xfrm>
          <a:prstGeom prst="rect">
            <a:avLst/>
          </a:prstGeom>
        </p:spPr>
      </p:pic>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gradFill rotWithShape="1">
          <a:gsLst>
            <a:gs pos="0">
              <a:srgbClr val="0F1E38"/>
            </a:gs>
            <a:gs pos="100000">
              <a:srgbClr val="05080F"/>
            </a:gs>
          </a:gsLst>
          <a:lin scaled="0" ang="15000000"/>
        </a:gradFill>
        <a:effectLst/>
      </p:bgPr>
    </p:bg>
    <p:spTree>
      <p:nvGrpSpPr>
        <p:cNvPr id="1" name=""/>
        <p:cNvGrpSpPr/>
        <p:nvPr/>
      </p:nvGrpSpPr>
      <p:grpSpPr/>
      <p:sp>
        <p:nvSpPr>
          <p:cNvPr id="2" name="TextBox 1"/>
          <p:cNvSpPr txBox="1"/>
          <p:nvPr/>
        </p:nvSpPr>
        <p:spPr>
          <a:xfrm>
            <a:off x="841248" y="548640"/>
            <a:ext cx="10424160" cy="365760"/>
          </a:xfrm>
          <a:prstGeom prst="rect">
            <a:avLst/>
          </a:prstGeom>
          <a:noFill/>
        </p:spPr>
        <p:txBody>
          <a:bodyPr wrap="square" anchor="t" lIns="0" rIns="0" tIns="0" bIns="0">
            <a:spAutoFit/>
          </a:bodyPr>
          <a:lstStyle/>
          <a:p>
            <a:r>
              <a:rPr sz="1150" b="1" i="0" spc="300">
                <a:solidFill>
                  <a:srgbClr val="5A9CFF"/>
                </a:solidFill>
                <a:latin typeface="JetBrains Mono"/>
              </a:rPr>
              <a:t>01 · SCRIPTS</a:t>
            </a:r>
          </a:p>
        </p:txBody>
      </p:sp>
      <p:sp>
        <p:nvSpPr>
          <p:cNvPr id="3" name="TextBox 2"/>
          <p:cNvSpPr txBox="1"/>
          <p:nvPr/>
        </p:nvSpPr>
        <p:spPr>
          <a:xfrm>
            <a:off x="841248" y="896112"/>
            <a:ext cx="10515600" cy="1143000"/>
          </a:xfrm>
          <a:prstGeom prst="rect">
            <a:avLst/>
          </a:prstGeom>
          <a:noFill/>
        </p:spPr>
        <p:txBody>
          <a:bodyPr wrap="square" anchor="t" lIns="0" rIns="0" tIns="0" bIns="0">
            <a:spAutoFit/>
          </a:bodyPr>
          <a:lstStyle/>
          <a:p>
            <a:pPr>
              <a:lnSpc>
                <a:spcPct val="100000"/>
              </a:lnSpc>
            </a:pPr>
            <a:r>
              <a:rPr sz="2900" b="1" i="0">
                <a:solidFill>
                  <a:srgbClr val="FFFFFF"/>
                </a:solidFill>
                <a:latin typeface="Verdana"/>
              </a:rPr>
              <a:t>Scripts: same input, </a:t>
            </a:r>
            <a:r>
              <a:rPr sz="2900" b="1" i="0">
                <a:solidFill>
                  <a:srgbClr val="5A9CFF"/>
                </a:solidFill>
                <a:latin typeface="Verdana"/>
              </a:rPr>
              <a:t>same output</a:t>
            </a:r>
            <a:r>
              <a:rPr sz="2900" b="1" i="0">
                <a:solidFill>
                  <a:srgbClr val="FFFFFF"/>
                </a:solidFill>
                <a:latin typeface="Verdana"/>
              </a:rPr>
              <a:t>.</a:t>
            </a:r>
          </a:p>
        </p:txBody>
      </p:sp>
      <p:sp>
        <p:nvSpPr>
          <p:cNvPr id="4" name="TextBox 3"/>
          <p:cNvSpPr txBox="1"/>
          <p:nvPr/>
        </p:nvSpPr>
        <p:spPr>
          <a:xfrm>
            <a:off x="841248" y="1993392"/>
            <a:ext cx="9509760" cy="731520"/>
          </a:xfrm>
          <a:prstGeom prst="rect">
            <a:avLst/>
          </a:prstGeom>
          <a:noFill/>
        </p:spPr>
        <p:txBody>
          <a:bodyPr wrap="square" anchor="t" lIns="0" rIns="0" tIns="0" bIns="0">
            <a:spAutoFit/>
          </a:bodyPr>
          <a:lstStyle/>
          <a:p>
            <a:r>
              <a:rPr sz="1500" b="0" i="0">
                <a:solidFill>
                  <a:srgbClr val="D6E6FF"/>
                </a:solidFill>
                <a:latin typeface="Verdana"/>
              </a:rPr>
              <a:t>The smallest unit of automation — and still the one that does the most work in most organizations.</a:t>
            </a:r>
          </a:p>
        </p:txBody>
      </p:sp>
      <p:sp>
        <p:nvSpPr>
          <p:cNvPr id="5" name="Rounded Rectangle 4"/>
          <p:cNvSpPr/>
          <p:nvPr/>
        </p:nvSpPr>
        <p:spPr>
          <a:xfrm>
            <a:off x="932687" y="2880360"/>
            <a:ext cx="3234944" cy="960120"/>
          </a:xfrm>
          <a:prstGeom prst="roundRect">
            <a:avLst/>
          </a:prstGeom>
          <a:solidFill>
            <a:srgbClr val="102A52"/>
          </a:solidFill>
          <a:ln w="15875">
            <a:solidFill>
              <a:srgbClr val="3C66B0"/>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lnSpc>
                <a:spcPct val="100000"/>
              </a:lnSpc>
            </a:pPr>
            <a:r>
              <a:rPr sz="1200" b="1" i="0">
                <a:solidFill>
                  <a:srgbClr val="FFFFFF"/>
                </a:solidFill>
                <a:latin typeface="JetBrains Mono"/>
              </a:rPr>
              <a:t>stable input</a:t>
            </a:r>
          </a:p>
          <a:p>
            <a:pPr algn="ctr">
              <a:lnSpc>
                <a:spcPct val="100000"/>
              </a:lnSpc>
            </a:pPr>
            <a:r>
              <a:rPr sz="1000" b="0" i="0">
                <a:solidFill>
                  <a:srgbClr val="5A9CFF"/>
                </a:solidFill>
                <a:latin typeface="JetBrains Mono"/>
              </a:rPr>
              <a:t>CSV / API / file</a:t>
            </a:r>
          </a:p>
        </p:txBody>
      </p:sp>
      <p:sp>
        <p:nvSpPr>
          <p:cNvPr id="6" name="Right Arrow 5"/>
          <p:cNvSpPr/>
          <p:nvPr/>
        </p:nvSpPr>
        <p:spPr>
          <a:xfrm>
            <a:off x="4167632" y="3287268"/>
            <a:ext cx="310896" cy="146304"/>
          </a:xfrm>
          <a:prstGeom prst="rightArrow">
            <a:avLst/>
          </a:prstGeom>
          <a:solidFill>
            <a:srgbClr val="0073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478528" y="2880360"/>
            <a:ext cx="3234944" cy="960120"/>
          </a:xfrm>
          <a:prstGeom prst="roundRect">
            <a:avLst/>
          </a:prstGeom>
          <a:solidFill>
            <a:srgbClr val="0A3A86"/>
          </a:solidFill>
          <a:ln w="15875">
            <a:solidFill>
              <a:srgbClr val="3C66B0"/>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lnSpc>
                <a:spcPct val="100000"/>
              </a:lnSpc>
            </a:pPr>
            <a:r>
              <a:rPr sz="1200" b="1" i="0">
                <a:solidFill>
                  <a:srgbClr val="FFFFFF"/>
                </a:solidFill>
                <a:latin typeface="JetBrains Mono"/>
              </a:rPr>
              <a:t>SCRIPT</a:t>
            </a:r>
          </a:p>
          <a:p>
            <a:pPr algn="ctr">
              <a:lnSpc>
                <a:spcPct val="100000"/>
              </a:lnSpc>
            </a:pPr>
            <a:r>
              <a:rPr sz="1000" b="0" i="0">
                <a:solidFill>
                  <a:srgbClr val="5A9CFF"/>
                </a:solidFill>
                <a:latin typeface="JetBrains Mono"/>
              </a:rPr>
              <a:t>deterministic logic</a:t>
            </a:r>
          </a:p>
        </p:txBody>
      </p:sp>
      <p:sp>
        <p:nvSpPr>
          <p:cNvPr id="8" name="Right Arrow 7"/>
          <p:cNvSpPr/>
          <p:nvPr/>
        </p:nvSpPr>
        <p:spPr>
          <a:xfrm>
            <a:off x="7713472" y="3287268"/>
            <a:ext cx="310896" cy="146304"/>
          </a:xfrm>
          <a:prstGeom prst="rightArrow">
            <a:avLst/>
          </a:prstGeom>
          <a:solidFill>
            <a:srgbClr val="0073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8024368" y="2880360"/>
            <a:ext cx="3234944" cy="960120"/>
          </a:xfrm>
          <a:prstGeom prst="roundRect">
            <a:avLst/>
          </a:prstGeom>
          <a:solidFill>
            <a:srgbClr val="102A52"/>
          </a:solidFill>
          <a:ln w="15875">
            <a:solidFill>
              <a:srgbClr val="3C66B0"/>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lnSpc>
                <a:spcPct val="100000"/>
              </a:lnSpc>
            </a:pPr>
            <a:r>
              <a:rPr sz="1200" b="1" i="0">
                <a:solidFill>
                  <a:srgbClr val="FFFFFF"/>
                </a:solidFill>
                <a:latin typeface="JetBrains Mono"/>
              </a:rPr>
              <a:t>identical output</a:t>
            </a:r>
          </a:p>
          <a:p>
            <a:pPr algn="ctr">
              <a:lnSpc>
                <a:spcPct val="100000"/>
              </a:lnSpc>
            </a:pPr>
            <a:r>
              <a:rPr sz="1000" b="0" i="0">
                <a:solidFill>
                  <a:srgbClr val="5A9CFF"/>
                </a:solidFill>
                <a:latin typeface="JetBrains Mono"/>
              </a:rPr>
              <a:t>every run</a:t>
            </a:r>
          </a:p>
        </p:txBody>
      </p:sp>
      <p:sp>
        <p:nvSpPr>
          <p:cNvPr id="10" name="Rectangle 9"/>
          <p:cNvSpPr/>
          <p:nvPr/>
        </p:nvSpPr>
        <p:spPr>
          <a:xfrm>
            <a:off x="841248" y="4983480"/>
            <a:ext cx="10509504" cy="10972"/>
          </a:xfrm>
          <a:prstGeom prst="rect">
            <a:avLst/>
          </a:prstGeom>
          <a:solidFill>
            <a:srgbClr val="2A40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41248" y="5093208"/>
            <a:ext cx="3320288" cy="274320"/>
          </a:xfrm>
          <a:prstGeom prst="rect">
            <a:avLst/>
          </a:prstGeom>
          <a:noFill/>
        </p:spPr>
        <p:txBody>
          <a:bodyPr wrap="square" anchor="t" lIns="0" rIns="0" tIns="0" bIns="0">
            <a:spAutoFit/>
          </a:bodyPr>
          <a:lstStyle/>
          <a:p>
            <a:r>
              <a:rPr sz="950" b="1" i="0" spc="150">
                <a:solidFill>
                  <a:srgbClr val="54585C"/>
                </a:solidFill>
                <a:latin typeface="JetBrains Mono"/>
              </a:rPr>
              <a:t>COST SHAPE</a:t>
            </a:r>
          </a:p>
        </p:txBody>
      </p:sp>
      <p:sp>
        <p:nvSpPr>
          <p:cNvPr id="12" name="TextBox 11"/>
          <p:cNvSpPr txBox="1"/>
          <p:nvPr/>
        </p:nvSpPr>
        <p:spPr>
          <a:xfrm>
            <a:off x="841248" y="5367528"/>
            <a:ext cx="3320288" cy="457200"/>
          </a:xfrm>
          <a:prstGeom prst="rect">
            <a:avLst/>
          </a:prstGeom>
          <a:noFill/>
        </p:spPr>
        <p:txBody>
          <a:bodyPr wrap="square" anchor="t" lIns="0" rIns="0" tIns="0" bIns="0">
            <a:spAutoFit/>
          </a:bodyPr>
          <a:lstStyle/>
          <a:p>
            <a:r>
              <a:rPr sz="1600" b="1" i="0">
                <a:solidFill>
                  <a:srgbClr val="FFFFFF"/>
                </a:solidFill>
                <a:latin typeface="Verdana"/>
              </a:rPr>
              <a:t>Write once</a:t>
            </a:r>
          </a:p>
        </p:txBody>
      </p:sp>
      <p:sp>
        <p:nvSpPr>
          <p:cNvPr id="13" name="TextBox 12"/>
          <p:cNvSpPr txBox="1"/>
          <p:nvPr/>
        </p:nvSpPr>
        <p:spPr>
          <a:xfrm>
            <a:off x="4344416" y="5093208"/>
            <a:ext cx="3320288" cy="274320"/>
          </a:xfrm>
          <a:prstGeom prst="rect">
            <a:avLst/>
          </a:prstGeom>
          <a:noFill/>
        </p:spPr>
        <p:txBody>
          <a:bodyPr wrap="square" anchor="t" lIns="0" rIns="0" tIns="0" bIns="0">
            <a:spAutoFit/>
          </a:bodyPr>
          <a:lstStyle/>
          <a:p>
            <a:r>
              <a:rPr sz="950" b="1" i="0" spc="150">
                <a:solidFill>
                  <a:srgbClr val="54585C"/>
                </a:solidFill>
                <a:latin typeface="JetBrains Mono"/>
              </a:rPr>
              <a:t>DECISION AUTHORITY</a:t>
            </a:r>
          </a:p>
        </p:txBody>
      </p:sp>
      <p:sp>
        <p:nvSpPr>
          <p:cNvPr id="14" name="TextBox 13"/>
          <p:cNvSpPr txBox="1"/>
          <p:nvPr/>
        </p:nvSpPr>
        <p:spPr>
          <a:xfrm>
            <a:off x="4344416" y="5367528"/>
            <a:ext cx="3320288" cy="457200"/>
          </a:xfrm>
          <a:prstGeom prst="rect">
            <a:avLst/>
          </a:prstGeom>
          <a:noFill/>
        </p:spPr>
        <p:txBody>
          <a:bodyPr wrap="square" anchor="t" lIns="0" rIns="0" tIns="0" bIns="0">
            <a:spAutoFit/>
          </a:bodyPr>
          <a:lstStyle/>
          <a:p>
            <a:r>
              <a:rPr sz="1600" b="1" i="0">
                <a:solidFill>
                  <a:srgbClr val="FFFFFF"/>
                </a:solidFill>
                <a:latin typeface="Verdana"/>
              </a:rPr>
              <a:t>None</a:t>
            </a:r>
          </a:p>
        </p:txBody>
      </p:sp>
      <p:sp>
        <p:nvSpPr>
          <p:cNvPr id="15" name="TextBox 14"/>
          <p:cNvSpPr txBox="1"/>
          <p:nvPr/>
        </p:nvSpPr>
        <p:spPr>
          <a:xfrm>
            <a:off x="7847584" y="5093208"/>
            <a:ext cx="3320288" cy="274320"/>
          </a:xfrm>
          <a:prstGeom prst="rect">
            <a:avLst/>
          </a:prstGeom>
          <a:noFill/>
        </p:spPr>
        <p:txBody>
          <a:bodyPr wrap="square" anchor="t" lIns="0" rIns="0" tIns="0" bIns="0">
            <a:spAutoFit/>
          </a:bodyPr>
          <a:lstStyle/>
          <a:p>
            <a:r>
              <a:rPr sz="950" b="1" i="0" spc="150">
                <a:solidFill>
                  <a:srgbClr val="54585C"/>
                </a:solidFill>
                <a:latin typeface="JetBrains Mono"/>
              </a:rPr>
              <a:t>FAILURE MODE</a:t>
            </a:r>
          </a:p>
        </p:txBody>
      </p:sp>
      <p:sp>
        <p:nvSpPr>
          <p:cNvPr id="16" name="TextBox 15"/>
          <p:cNvSpPr txBox="1"/>
          <p:nvPr/>
        </p:nvSpPr>
        <p:spPr>
          <a:xfrm>
            <a:off x="7847584" y="5367528"/>
            <a:ext cx="3320288" cy="457200"/>
          </a:xfrm>
          <a:prstGeom prst="rect">
            <a:avLst/>
          </a:prstGeom>
          <a:noFill/>
        </p:spPr>
        <p:txBody>
          <a:bodyPr wrap="square" anchor="t" lIns="0" rIns="0" tIns="0" bIns="0">
            <a:spAutoFit/>
          </a:bodyPr>
          <a:lstStyle/>
          <a:p>
            <a:r>
              <a:rPr sz="1600" b="1" i="0">
                <a:solidFill>
                  <a:srgbClr val="F68D2E"/>
                </a:solidFill>
                <a:latin typeface="Verdana"/>
              </a:rPr>
              <a:t>Silent on drift</a:t>
            </a:r>
          </a:p>
        </p:txBody>
      </p:sp>
      <p:sp>
        <p:nvSpPr>
          <p:cNvPr id="17" name="Rectangle 16"/>
          <p:cNvSpPr/>
          <p:nvPr/>
        </p:nvSpPr>
        <p:spPr>
          <a:xfrm>
            <a:off x="841248" y="5715000"/>
            <a:ext cx="45720" cy="640080"/>
          </a:xfrm>
          <a:prstGeom prst="rect">
            <a:avLst/>
          </a:prstGeom>
          <a:solidFill>
            <a:srgbClr val="0073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078992" y="5696712"/>
            <a:ext cx="9144000" cy="640080"/>
          </a:xfrm>
          <a:prstGeom prst="rect">
            <a:avLst/>
          </a:prstGeom>
          <a:noFill/>
        </p:spPr>
        <p:txBody>
          <a:bodyPr wrap="square" anchor="t" lIns="0" rIns="0" tIns="0" bIns="0">
            <a:spAutoFit/>
          </a:bodyPr>
          <a:lstStyle/>
          <a:p>
            <a:r>
              <a:rPr sz="1550" b="0" i="1">
                <a:solidFill>
                  <a:srgbClr val="D6E6FF"/>
                </a:solidFill>
                <a:latin typeface="Georgia"/>
              </a:rPr>
              <a:t>The first thing to try — and often the right answer even after you've seen the rest of the bench.</a:t>
            </a:r>
          </a:p>
        </p:txBody>
      </p:sp>
      <p:sp>
        <p:nvSpPr>
          <p:cNvPr id="19" name="TextBox 18"/>
          <p:cNvSpPr txBox="1"/>
          <p:nvPr/>
        </p:nvSpPr>
        <p:spPr>
          <a:xfrm>
            <a:off x="841248" y="6382512"/>
            <a:ext cx="5486400" cy="274320"/>
          </a:xfrm>
          <a:prstGeom prst="rect">
            <a:avLst/>
          </a:prstGeom>
          <a:noFill/>
        </p:spPr>
        <p:txBody>
          <a:bodyPr wrap="square" anchor="t" lIns="0" rIns="0" tIns="0" bIns="0">
            <a:spAutoFit/>
          </a:bodyPr>
          <a:lstStyle/>
          <a:p>
            <a:r>
              <a:rPr sz="900" b="1" i="0" spc="220">
                <a:solidFill>
                  <a:srgbClr val="5A9CFF"/>
                </a:solidFill>
                <a:latin typeface="JetBrains Mono"/>
              </a:rPr>
              <a:t>WORKLOADS</a:t>
            </a:r>
          </a:p>
        </p:txBody>
      </p:sp>
      <p:pic>
        <p:nvPicPr>
          <p:cNvPr id="20" name="Picture 19" descr="CTG-Federal-logo-horizontal-reverse-72-dpi.png"/>
          <p:cNvPicPr>
            <a:picLocks noChangeAspect="1"/>
          </p:cNvPicPr>
          <p:nvPr/>
        </p:nvPicPr>
        <p:blipFill>
          <a:blip r:embed="rId2"/>
          <a:stretch>
            <a:fillRect/>
          </a:stretch>
        </p:blipFill>
        <p:spPr>
          <a:xfrm>
            <a:off x="9979152" y="6052700"/>
            <a:ext cx="1371600" cy="302380"/>
          </a:xfrm>
          <a:prstGeom prst="rect">
            <a:avLst/>
          </a:prstGeom>
        </p:spPr>
      </p:pic>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gradFill rotWithShape="1">
          <a:gsLst>
            <a:gs pos="0">
              <a:srgbClr val="0F1E38"/>
            </a:gs>
            <a:gs pos="100000">
              <a:srgbClr val="05080F"/>
            </a:gs>
          </a:gsLst>
          <a:lin scaled="0" ang="15000000"/>
        </a:gradFill>
        <a:effectLst/>
      </p:bgPr>
    </p:bg>
    <p:spTree>
      <p:nvGrpSpPr>
        <p:cNvPr id="1" name=""/>
        <p:cNvGrpSpPr/>
        <p:nvPr/>
      </p:nvGrpSpPr>
      <p:grpSpPr/>
      <p:sp>
        <p:nvSpPr>
          <p:cNvPr id="2" name="TextBox 1"/>
          <p:cNvSpPr txBox="1"/>
          <p:nvPr/>
        </p:nvSpPr>
        <p:spPr>
          <a:xfrm>
            <a:off x="841248" y="548640"/>
            <a:ext cx="10424160" cy="365760"/>
          </a:xfrm>
          <a:prstGeom prst="rect">
            <a:avLst/>
          </a:prstGeom>
          <a:noFill/>
        </p:spPr>
        <p:txBody>
          <a:bodyPr wrap="square" anchor="t" lIns="0" rIns="0" tIns="0" bIns="0">
            <a:spAutoFit/>
          </a:bodyPr>
          <a:lstStyle/>
          <a:p>
            <a:r>
              <a:rPr sz="1150" b="1" i="0" spc="300">
                <a:solidFill>
                  <a:srgbClr val="5A9CFF"/>
                </a:solidFill>
                <a:latin typeface="JetBrains Mono"/>
              </a:rPr>
              <a:t>02 · RULES ENGINES</a:t>
            </a:r>
          </a:p>
        </p:txBody>
      </p:sp>
      <p:sp>
        <p:nvSpPr>
          <p:cNvPr id="3" name="TextBox 2"/>
          <p:cNvSpPr txBox="1"/>
          <p:nvPr/>
        </p:nvSpPr>
        <p:spPr>
          <a:xfrm>
            <a:off x="841248" y="896112"/>
            <a:ext cx="10515600" cy="1143000"/>
          </a:xfrm>
          <a:prstGeom prst="rect">
            <a:avLst/>
          </a:prstGeom>
          <a:noFill/>
        </p:spPr>
        <p:txBody>
          <a:bodyPr wrap="square" anchor="t" lIns="0" rIns="0" tIns="0" bIns="0">
            <a:spAutoFit/>
          </a:bodyPr>
          <a:lstStyle/>
          <a:p>
            <a:pPr>
              <a:lnSpc>
                <a:spcPct val="100000"/>
              </a:lnSpc>
            </a:pPr>
            <a:r>
              <a:rPr sz="2900" b="1" i="0">
                <a:solidFill>
                  <a:srgbClr val="FFFFFF"/>
                </a:solidFill>
                <a:latin typeface="Verdana"/>
              </a:rPr>
              <a:t>Rules engines: the logic is a </a:t>
            </a:r>
            <a:r>
              <a:rPr sz="2900" b="1" i="0">
                <a:solidFill>
                  <a:srgbClr val="5A9CFF"/>
                </a:solidFill>
                <a:latin typeface="Verdana"/>
              </a:rPr>
              <a:t>table</a:t>
            </a:r>
            <a:r>
              <a:rPr sz="2900" b="1" i="0">
                <a:solidFill>
                  <a:srgbClr val="FFFFFF"/>
                </a:solidFill>
                <a:latin typeface="Verdana"/>
              </a:rPr>
              <a:t>, not code.</a:t>
            </a:r>
          </a:p>
        </p:txBody>
      </p:sp>
      <p:sp>
        <p:nvSpPr>
          <p:cNvPr id="4" name="TextBox 3"/>
          <p:cNvSpPr txBox="1"/>
          <p:nvPr/>
        </p:nvSpPr>
        <p:spPr>
          <a:xfrm>
            <a:off x="841248" y="1993392"/>
            <a:ext cx="9509760" cy="731520"/>
          </a:xfrm>
          <a:prstGeom prst="rect">
            <a:avLst/>
          </a:prstGeom>
          <a:noFill/>
        </p:spPr>
        <p:txBody>
          <a:bodyPr wrap="square" anchor="t" lIns="0" rIns="0" tIns="0" bIns="0">
            <a:spAutoFit/>
          </a:bodyPr>
          <a:lstStyle/>
          <a:p>
            <a:r>
              <a:rPr sz="1500" b="0" i="0">
                <a:solidFill>
                  <a:srgbClr val="D6E6FF"/>
                </a:solidFill>
                <a:latin typeface="Verdana"/>
              </a:rPr>
              <a:t>Declarative if/then at scale — policy a domain expert can read and change without a deploy.</a:t>
            </a:r>
          </a:p>
        </p:txBody>
      </p:sp>
      <p:sp>
        <p:nvSpPr>
          <p:cNvPr id="5" name="Rounded Rectangle 4"/>
          <p:cNvSpPr/>
          <p:nvPr/>
        </p:nvSpPr>
        <p:spPr>
          <a:xfrm>
            <a:off x="960120" y="2697480"/>
            <a:ext cx="2286000" cy="731520"/>
          </a:xfrm>
          <a:prstGeom prst="roundRect">
            <a:avLst/>
          </a:prstGeom>
          <a:solidFill>
            <a:srgbClr val="102A52"/>
          </a:solidFill>
          <a:ln w="15875">
            <a:solidFill>
              <a:srgbClr val="3C66B0"/>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lnSpc>
                <a:spcPct val="100000"/>
              </a:lnSpc>
            </a:pPr>
            <a:r>
              <a:rPr sz="1200" b="1" i="0">
                <a:solidFill>
                  <a:srgbClr val="FFFFFF"/>
                </a:solidFill>
                <a:latin typeface="JetBrains Mono"/>
              </a:rPr>
              <a:t>facts</a:t>
            </a:r>
          </a:p>
          <a:p>
            <a:pPr algn="ctr">
              <a:lnSpc>
                <a:spcPct val="100000"/>
              </a:lnSpc>
            </a:pPr>
            <a:r>
              <a:rPr sz="1000" b="0" i="0">
                <a:solidFill>
                  <a:srgbClr val="5A9CFF"/>
                </a:solidFill>
                <a:latin typeface="JetBrains Mono"/>
              </a:rPr>
              <a:t>the case at hand</a:t>
            </a:r>
          </a:p>
        </p:txBody>
      </p:sp>
      <p:sp>
        <p:nvSpPr>
          <p:cNvPr id="6" name="Rounded Rectangle 5"/>
          <p:cNvSpPr/>
          <p:nvPr/>
        </p:nvSpPr>
        <p:spPr>
          <a:xfrm>
            <a:off x="960120" y="3657600"/>
            <a:ext cx="2286000" cy="731520"/>
          </a:xfrm>
          <a:prstGeom prst="roundRect">
            <a:avLst/>
          </a:prstGeom>
          <a:solidFill>
            <a:srgbClr val="102A52"/>
          </a:solidFill>
          <a:ln w="15875">
            <a:solidFill>
              <a:srgbClr val="3C66B0"/>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lnSpc>
                <a:spcPct val="100000"/>
              </a:lnSpc>
            </a:pPr>
            <a:r>
              <a:rPr sz="1200" b="1" i="0">
                <a:solidFill>
                  <a:srgbClr val="FFFFFF"/>
                </a:solidFill>
                <a:latin typeface="JetBrains Mono"/>
              </a:rPr>
              <a:t>rule set</a:t>
            </a:r>
          </a:p>
          <a:p>
            <a:pPr algn="ctr">
              <a:lnSpc>
                <a:spcPct val="100000"/>
              </a:lnSpc>
            </a:pPr>
            <a:r>
              <a:rPr sz="1000" b="0" i="0">
                <a:solidFill>
                  <a:srgbClr val="5A9CFF"/>
                </a:solidFill>
                <a:latin typeface="JetBrains Mono"/>
              </a:rPr>
              <a:t>expert-owned</a:t>
            </a:r>
          </a:p>
        </p:txBody>
      </p:sp>
      <p:sp>
        <p:nvSpPr>
          <p:cNvPr id="7" name="Rounded Rectangle 6"/>
          <p:cNvSpPr/>
          <p:nvPr/>
        </p:nvSpPr>
        <p:spPr>
          <a:xfrm>
            <a:off x="4572000" y="3154680"/>
            <a:ext cx="2743200" cy="822960"/>
          </a:xfrm>
          <a:prstGeom prst="roundRect">
            <a:avLst/>
          </a:prstGeom>
          <a:solidFill>
            <a:srgbClr val="0A3A86"/>
          </a:solidFill>
          <a:ln w="15875">
            <a:solidFill>
              <a:srgbClr val="3C66B0"/>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lnSpc>
                <a:spcPct val="100000"/>
              </a:lnSpc>
            </a:pPr>
            <a:r>
              <a:rPr sz="1200" b="1" i="0">
                <a:solidFill>
                  <a:srgbClr val="FFFFFF"/>
                </a:solidFill>
                <a:latin typeface="JetBrains Mono"/>
              </a:rPr>
              <a:t>INFERENCE ENGINE</a:t>
            </a:r>
          </a:p>
          <a:p>
            <a:pPr algn="ctr">
              <a:lnSpc>
                <a:spcPct val="100000"/>
              </a:lnSpc>
            </a:pPr>
            <a:r>
              <a:rPr sz="1000" b="0" i="0">
                <a:solidFill>
                  <a:srgbClr val="5A9CFF"/>
                </a:solidFill>
                <a:latin typeface="JetBrains Mono"/>
              </a:rPr>
              <a:t>matches facts to rules</a:t>
            </a:r>
          </a:p>
        </p:txBody>
      </p:sp>
      <p:sp>
        <p:nvSpPr>
          <p:cNvPr id="8" name="Rounded Rectangle 7"/>
          <p:cNvSpPr/>
          <p:nvPr/>
        </p:nvSpPr>
        <p:spPr>
          <a:xfrm>
            <a:off x="8595360" y="3154680"/>
            <a:ext cx="2651760" cy="822960"/>
          </a:xfrm>
          <a:prstGeom prst="roundRect">
            <a:avLst/>
          </a:prstGeom>
          <a:solidFill>
            <a:srgbClr val="102A52"/>
          </a:solidFill>
          <a:ln w="15875">
            <a:solidFill>
              <a:srgbClr val="3C66B0"/>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lnSpc>
                <a:spcPct val="100000"/>
              </a:lnSpc>
            </a:pPr>
            <a:r>
              <a:rPr sz="1200" b="1" i="0">
                <a:solidFill>
                  <a:srgbClr val="FFFFFF"/>
                </a:solidFill>
                <a:latin typeface="JetBrains Mono"/>
              </a:rPr>
              <a:t>decision</a:t>
            </a:r>
          </a:p>
          <a:p>
            <a:pPr algn="ctr">
              <a:lnSpc>
                <a:spcPct val="100000"/>
              </a:lnSpc>
            </a:pPr>
            <a:r>
              <a:rPr sz="1000" b="0" i="0">
                <a:solidFill>
                  <a:srgbClr val="5A9CFF"/>
                </a:solidFill>
                <a:latin typeface="JetBrains Mono"/>
              </a:rPr>
              <a:t>+ which rules fired</a:t>
            </a:r>
          </a:p>
        </p:txBody>
      </p:sp>
      <p:sp>
        <p:nvSpPr>
          <p:cNvPr id="9" name="Right Arrow 8"/>
          <p:cNvSpPr/>
          <p:nvPr/>
        </p:nvSpPr>
        <p:spPr>
          <a:xfrm>
            <a:off x="3383280" y="2971800"/>
            <a:ext cx="310896" cy="146304"/>
          </a:xfrm>
          <a:prstGeom prst="rightArrow">
            <a:avLst/>
          </a:prstGeom>
          <a:solidFill>
            <a:srgbClr val="0073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ight Arrow 9"/>
          <p:cNvSpPr/>
          <p:nvPr/>
        </p:nvSpPr>
        <p:spPr>
          <a:xfrm>
            <a:off x="3383280" y="3931920"/>
            <a:ext cx="310896" cy="146304"/>
          </a:xfrm>
          <a:prstGeom prst="rightArrow">
            <a:avLst/>
          </a:prstGeom>
          <a:solidFill>
            <a:srgbClr val="0073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ight Arrow 10"/>
          <p:cNvSpPr/>
          <p:nvPr/>
        </p:nvSpPr>
        <p:spPr>
          <a:xfrm>
            <a:off x="7452360" y="3474720"/>
            <a:ext cx="310896" cy="146304"/>
          </a:xfrm>
          <a:prstGeom prst="rightArrow">
            <a:avLst/>
          </a:prstGeom>
          <a:solidFill>
            <a:srgbClr val="0073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841248" y="4983480"/>
            <a:ext cx="10509504" cy="10972"/>
          </a:xfrm>
          <a:prstGeom prst="rect">
            <a:avLst/>
          </a:prstGeom>
          <a:solidFill>
            <a:srgbClr val="2A40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41248" y="5093208"/>
            <a:ext cx="3320288" cy="274320"/>
          </a:xfrm>
          <a:prstGeom prst="rect">
            <a:avLst/>
          </a:prstGeom>
          <a:noFill/>
        </p:spPr>
        <p:txBody>
          <a:bodyPr wrap="square" anchor="t" lIns="0" rIns="0" tIns="0" bIns="0">
            <a:spAutoFit/>
          </a:bodyPr>
          <a:lstStyle/>
          <a:p>
            <a:r>
              <a:rPr sz="950" b="1" i="0" spc="150">
                <a:solidFill>
                  <a:srgbClr val="54585C"/>
                </a:solidFill>
                <a:latin typeface="JetBrains Mono"/>
              </a:rPr>
              <a:t>COST SHAPE</a:t>
            </a:r>
          </a:p>
        </p:txBody>
      </p:sp>
      <p:sp>
        <p:nvSpPr>
          <p:cNvPr id="14" name="TextBox 13"/>
          <p:cNvSpPr txBox="1"/>
          <p:nvPr/>
        </p:nvSpPr>
        <p:spPr>
          <a:xfrm>
            <a:off x="841248" y="5367528"/>
            <a:ext cx="3320288" cy="457200"/>
          </a:xfrm>
          <a:prstGeom prst="rect">
            <a:avLst/>
          </a:prstGeom>
          <a:noFill/>
        </p:spPr>
        <p:txBody>
          <a:bodyPr wrap="square" anchor="t" lIns="0" rIns="0" tIns="0" bIns="0">
            <a:spAutoFit/>
          </a:bodyPr>
          <a:lstStyle/>
          <a:p>
            <a:r>
              <a:rPr sz="1600" b="1" i="0">
                <a:solidFill>
                  <a:srgbClr val="FFFFFF"/>
                </a:solidFill>
                <a:latin typeface="Verdana"/>
              </a:rPr>
              <a:t>Author the rules</a:t>
            </a:r>
          </a:p>
        </p:txBody>
      </p:sp>
      <p:sp>
        <p:nvSpPr>
          <p:cNvPr id="15" name="TextBox 14"/>
          <p:cNvSpPr txBox="1"/>
          <p:nvPr/>
        </p:nvSpPr>
        <p:spPr>
          <a:xfrm>
            <a:off x="4344416" y="5093208"/>
            <a:ext cx="3320288" cy="274320"/>
          </a:xfrm>
          <a:prstGeom prst="rect">
            <a:avLst/>
          </a:prstGeom>
          <a:noFill/>
        </p:spPr>
        <p:txBody>
          <a:bodyPr wrap="square" anchor="t" lIns="0" rIns="0" tIns="0" bIns="0">
            <a:spAutoFit/>
          </a:bodyPr>
          <a:lstStyle/>
          <a:p>
            <a:r>
              <a:rPr sz="950" b="1" i="0" spc="150">
                <a:solidFill>
                  <a:srgbClr val="54585C"/>
                </a:solidFill>
                <a:latin typeface="JetBrains Mono"/>
              </a:rPr>
              <a:t>AUTHORITY</a:t>
            </a:r>
          </a:p>
        </p:txBody>
      </p:sp>
      <p:sp>
        <p:nvSpPr>
          <p:cNvPr id="16" name="TextBox 15"/>
          <p:cNvSpPr txBox="1"/>
          <p:nvPr/>
        </p:nvSpPr>
        <p:spPr>
          <a:xfrm>
            <a:off x="4344416" y="5367528"/>
            <a:ext cx="3320288" cy="457200"/>
          </a:xfrm>
          <a:prstGeom prst="rect">
            <a:avLst/>
          </a:prstGeom>
          <a:noFill/>
        </p:spPr>
        <p:txBody>
          <a:bodyPr wrap="square" anchor="t" lIns="0" rIns="0" tIns="0" bIns="0">
            <a:spAutoFit/>
          </a:bodyPr>
          <a:lstStyle/>
          <a:p>
            <a:r>
              <a:rPr sz="1600" b="1" i="0">
                <a:solidFill>
                  <a:srgbClr val="FFFFFF"/>
                </a:solidFill>
                <a:latin typeface="Verdana"/>
              </a:rPr>
              <a:t>Bounded, explainable</a:t>
            </a:r>
          </a:p>
        </p:txBody>
      </p:sp>
      <p:sp>
        <p:nvSpPr>
          <p:cNvPr id="17" name="TextBox 16"/>
          <p:cNvSpPr txBox="1"/>
          <p:nvPr/>
        </p:nvSpPr>
        <p:spPr>
          <a:xfrm>
            <a:off x="7847584" y="5093208"/>
            <a:ext cx="3320288" cy="274320"/>
          </a:xfrm>
          <a:prstGeom prst="rect">
            <a:avLst/>
          </a:prstGeom>
          <a:noFill/>
        </p:spPr>
        <p:txBody>
          <a:bodyPr wrap="square" anchor="t" lIns="0" rIns="0" tIns="0" bIns="0">
            <a:spAutoFit/>
          </a:bodyPr>
          <a:lstStyle/>
          <a:p>
            <a:r>
              <a:rPr sz="950" b="1" i="0" spc="150">
                <a:solidFill>
                  <a:srgbClr val="54585C"/>
                </a:solidFill>
                <a:latin typeface="JetBrains Mono"/>
              </a:rPr>
              <a:t>FAILURE MODE</a:t>
            </a:r>
          </a:p>
        </p:txBody>
      </p:sp>
      <p:sp>
        <p:nvSpPr>
          <p:cNvPr id="18" name="TextBox 17"/>
          <p:cNvSpPr txBox="1"/>
          <p:nvPr/>
        </p:nvSpPr>
        <p:spPr>
          <a:xfrm>
            <a:off x="7847584" y="5367528"/>
            <a:ext cx="3320288" cy="457200"/>
          </a:xfrm>
          <a:prstGeom prst="rect">
            <a:avLst/>
          </a:prstGeom>
          <a:noFill/>
        </p:spPr>
        <p:txBody>
          <a:bodyPr wrap="square" anchor="t" lIns="0" rIns="0" tIns="0" bIns="0">
            <a:spAutoFit/>
          </a:bodyPr>
          <a:lstStyle/>
          <a:p>
            <a:r>
              <a:rPr sz="1600" b="1" i="0">
                <a:solidFill>
                  <a:srgbClr val="F68D2E"/>
                </a:solidFill>
                <a:latin typeface="Verdana"/>
              </a:rPr>
              <a:t>Rule conflict &amp; sprawl</a:t>
            </a:r>
          </a:p>
        </p:txBody>
      </p:sp>
      <p:sp>
        <p:nvSpPr>
          <p:cNvPr id="19" name="Rectangle 18"/>
          <p:cNvSpPr/>
          <p:nvPr/>
        </p:nvSpPr>
        <p:spPr>
          <a:xfrm>
            <a:off x="841248" y="5715000"/>
            <a:ext cx="45720" cy="640080"/>
          </a:xfrm>
          <a:prstGeom prst="rect">
            <a:avLst/>
          </a:prstGeom>
          <a:solidFill>
            <a:srgbClr val="0073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78992" y="5696712"/>
            <a:ext cx="9144000" cy="640080"/>
          </a:xfrm>
          <a:prstGeom prst="rect">
            <a:avLst/>
          </a:prstGeom>
          <a:noFill/>
        </p:spPr>
        <p:txBody>
          <a:bodyPr wrap="square" anchor="t" lIns="0" rIns="0" tIns="0" bIns="0">
            <a:spAutoFit/>
          </a:bodyPr>
          <a:lstStyle/>
          <a:p>
            <a:r>
              <a:rPr sz="1550" b="0" i="1">
                <a:solidFill>
                  <a:srgbClr val="D6E6FF"/>
                </a:solidFill>
                <a:latin typeface="Georgia"/>
              </a:rPr>
              <a:t>Reach for it when the policy changes weekly and a non-programmer has to own it.</a:t>
            </a:r>
          </a:p>
        </p:txBody>
      </p:sp>
      <p:sp>
        <p:nvSpPr>
          <p:cNvPr id="21" name="TextBox 20"/>
          <p:cNvSpPr txBox="1"/>
          <p:nvPr/>
        </p:nvSpPr>
        <p:spPr>
          <a:xfrm>
            <a:off x="841248" y="6382512"/>
            <a:ext cx="5486400" cy="274320"/>
          </a:xfrm>
          <a:prstGeom prst="rect">
            <a:avLst/>
          </a:prstGeom>
          <a:noFill/>
        </p:spPr>
        <p:txBody>
          <a:bodyPr wrap="square" anchor="t" lIns="0" rIns="0" tIns="0" bIns="0">
            <a:spAutoFit/>
          </a:bodyPr>
          <a:lstStyle/>
          <a:p>
            <a:r>
              <a:rPr sz="900" b="1" i="0" spc="220">
                <a:solidFill>
                  <a:srgbClr val="5A9CFF"/>
                </a:solidFill>
                <a:latin typeface="JetBrains Mono"/>
              </a:rPr>
              <a:t>WORKLOADS</a:t>
            </a:r>
          </a:p>
        </p:txBody>
      </p:sp>
      <p:pic>
        <p:nvPicPr>
          <p:cNvPr id="22" name="Picture 21" descr="CTG-Federal-logo-horizontal-reverse-72-dpi.png"/>
          <p:cNvPicPr>
            <a:picLocks noChangeAspect="1"/>
          </p:cNvPicPr>
          <p:nvPr/>
        </p:nvPicPr>
        <p:blipFill>
          <a:blip r:embed="rId2"/>
          <a:stretch>
            <a:fillRect/>
          </a:stretch>
        </p:blipFill>
        <p:spPr>
          <a:xfrm>
            <a:off x="9979152" y="6052700"/>
            <a:ext cx="1371600" cy="302380"/>
          </a:xfrm>
          <a:prstGeom prst="rect">
            <a:avLst/>
          </a:prstGeom>
        </p:spPr>
      </p:pic>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gradFill rotWithShape="1">
          <a:gsLst>
            <a:gs pos="0">
              <a:srgbClr val="0F1E38"/>
            </a:gs>
            <a:gs pos="100000">
              <a:srgbClr val="05080F"/>
            </a:gs>
          </a:gsLst>
          <a:lin scaled="0" ang="15000000"/>
        </a:gradFill>
        <a:effectLst/>
      </p:bgPr>
    </p:bg>
    <p:spTree>
      <p:nvGrpSpPr>
        <p:cNvPr id="1" name=""/>
        <p:cNvGrpSpPr/>
        <p:nvPr/>
      </p:nvGrpSpPr>
      <p:grpSpPr/>
      <p:sp>
        <p:nvSpPr>
          <p:cNvPr id="2" name="TextBox 1"/>
          <p:cNvSpPr txBox="1"/>
          <p:nvPr/>
        </p:nvSpPr>
        <p:spPr>
          <a:xfrm>
            <a:off x="841248" y="548640"/>
            <a:ext cx="10424160" cy="365760"/>
          </a:xfrm>
          <a:prstGeom prst="rect">
            <a:avLst/>
          </a:prstGeom>
          <a:noFill/>
        </p:spPr>
        <p:txBody>
          <a:bodyPr wrap="square" anchor="t" lIns="0" rIns="0" tIns="0" bIns="0">
            <a:spAutoFit/>
          </a:bodyPr>
          <a:lstStyle/>
          <a:p>
            <a:r>
              <a:rPr sz="1150" b="1" i="0" spc="300">
                <a:solidFill>
                  <a:srgbClr val="5A9CFF"/>
                </a:solidFill>
                <a:latin typeface="JetBrains Mono"/>
              </a:rPr>
              <a:t>03 · MACHINE LEARNING</a:t>
            </a:r>
          </a:p>
        </p:txBody>
      </p:sp>
      <p:sp>
        <p:nvSpPr>
          <p:cNvPr id="3" name="TextBox 2"/>
          <p:cNvSpPr txBox="1"/>
          <p:nvPr/>
        </p:nvSpPr>
        <p:spPr>
          <a:xfrm>
            <a:off x="841248" y="896112"/>
            <a:ext cx="10515600" cy="1143000"/>
          </a:xfrm>
          <a:prstGeom prst="rect">
            <a:avLst/>
          </a:prstGeom>
          <a:noFill/>
        </p:spPr>
        <p:txBody>
          <a:bodyPr wrap="square" anchor="t" lIns="0" rIns="0" tIns="0" bIns="0">
            <a:spAutoFit/>
          </a:bodyPr>
          <a:lstStyle/>
          <a:p>
            <a:pPr>
              <a:lnSpc>
                <a:spcPct val="100000"/>
              </a:lnSpc>
            </a:pPr>
            <a:r>
              <a:rPr sz="2900" b="1" i="0">
                <a:solidFill>
                  <a:srgbClr val="FFFFFF"/>
                </a:solidFill>
                <a:latin typeface="Verdana"/>
              </a:rPr>
              <a:t>When the rule isn't writable, learn it from </a:t>
            </a:r>
            <a:r>
              <a:rPr sz="2900" b="1" i="0">
                <a:solidFill>
                  <a:srgbClr val="5A9CFF"/>
                </a:solidFill>
                <a:latin typeface="Verdana"/>
              </a:rPr>
              <a:t>data</a:t>
            </a:r>
            <a:r>
              <a:rPr sz="2900" b="1" i="0">
                <a:solidFill>
                  <a:srgbClr val="FFFFFF"/>
                </a:solidFill>
                <a:latin typeface="Verdana"/>
              </a:rPr>
              <a:t>.</a:t>
            </a:r>
          </a:p>
        </p:txBody>
      </p:sp>
      <p:sp>
        <p:nvSpPr>
          <p:cNvPr id="4" name="TextBox 3"/>
          <p:cNvSpPr txBox="1"/>
          <p:nvPr/>
        </p:nvSpPr>
        <p:spPr>
          <a:xfrm>
            <a:off x="841248" y="1993392"/>
            <a:ext cx="9509760" cy="731520"/>
          </a:xfrm>
          <a:prstGeom prst="rect">
            <a:avLst/>
          </a:prstGeom>
          <a:noFill/>
        </p:spPr>
        <p:txBody>
          <a:bodyPr wrap="square" anchor="t" lIns="0" rIns="0" tIns="0" bIns="0">
            <a:spAutoFit/>
          </a:bodyPr>
          <a:lstStyle/>
          <a:p>
            <a:r>
              <a:rPr sz="1500" b="0" i="0">
                <a:solidFill>
                  <a:srgbClr val="D6E6FF"/>
                </a:solidFill>
                <a:latin typeface="Verdana"/>
              </a:rPr>
              <a:t>Predict, classify, rank, score — the rule lives in the data, not in anyone's head.</a:t>
            </a:r>
          </a:p>
        </p:txBody>
      </p:sp>
      <p:sp>
        <p:nvSpPr>
          <p:cNvPr id="5" name="Rounded Rectangle 4"/>
          <p:cNvSpPr/>
          <p:nvPr/>
        </p:nvSpPr>
        <p:spPr>
          <a:xfrm>
            <a:off x="932687" y="2834640"/>
            <a:ext cx="3234944" cy="960120"/>
          </a:xfrm>
          <a:prstGeom prst="roundRect">
            <a:avLst/>
          </a:prstGeom>
          <a:solidFill>
            <a:srgbClr val="102A52"/>
          </a:solidFill>
          <a:ln w="15875">
            <a:solidFill>
              <a:srgbClr val="3C66B0"/>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lnSpc>
                <a:spcPct val="100000"/>
              </a:lnSpc>
            </a:pPr>
            <a:r>
              <a:rPr sz="1200" b="1" i="0">
                <a:solidFill>
                  <a:srgbClr val="FFFFFF"/>
                </a:solidFill>
                <a:latin typeface="JetBrains Mono"/>
              </a:rPr>
              <a:t>labeled examples</a:t>
            </a:r>
          </a:p>
          <a:p>
            <a:pPr algn="ctr">
              <a:lnSpc>
                <a:spcPct val="100000"/>
              </a:lnSpc>
            </a:pPr>
            <a:r>
              <a:rPr sz="1000" b="0" i="0">
                <a:solidFill>
                  <a:srgbClr val="5A9CFF"/>
                </a:solidFill>
                <a:latin typeface="JetBrains Mono"/>
              </a:rPr>
              <a:t>+ features</a:t>
            </a:r>
          </a:p>
        </p:txBody>
      </p:sp>
      <p:sp>
        <p:nvSpPr>
          <p:cNvPr id="6" name="Right Arrow 5"/>
          <p:cNvSpPr/>
          <p:nvPr/>
        </p:nvSpPr>
        <p:spPr>
          <a:xfrm>
            <a:off x="4167632" y="3241548"/>
            <a:ext cx="310896" cy="146304"/>
          </a:xfrm>
          <a:prstGeom prst="rightArrow">
            <a:avLst/>
          </a:prstGeom>
          <a:solidFill>
            <a:srgbClr val="0073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478528" y="2834640"/>
            <a:ext cx="3234944" cy="960120"/>
          </a:xfrm>
          <a:prstGeom prst="roundRect">
            <a:avLst/>
          </a:prstGeom>
          <a:solidFill>
            <a:srgbClr val="0A3A86"/>
          </a:solidFill>
          <a:ln w="15875">
            <a:solidFill>
              <a:srgbClr val="3C66B0"/>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lnSpc>
                <a:spcPct val="100000"/>
              </a:lnSpc>
            </a:pPr>
            <a:r>
              <a:rPr sz="1200" b="1" i="0">
                <a:solidFill>
                  <a:srgbClr val="FFFFFF"/>
                </a:solidFill>
                <a:latin typeface="JetBrains Mono"/>
              </a:rPr>
              <a:t>MODEL</a:t>
            </a:r>
          </a:p>
          <a:p>
            <a:pPr algn="ctr">
              <a:lnSpc>
                <a:spcPct val="100000"/>
              </a:lnSpc>
            </a:pPr>
            <a:r>
              <a:rPr sz="1000" b="0" i="0">
                <a:solidFill>
                  <a:srgbClr val="5A9CFF"/>
                </a:solidFill>
                <a:latin typeface="JetBrains Mono"/>
              </a:rPr>
              <a:t>classify / rank / score</a:t>
            </a:r>
          </a:p>
        </p:txBody>
      </p:sp>
      <p:sp>
        <p:nvSpPr>
          <p:cNvPr id="8" name="Right Arrow 7"/>
          <p:cNvSpPr/>
          <p:nvPr/>
        </p:nvSpPr>
        <p:spPr>
          <a:xfrm>
            <a:off x="7713472" y="3241548"/>
            <a:ext cx="310896" cy="146304"/>
          </a:xfrm>
          <a:prstGeom prst="rightArrow">
            <a:avLst/>
          </a:prstGeom>
          <a:solidFill>
            <a:srgbClr val="0073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8024368" y="2834640"/>
            <a:ext cx="3234944" cy="960120"/>
          </a:xfrm>
          <a:prstGeom prst="roundRect">
            <a:avLst/>
          </a:prstGeom>
          <a:solidFill>
            <a:srgbClr val="102A52"/>
          </a:solidFill>
          <a:ln w="15875">
            <a:solidFill>
              <a:srgbClr val="3C66B0"/>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lnSpc>
                <a:spcPct val="100000"/>
              </a:lnSpc>
            </a:pPr>
            <a:r>
              <a:rPr sz="1200" b="1" i="0">
                <a:solidFill>
                  <a:srgbClr val="FFFFFF"/>
                </a:solidFill>
                <a:latin typeface="JetBrains Mono"/>
              </a:rPr>
              <a:t>predictions</a:t>
            </a:r>
          </a:p>
          <a:p>
            <a:pPr algn="ctr">
              <a:lnSpc>
                <a:spcPct val="100000"/>
              </a:lnSpc>
            </a:pPr>
            <a:r>
              <a:rPr sz="1000" b="0" i="0">
                <a:solidFill>
                  <a:srgbClr val="5A9CFF"/>
                </a:solidFill>
                <a:latin typeface="JetBrains Mono"/>
              </a:rPr>
              <a:t>scores / classes</a:t>
            </a:r>
          </a:p>
        </p:txBody>
      </p:sp>
      <p:sp>
        <p:nvSpPr>
          <p:cNvPr id="10" name="TextBox 9"/>
          <p:cNvSpPr txBox="1"/>
          <p:nvPr/>
        </p:nvSpPr>
        <p:spPr>
          <a:xfrm>
            <a:off x="841248" y="3977639"/>
            <a:ext cx="10509504" cy="274320"/>
          </a:xfrm>
          <a:prstGeom prst="rect">
            <a:avLst/>
          </a:prstGeom>
          <a:noFill/>
        </p:spPr>
        <p:txBody>
          <a:bodyPr wrap="square" anchor="t" lIns="0" rIns="0" tIns="0" bIns="0">
            <a:spAutoFit/>
          </a:bodyPr>
          <a:lstStyle/>
          <a:p>
            <a:pPr algn="ctr"/>
            <a:r>
              <a:rPr sz="1100" b="0" i="1">
                <a:solidFill>
                  <a:srgbClr val="5A9CFF"/>
                </a:solidFill>
                <a:latin typeface="JetBrains Mono"/>
              </a:rPr>
              <a:t>↺  drift signal → retrain</a:t>
            </a:r>
          </a:p>
        </p:txBody>
      </p:sp>
      <p:sp>
        <p:nvSpPr>
          <p:cNvPr id="11" name="Rectangle 10"/>
          <p:cNvSpPr/>
          <p:nvPr/>
        </p:nvSpPr>
        <p:spPr>
          <a:xfrm>
            <a:off x="841248" y="4983480"/>
            <a:ext cx="10509504" cy="10972"/>
          </a:xfrm>
          <a:prstGeom prst="rect">
            <a:avLst/>
          </a:prstGeom>
          <a:solidFill>
            <a:srgbClr val="2A40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41248" y="5093208"/>
            <a:ext cx="3320288" cy="274320"/>
          </a:xfrm>
          <a:prstGeom prst="rect">
            <a:avLst/>
          </a:prstGeom>
          <a:noFill/>
        </p:spPr>
        <p:txBody>
          <a:bodyPr wrap="square" anchor="t" lIns="0" rIns="0" tIns="0" bIns="0">
            <a:spAutoFit/>
          </a:bodyPr>
          <a:lstStyle/>
          <a:p>
            <a:r>
              <a:rPr sz="950" b="1" i="0" spc="150">
                <a:solidFill>
                  <a:srgbClr val="54585C"/>
                </a:solidFill>
                <a:latin typeface="JetBrains Mono"/>
              </a:rPr>
              <a:t>BEST AT</a:t>
            </a:r>
          </a:p>
        </p:txBody>
      </p:sp>
      <p:sp>
        <p:nvSpPr>
          <p:cNvPr id="13" name="TextBox 12"/>
          <p:cNvSpPr txBox="1"/>
          <p:nvPr/>
        </p:nvSpPr>
        <p:spPr>
          <a:xfrm>
            <a:off x="841248" y="5367528"/>
            <a:ext cx="3320288" cy="457200"/>
          </a:xfrm>
          <a:prstGeom prst="rect">
            <a:avLst/>
          </a:prstGeom>
          <a:noFill/>
        </p:spPr>
        <p:txBody>
          <a:bodyPr wrap="square" anchor="t" lIns="0" rIns="0" tIns="0" bIns="0">
            <a:spAutoFit/>
          </a:bodyPr>
          <a:lstStyle/>
          <a:p>
            <a:r>
              <a:rPr sz="1600" b="1" i="0">
                <a:solidFill>
                  <a:srgbClr val="FFFFFF"/>
                </a:solidFill>
                <a:latin typeface="Verdana"/>
              </a:rPr>
              <a:t>Stable distributions</a:t>
            </a:r>
          </a:p>
        </p:txBody>
      </p:sp>
      <p:sp>
        <p:nvSpPr>
          <p:cNvPr id="14" name="TextBox 13"/>
          <p:cNvSpPr txBox="1"/>
          <p:nvPr/>
        </p:nvSpPr>
        <p:spPr>
          <a:xfrm>
            <a:off x="4344416" y="5093208"/>
            <a:ext cx="3320288" cy="274320"/>
          </a:xfrm>
          <a:prstGeom prst="rect">
            <a:avLst/>
          </a:prstGeom>
          <a:noFill/>
        </p:spPr>
        <p:txBody>
          <a:bodyPr wrap="square" anchor="t" lIns="0" rIns="0" tIns="0" bIns="0">
            <a:spAutoFit/>
          </a:bodyPr>
          <a:lstStyle/>
          <a:p>
            <a:r>
              <a:rPr sz="950" b="1" i="0" spc="150">
                <a:solidFill>
                  <a:srgbClr val="54585C"/>
                </a:solidFill>
                <a:latin typeface="JetBrains Mono"/>
              </a:rPr>
              <a:t>WORST AT</a:t>
            </a:r>
          </a:p>
        </p:txBody>
      </p:sp>
      <p:sp>
        <p:nvSpPr>
          <p:cNvPr id="15" name="TextBox 14"/>
          <p:cNvSpPr txBox="1"/>
          <p:nvPr/>
        </p:nvSpPr>
        <p:spPr>
          <a:xfrm>
            <a:off x="4344416" y="5367528"/>
            <a:ext cx="3320288" cy="457200"/>
          </a:xfrm>
          <a:prstGeom prst="rect">
            <a:avLst/>
          </a:prstGeom>
          <a:noFill/>
        </p:spPr>
        <p:txBody>
          <a:bodyPr wrap="square" anchor="t" lIns="0" rIns="0" tIns="0" bIns="0">
            <a:spAutoFit/>
          </a:bodyPr>
          <a:lstStyle/>
          <a:p>
            <a:r>
              <a:rPr sz="1600" b="1" i="0">
                <a:solidFill>
                  <a:srgbClr val="FFFFFF"/>
                </a:solidFill>
                <a:latin typeface="Verdana"/>
              </a:rPr>
              <a:t>Edge cases unseen</a:t>
            </a:r>
          </a:p>
        </p:txBody>
      </p:sp>
      <p:sp>
        <p:nvSpPr>
          <p:cNvPr id="16" name="TextBox 15"/>
          <p:cNvSpPr txBox="1"/>
          <p:nvPr/>
        </p:nvSpPr>
        <p:spPr>
          <a:xfrm>
            <a:off x="7847584" y="5093208"/>
            <a:ext cx="3320288" cy="274320"/>
          </a:xfrm>
          <a:prstGeom prst="rect">
            <a:avLst/>
          </a:prstGeom>
          <a:noFill/>
        </p:spPr>
        <p:txBody>
          <a:bodyPr wrap="square" anchor="t" lIns="0" rIns="0" tIns="0" bIns="0">
            <a:spAutoFit/>
          </a:bodyPr>
          <a:lstStyle/>
          <a:p>
            <a:r>
              <a:rPr sz="950" b="1" i="0" spc="150">
                <a:solidFill>
                  <a:srgbClr val="54585C"/>
                </a:solidFill>
                <a:latin typeface="JetBrains Mono"/>
              </a:rPr>
              <a:t>REAL COST</a:t>
            </a:r>
          </a:p>
        </p:txBody>
      </p:sp>
      <p:sp>
        <p:nvSpPr>
          <p:cNvPr id="17" name="TextBox 16"/>
          <p:cNvSpPr txBox="1"/>
          <p:nvPr/>
        </p:nvSpPr>
        <p:spPr>
          <a:xfrm>
            <a:off x="7847584" y="5367528"/>
            <a:ext cx="3320288" cy="457200"/>
          </a:xfrm>
          <a:prstGeom prst="rect">
            <a:avLst/>
          </a:prstGeom>
          <a:noFill/>
        </p:spPr>
        <p:txBody>
          <a:bodyPr wrap="square" anchor="t" lIns="0" rIns="0" tIns="0" bIns="0">
            <a:spAutoFit/>
          </a:bodyPr>
          <a:lstStyle/>
          <a:p>
            <a:r>
              <a:rPr sz="1600" b="1" i="0">
                <a:solidFill>
                  <a:srgbClr val="F68D2E"/>
                </a:solidFill>
                <a:latin typeface="Verdana"/>
              </a:rPr>
              <a:t>Data + retraining</a:t>
            </a:r>
          </a:p>
        </p:txBody>
      </p:sp>
      <p:sp>
        <p:nvSpPr>
          <p:cNvPr id="18" name="Rectangle 17"/>
          <p:cNvSpPr/>
          <p:nvPr/>
        </p:nvSpPr>
        <p:spPr>
          <a:xfrm>
            <a:off x="841248" y="5715000"/>
            <a:ext cx="45720" cy="640080"/>
          </a:xfrm>
          <a:prstGeom prst="rect">
            <a:avLst/>
          </a:prstGeom>
          <a:solidFill>
            <a:srgbClr val="0073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078992" y="5696712"/>
            <a:ext cx="9144000" cy="640080"/>
          </a:xfrm>
          <a:prstGeom prst="rect">
            <a:avLst/>
          </a:prstGeom>
          <a:noFill/>
        </p:spPr>
        <p:txBody>
          <a:bodyPr wrap="square" anchor="t" lIns="0" rIns="0" tIns="0" bIns="0">
            <a:spAutoFit/>
          </a:bodyPr>
          <a:lstStyle/>
          <a:p>
            <a:r>
              <a:rPr sz="1550" b="0" i="1">
                <a:solidFill>
                  <a:srgbClr val="D6E6FF"/>
                </a:solidFill>
                <a:latin typeface="Georgia"/>
              </a:rPr>
              <a:t>Use ML when if/else runs out — and budget for the data pipeline, not just the model.</a:t>
            </a:r>
          </a:p>
        </p:txBody>
      </p:sp>
      <p:sp>
        <p:nvSpPr>
          <p:cNvPr id="20" name="TextBox 19"/>
          <p:cNvSpPr txBox="1"/>
          <p:nvPr/>
        </p:nvSpPr>
        <p:spPr>
          <a:xfrm>
            <a:off x="841248" y="6382512"/>
            <a:ext cx="5486400" cy="274320"/>
          </a:xfrm>
          <a:prstGeom prst="rect">
            <a:avLst/>
          </a:prstGeom>
          <a:noFill/>
        </p:spPr>
        <p:txBody>
          <a:bodyPr wrap="square" anchor="t" lIns="0" rIns="0" tIns="0" bIns="0">
            <a:spAutoFit/>
          </a:bodyPr>
          <a:lstStyle/>
          <a:p>
            <a:r>
              <a:rPr sz="900" b="1" i="0" spc="220">
                <a:solidFill>
                  <a:srgbClr val="5A9CFF"/>
                </a:solidFill>
                <a:latin typeface="JetBrains Mono"/>
              </a:rPr>
              <a:t>WORKLOADS</a:t>
            </a:r>
          </a:p>
        </p:txBody>
      </p:sp>
      <p:pic>
        <p:nvPicPr>
          <p:cNvPr id="21" name="Picture 20" descr="CTG-Federal-logo-horizontal-reverse-72-dpi.png"/>
          <p:cNvPicPr>
            <a:picLocks noChangeAspect="1"/>
          </p:cNvPicPr>
          <p:nvPr/>
        </p:nvPicPr>
        <p:blipFill>
          <a:blip r:embed="rId2"/>
          <a:stretch>
            <a:fillRect/>
          </a:stretch>
        </p:blipFill>
        <p:spPr>
          <a:xfrm>
            <a:off x="9979152" y="6052700"/>
            <a:ext cx="1371600" cy="302380"/>
          </a:xfrm>
          <a:prstGeom prst="rect">
            <a:avLst/>
          </a:prstGeom>
        </p:spPr>
      </p:pic>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gradFill rotWithShape="1">
          <a:gsLst>
            <a:gs pos="0">
              <a:srgbClr val="0F1E38"/>
            </a:gs>
            <a:gs pos="100000">
              <a:srgbClr val="05080F"/>
            </a:gs>
          </a:gsLst>
          <a:lin scaled="0" ang="15000000"/>
        </a:gradFill>
        <a:effectLst/>
      </p:bgPr>
    </p:bg>
    <p:spTree>
      <p:nvGrpSpPr>
        <p:cNvPr id="1" name=""/>
        <p:cNvGrpSpPr/>
        <p:nvPr/>
      </p:nvGrpSpPr>
      <p:grpSpPr/>
      <p:sp>
        <p:nvSpPr>
          <p:cNvPr id="2" name="TextBox 1"/>
          <p:cNvSpPr txBox="1"/>
          <p:nvPr/>
        </p:nvSpPr>
        <p:spPr>
          <a:xfrm>
            <a:off x="841248" y="548640"/>
            <a:ext cx="10424160" cy="365760"/>
          </a:xfrm>
          <a:prstGeom prst="rect">
            <a:avLst/>
          </a:prstGeom>
          <a:noFill/>
        </p:spPr>
        <p:txBody>
          <a:bodyPr wrap="square" anchor="t" lIns="0" rIns="0" tIns="0" bIns="0">
            <a:spAutoFit/>
          </a:bodyPr>
          <a:lstStyle/>
          <a:p>
            <a:r>
              <a:rPr sz="1150" b="1" i="0" spc="300">
                <a:solidFill>
                  <a:srgbClr val="5A9CFF"/>
                </a:solidFill>
                <a:latin typeface="JetBrains Mono"/>
              </a:rPr>
              <a:t>04 · RETRIEVAL &amp; SEARCH</a:t>
            </a:r>
          </a:p>
        </p:txBody>
      </p:sp>
      <p:sp>
        <p:nvSpPr>
          <p:cNvPr id="3" name="TextBox 2"/>
          <p:cNvSpPr txBox="1"/>
          <p:nvPr/>
        </p:nvSpPr>
        <p:spPr>
          <a:xfrm>
            <a:off x="841248" y="896112"/>
            <a:ext cx="10515600" cy="1143000"/>
          </a:xfrm>
          <a:prstGeom prst="rect">
            <a:avLst/>
          </a:prstGeom>
          <a:noFill/>
        </p:spPr>
        <p:txBody>
          <a:bodyPr wrap="square" anchor="t" lIns="0" rIns="0" tIns="0" bIns="0">
            <a:spAutoFit/>
          </a:bodyPr>
          <a:lstStyle/>
          <a:p>
            <a:pPr>
              <a:lnSpc>
                <a:spcPct val="100000"/>
              </a:lnSpc>
            </a:pPr>
            <a:r>
              <a:rPr sz="2900" b="1" i="0">
                <a:solidFill>
                  <a:srgbClr val="FFFFFF"/>
                </a:solidFill>
                <a:latin typeface="Verdana"/>
              </a:rPr>
              <a:t>Retrieval: the answer lives in your </a:t>
            </a:r>
            <a:r>
              <a:rPr sz="2900" b="1" i="0">
                <a:solidFill>
                  <a:srgbClr val="5A9CFF"/>
                </a:solidFill>
                <a:latin typeface="Verdana"/>
              </a:rPr>
              <a:t>data</a:t>
            </a:r>
            <a:r>
              <a:rPr sz="2900" b="1" i="0">
                <a:solidFill>
                  <a:srgbClr val="FFFFFF"/>
                </a:solidFill>
                <a:latin typeface="Verdana"/>
              </a:rPr>
              <a:t>.</a:t>
            </a:r>
          </a:p>
        </p:txBody>
      </p:sp>
      <p:sp>
        <p:nvSpPr>
          <p:cNvPr id="4" name="TextBox 3"/>
          <p:cNvSpPr txBox="1"/>
          <p:nvPr/>
        </p:nvSpPr>
        <p:spPr>
          <a:xfrm>
            <a:off x="841248" y="1993392"/>
            <a:ext cx="9509760" cy="731520"/>
          </a:xfrm>
          <a:prstGeom prst="rect">
            <a:avLst/>
          </a:prstGeom>
          <a:noFill/>
        </p:spPr>
        <p:txBody>
          <a:bodyPr wrap="square" anchor="t" lIns="0" rIns="0" tIns="0" bIns="0">
            <a:spAutoFit/>
          </a:bodyPr>
          <a:lstStyle/>
          <a:p>
            <a:r>
              <a:rPr sz="1500" b="0" i="0">
                <a:solidFill>
                  <a:srgbClr val="D6E6FF"/>
                </a:solidFill>
                <a:latin typeface="Verdana"/>
              </a:rPr>
              <a:t>Memory as a tool — saved knowledge, fetched on demand, in the shape the question needs.</a:t>
            </a:r>
          </a:p>
        </p:txBody>
      </p:sp>
      <p:sp>
        <p:nvSpPr>
          <p:cNvPr id="5" name="TextBox 4"/>
          <p:cNvSpPr txBox="1"/>
          <p:nvPr/>
        </p:nvSpPr>
        <p:spPr>
          <a:xfrm>
            <a:off x="841248" y="2752344"/>
            <a:ext cx="4023360" cy="365760"/>
          </a:xfrm>
          <a:prstGeom prst="rect">
            <a:avLst/>
          </a:prstGeom>
          <a:noFill/>
        </p:spPr>
        <p:txBody>
          <a:bodyPr wrap="square" anchor="ctr" lIns="0" rIns="0" tIns="0" bIns="0">
            <a:spAutoFit/>
          </a:bodyPr>
          <a:lstStyle/>
          <a:p>
            <a:r>
              <a:rPr sz="1200" b="0" i="0">
                <a:solidFill>
                  <a:srgbClr val="C7D6E8"/>
                </a:solidFill>
                <a:latin typeface="Verdana"/>
              </a:rPr>
              <a:t>Exact term or identifier?</a:t>
            </a:r>
          </a:p>
        </p:txBody>
      </p:sp>
      <p:sp>
        <p:nvSpPr>
          <p:cNvPr id="6" name="Right Arrow 5"/>
          <p:cNvSpPr/>
          <p:nvPr/>
        </p:nvSpPr>
        <p:spPr>
          <a:xfrm>
            <a:off x="4956048" y="2816352"/>
            <a:ext cx="310896" cy="146304"/>
          </a:xfrm>
          <a:prstGeom prst="rightArrow">
            <a:avLst/>
          </a:prstGeom>
          <a:solidFill>
            <a:srgbClr val="0073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5413248" y="2697480"/>
            <a:ext cx="5669280" cy="420624"/>
          </a:xfrm>
          <a:prstGeom prst="roundRect">
            <a:avLst/>
          </a:prstGeom>
          <a:solidFill>
            <a:srgbClr val="122240"/>
          </a:solidFill>
          <a:ln w="15875">
            <a:solidFill>
              <a:srgbClr val="2E4C82"/>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l">
              <a:lnSpc>
                <a:spcPct val="100000"/>
              </a:lnSpc>
            </a:pPr>
            <a:r>
              <a:rPr sz="1150" b="1" i="0">
                <a:solidFill>
                  <a:srgbClr val="FFFFFF"/>
                </a:solidFill>
                <a:latin typeface="JetBrains Mono"/>
              </a:rPr>
              <a:t>GREP / KEYWORD   ·   lexical match</a:t>
            </a:r>
          </a:p>
        </p:txBody>
      </p:sp>
      <p:sp>
        <p:nvSpPr>
          <p:cNvPr id="8" name="TextBox 7"/>
          <p:cNvSpPr txBox="1"/>
          <p:nvPr/>
        </p:nvSpPr>
        <p:spPr>
          <a:xfrm>
            <a:off x="841248" y="3264408"/>
            <a:ext cx="4023360" cy="365760"/>
          </a:xfrm>
          <a:prstGeom prst="rect">
            <a:avLst/>
          </a:prstGeom>
          <a:noFill/>
        </p:spPr>
        <p:txBody>
          <a:bodyPr wrap="square" anchor="ctr" lIns="0" rIns="0" tIns="0" bIns="0">
            <a:spAutoFit/>
          </a:bodyPr>
          <a:lstStyle/>
          <a:p>
            <a:r>
              <a:rPr sz="1200" b="0" i="0">
                <a:solidFill>
                  <a:srgbClr val="C7D6E8"/>
                </a:solidFill>
                <a:latin typeface="Verdana"/>
              </a:rPr>
              <a:t>“Anything about X,” conceptual?</a:t>
            </a:r>
          </a:p>
        </p:txBody>
      </p:sp>
      <p:sp>
        <p:nvSpPr>
          <p:cNvPr id="9" name="Right Arrow 8"/>
          <p:cNvSpPr/>
          <p:nvPr/>
        </p:nvSpPr>
        <p:spPr>
          <a:xfrm>
            <a:off x="4956048" y="3328416"/>
            <a:ext cx="310896" cy="146304"/>
          </a:xfrm>
          <a:prstGeom prst="rightArrow">
            <a:avLst/>
          </a:prstGeom>
          <a:solidFill>
            <a:srgbClr val="0073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5413248" y="3209544"/>
            <a:ext cx="5669280" cy="420624"/>
          </a:xfrm>
          <a:prstGeom prst="roundRect">
            <a:avLst/>
          </a:prstGeom>
          <a:solidFill>
            <a:srgbClr val="122240"/>
          </a:solidFill>
          <a:ln w="15875">
            <a:solidFill>
              <a:srgbClr val="2E4C82"/>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l">
              <a:lnSpc>
                <a:spcPct val="100000"/>
              </a:lnSpc>
            </a:pPr>
            <a:r>
              <a:rPr sz="1150" b="1" i="0">
                <a:solidFill>
                  <a:srgbClr val="FFFFFF"/>
                </a:solidFill>
                <a:latin typeface="JetBrains Mono"/>
              </a:rPr>
              <a:t>VECTOR / SEMANTIC   ·   embeddings</a:t>
            </a:r>
          </a:p>
        </p:txBody>
      </p:sp>
      <p:sp>
        <p:nvSpPr>
          <p:cNvPr id="11" name="TextBox 10"/>
          <p:cNvSpPr txBox="1"/>
          <p:nvPr/>
        </p:nvSpPr>
        <p:spPr>
          <a:xfrm>
            <a:off x="841248" y="3776472"/>
            <a:ext cx="4023360" cy="365760"/>
          </a:xfrm>
          <a:prstGeom prst="rect">
            <a:avLst/>
          </a:prstGeom>
          <a:noFill/>
        </p:spPr>
        <p:txBody>
          <a:bodyPr wrap="square" anchor="ctr" lIns="0" rIns="0" tIns="0" bIns="0">
            <a:spAutoFit/>
          </a:bodyPr>
          <a:lstStyle/>
          <a:p>
            <a:r>
              <a:rPr sz="1200" b="0" i="0">
                <a:solidFill>
                  <a:srgbClr val="C7D6E8"/>
                </a:solidFill>
                <a:latin typeface="Verdana"/>
              </a:rPr>
              <a:t>Both at once?</a:t>
            </a:r>
          </a:p>
        </p:txBody>
      </p:sp>
      <p:sp>
        <p:nvSpPr>
          <p:cNvPr id="12" name="Right Arrow 11"/>
          <p:cNvSpPr/>
          <p:nvPr/>
        </p:nvSpPr>
        <p:spPr>
          <a:xfrm>
            <a:off x="4956048" y="3840480"/>
            <a:ext cx="310896" cy="146304"/>
          </a:xfrm>
          <a:prstGeom prst="rightArrow">
            <a:avLst/>
          </a:prstGeom>
          <a:solidFill>
            <a:srgbClr val="0073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5413248" y="3721608"/>
            <a:ext cx="5669280" cy="420624"/>
          </a:xfrm>
          <a:prstGeom prst="roundRect">
            <a:avLst/>
          </a:prstGeom>
          <a:solidFill>
            <a:srgbClr val="122240"/>
          </a:solidFill>
          <a:ln w="15875">
            <a:solidFill>
              <a:srgbClr val="2E4C82"/>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l">
              <a:lnSpc>
                <a:spcPct val="100000"/>
              </a:lnSpc>
            </a:pPr>
            <a:r>
              <a:rPr sz="1150" b="1" i="0">
                <a:solidFill>
                  <a:srgbClr val="FFFFFF"/>
                </a:solidFill>
                <a:latin typeface="JetBrains Mono"/>
              </a:rPr>
              <a:t>HYBRID   ·   common production answer</a:t>
            </a:r>
          </a:p>
        </p:txBody>
      </p:sp>
      <p:sp>
        <p:nvSpPr>
          <p:cNvPr id="14" name="TextBox 13"/>
          <p:cNvSpPr txBox="1"/>
          <p:nvPr/>
        </p:nvSpPr>
        <p:spPr>
          <a:xfrm>
            <a:off x="841248" y="4288536"/>
            <a:ext cx="4023360" cy="365760"/>
          </a:xfrm>
          <a:prstGeom prst="rect">
            <a:avLst/>
          </a:prstGeom>
          <a:noFill/>
        </p:spPr>
        <p:txBody>
          <a:bodyPr wrap="square" anchor="ctr" lIns="0" rIns="0" tIns="0" bIns="0">
            <a:spAutoFit/>
          </a:bodyPr>
          <a:lstStyle/>
          <a:p>
            <a:r>
              <a:rPr sz="1200" b="0" i="0">
                <a:solidFill>
                  <a:srgbClr val="C7D6E8"/>
                </a:solidFill>
                <a:latin typeface="Verdana"/>
              </a:rPr>
              <a:t>Value is in relationships?</a:t>
            </a:r>
          </a:p>
        </p:txBody>
      </p:sp>
      <p:sp>
        <p:nvSpPr>
          <p:cNvPr id="15" name="Right Arrow 14"/>
          <p:cNvSpPr/>
          <p:nvPr/>
        </p:nvSpPr>
        <p:spPr>
          <a:xfrm>
            <a:off x="4956048" y="4352544"/>
            <a:ext cx="310896" cy="146304"/>
          </a:xfrm>
          <a:prstGeom prst="rightArrow">
            <a:avLst/>
          </a:prstGeom>
          <a:solidFill>
            <a:srgbClr val="0073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5413248" y="4233672"/>
            <a:ext cx="5669280" cy="420624"/>
          </a:xfrm>
          <a:prstGeom prst="roundRect">
            <a:avLst/>
          </a:prstGeom>
          <a:solidFill>
            <a:srgbClr val="122240"/>
          </a:solidFill>
          <a:ln w="15875">
            <a:solidFill>
              <a:srgbClr val="2E4C82"/>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l">
              <a:lnSpc>
                <a:spcPct val="100000"/>
              </a:lnSpc>
            </a:pPr>
            <a:r>
              <a:rPr sz="1150" b="1" i="0">
                <a:solidFill>
                  <a:srgbClr val="FFFFFF"/>
                </a:solidFill>
                <a:latin typeface="JetBrains Mono"/>
              </a:rPr>
              <a:t>KNOWLEDGE GRAPH   ·   traversal</a:t>
            </a:r>
          </a:p>
        </p:txBody>
      </p:sp>
      <p:sp>
        <p:nvSpPr>
          <p:cNvPr id="17" name="Rectangle 16"/>
          <p:cNvSpPr/>
          <p:nvPr/>
        </p:nvSpPr>
        <p:spPr>
          <a:xfrm>
            <a:off x="841248" y="4983480"/>
            <a:ext cx="10509504" cy="10972"/>
          </a:xfrm>
          <a:prstGeom prst="rect">
            <a:avLst/>
          </a:prstGeom>
          <a:solidFill>
            <a:srgbClr val="2A40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41248" y="5093208"/>
            <a:ext cx="3320288" cy="274320"/>
          </a:xfrm>
          <a:prstGeom prst="rect">
            <a:avLst/>
          </a:prstGeom>
          <a:noFill/>
        </p:spPr>
        <p:txBody>
          <a:bodyPr wrap="square" anchor="t" lIns="0" rIns="0" tIns="0" bIns="0">
            <a:spAutoFit/>
          </a:bodyPr>
          <a:lstStyle/>
          <a:p>
            <a:r>
              <a:rPr sz="950" b="1" i="0" spc="150">
                <a:solidFill>
                  <a:srgbClr val="54585C"/>
                </a:solidFill>
                <a:latin typeface="JetBrains Mono"/>
              </a:rPr>
              <a:t>GREP</a:t>
            </a:r>
          </a:p>
        </p:txBody>
      </p:sp>
      <p:sp>
        <p:nvSpPr>
          <p:cNvPr id="19" name="TextBox 18"/>
          <p:cNvSpPr txBox="1"/>
          <p:nvPr/>
        </p:nvSpPr>
        <p:spPr>
          <a:xfrm>
            <a:off x="841248" y="5367528"/>
            <a:ext cx="3320288" cy="457200"/>
          </a:xfrm>
          <a:prstGeom prst="rect">
            <a:avLst/>
          </a:prstGeom>
          <a:noFill/>
        </p:spPr>
        <p:txBody>
          <a:bodyPr wrap="square" anchor="t" lIns="0" rIns="0" tIns="0" bIns="0">
            <a:spAutoFit/>
          </a:bodyPr>
          <a:lstStyle/>
          <a:p>
            <a:r>
              <a:rPr sz="1600" b="1" i="0">
                <a:solidFill>
                  <a:srgbClr val="FFFFFF"/>
                </a:solidFill>
                <a:latin typeface="Verdana"/>
              </a:rPr>
              <a:t>Exact match</a:t>
            </a:r>
          </a:p>
        </p:txBody>
      </p:sp>
      <p:sp>
        <p:nvSpPr>
          <p:cNvPr id="20" name="TextBox 19"/>
          <p:cNvSpPr txBox="1"/>
          <p:nvPr/>
        </p:nvSpPr>
        <p:spPr>
          <a:xfrm>
            <a:off x="4344416" y="5093208"/>
            <a:ext cx="3320288" cy="274320"/>
          </a:xfrm>
          <a:prstGeom prst="rect">
            <a:avLst/>
          </a:prstGeom>
          <a:noFill/>
        </p:spPr>
        <p:txBody>
          <a:bodyPr wrap="square" anchor="t" lIns="0" rIns="0" tIns="0" bIns="0">
            <a:spAutoFit/>
          </a:bodyPr>
          <a:lstStyle/>
          <a:p>
            <a:r>
              <a:rPr sz="950" b="1" i="0" spc="150">
                <a:solidFill>
                  <a:srgbClr val="54585C"/>
                </a:solidFill>
                <a:latin typeface="JetBrains Mono"/>
              </a:rPr>
              <a:t>VECTOR</a:t>
            </a:r>
          </a:p>
        </p:txBody>
      </p:sp>
      <p:sp>
        <p:nvSpPr>
          <p:cNvPr id="21" name="TextBox 20"/>
          <p:cNvSpPr txBox="1"/>
          <p:nvPr/>
        </p:nvSpPr>
        <p:spPr>
          <a:xfrm>
            <a:off x="4344416" y="5367528"/>
            <a:ext cx="3320288" cy="457200"/>
          </a:xfrm>
          <a:prstGeom prst="rect">
            <a:avLst/>
          </a:prstGeom>
          <a:noFill/>
        </p:spPr>
        <p:txBody>
          <a:bodyPr wrap="square" anchor="t" lIns="0" rIns="0" tIns="0" bIns="0">
            <a:spAutoFit/>
          </a:bodyPr>
          <a:lstStyle/>
          <a:p>
            <a:r>
              <a:rPr sz="1600" b="1" i="0">
                <a:solidFill>
                  <a:srgbClr val="FFFFFF"/>
                </a:solidFill>
                <a:latin typeface="Verdana"/>
              </a:rPr>
              <a:t>Semantic match</a:t>
            </a:r>
          </a:p>
        </p:txBody>
      </p:sp>
      <p:sp>
        <p:nvSpPr>
          <p:cNvPr id="22" name="TextBox 21"/>
          <p:cNvSpPr txBox="1"/>
          <p:nvPr/>
        </p:nvSpPr>
        <p:spPr>
          <a:xfrm>
            <a:off x="7847584" y="5093208"/>
            <a:ext cx="3320288" cy="274320"/>
          </a:xfrm>
          <a:prstGeom prst="rect">
            <a:avLst/>
          </a:prstGeom>
          <a:noFill/>
        </p:spPr>
        <p:txBody>
          <a:bodyPr wrap="square" anchor="t" lIns="0" rIns="0" tIns="0" bIns="0">
            <a:spAutoFit/>
          </a:bodyPr>
          <a:lstStyle/>
          <a:p>
            <a:r>
              <a:rPr sz="950" b="1" i="0" spc="150">
                <a:solidFill>
                  <a:srgbClr val="54585C"/>
                </a:solidFill>
                <a:latin typeface="JetBrains Mono"/>
              </a:rPr>
              <a:t>GRAPH</a:t>
            </a:r>
          </a:p>
        </p:txBody>
      </p:sp>
      <p:sp>
        <p:nvSpPr>
          <p:cNvPr id="23" name="TextBox 22"/>
          <p:cNvSpPr txBox="1"/>
          <p:nvPr/>
        </p:nvSpPr>
        <p:spPr>
          <a:xfrm>
            <a:off x="7847584" y="5367528"/>
            <a:ext cx="3320288" cy="457200"/>
          </a:xfrm>
          <a:prstGeom prst="rect">
            <a:avLst/>
          </a:prstGeom>
          <a:noFill/>
        </p:spPr>
        <p:txBody>
          <a:bodyPr wrap="square" anchor="t" lIns="0" rIns="0" tIns="0" bIns="0">
            <a:spAutoFit/>
          </a:bodyPr>
          <a:lstStyle/>
          <a:p>
            <a:r>
              <a:rPr sz="1600" b="1" i="0">
                <a:solidFill>
                  <a:srgbClr val="FFFFFF"/>
                </a:solidFill>
                <a:latin typeface="Verdana"/>
              </a:rPr>
              <a:t>Relationship match</a:t>
            </a:r>
          </a:p>
        </p:txBody>
      </p:sp>
      <p:sp>
        <p:nvSpPr>
          <p:cNvPr id="24" name="Rectangle 23"/>
          <p:cNvSpPr/>
          <p:nvPr/>
        </p:nvSpPr>
        <p:spPr>
          <a:xfrm>
            <a:off x="841248" y="5715000"/>
            <a:ext cx="45720" cy="640080"/>
          </a:xfrm>
          <a:prstGeom prst="rect">
            <a:avLst/>
          </a:prstGeom>
          <a:solidFill>
            <a:srgbClr val="0073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078992" y="5696712"/>
            <a:ext cx="9144000" cy="640080"/>
          </a:xfrm>
          <a:prstGeom prst="rect">
            <a:avLst/>
          </a:prstGeom>
          <a:noFill/>
        </p:spPr>
        <p:txBody>
          <a:bodyPr wrap="square" anchor="t" lIns="0" rIns="0" tIns="0" bIns="0">
            <a:spAutoFit/>
          </a:bodyPr>
          <a:lstStyle/>
          <a:p>
            <a:r>
              <a:rPr sz="1550" b="0" i="1">
                <a:solidFill>
                  <a:srgbClr val="D6E6FF"/>
                </a:solidFill>
                <a:latin typeface="Georgia"/>
              </a:rPr>
              <a:t>Choose the retriever by the shape of the question — exact, conceptual, or relational.</a:t>
            </a:r>
          </a:p>
        </p:txBody>
      </p:sp>
      <p:sp>
        <p:nvSpPr>
          <p:cNvPr id="26" name="TextBox 25"/>
          <p:cNvSpPr txBox="1"/>
          <p:nvPr/>
        </p:nvSpPr>
        <p:spPr>
          <a:xfrm>
            <a:off x="841248" y="6382512"/>
            <a:ext cx="5486400" cy="274320"/>
          </a:xfrm>
          <a:prstGeom prst="rect">
            <a:avLst/>
          </a:prstGeom>
          <a:noFill/>
        </p:spPr>
        <p:txBody>
          <a:bodyPr wrap="square" anchor="t" lIns="0" rIns="0" tIns="0" bIns="0">
            <a:spAutoFit/>
          </a:bodyPr>
          <a:lstStyle/>
          <a:p>
            <a:r>
              <a:rPr sz="900" b="1" i="0" spc="220">
                <a:solidFill>
                  <a:srgbClr val="5A9CFF"/>
                </a:solidFill>
                <a:latin typeface="JetBrains Mono"/>
              </a:rPr>
              <a:t>WORKLOADS</a:t>
            </a:r>
          </a:p>
        </p:txBody>
      </p:sp>
      <p:pic>
        <p:nvPicPr>
          <p:cNvPr id="27" name="Picture 26" descr="CTG-Federal-logo-horizontal-reverse-72-dpi.png"/>
          <p:cNvPicPr>
            <a:picLocks noChangeAspect="1"/>
          </p:cNvPicPr>
          <p:nvPr/>
        </p:nvPicPr>
        <p:blipFill>
          <a:blip r:embed="rId2"/>
          <a:stretch>
            <a:fillRect/>
          </a:stretch>
        </p:blipFill>
        <p:spPr>
          <a:xfrm>
            <a:off x="9979152" y="6052700"/>
            <a:ext cx="1371600" cy="302380"/>
          </a:xfrm>
          <a:prstGeom prst="rect">
            <a:avLst/>
          </a:prstGeom>
        </p:spPr>
      </p:pic>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gradFill rotWithShape="1">
          <a:gsLst>
            <a:gs pos="0">
              <a:srgbClr val="0F1E38"/>
            </a:gs>
            <a:gs pos="100000">
              <a:srgbClr val="05080F"/>
            </a:gs>
          </a:gsLst>
          <a:lin scaled="0" ang="15000000"/>
        </a:gradFill>
        <a:effectLst/>
      </p:bgPr>
    </p:bg>
    <p:spTree>
      <p:nvGrpSpPr>
        <p:cNvPr id="1" name=""/>
        <p:cNvGrpSpPr/>
        <p:nvPr/>
      </p:nvGrpSpPr>
      <p:grpSpPr/>
      <p:sp>
        <p:nvSpPr>
          <p:cNvPr id="2" name="TextBox 1"/>
          <p:cNvSpPr txBox="1"/>
          <p:nvPr/>
        </p:nvSpPr>
        <p:spPr>
          <a:xfrm>
            <a:off x="841248" y="548640"/>
            <a:ext cx="10424160" cy="365760"/>
          </a:xfrm>
          <a:prstGeom prst="rect">
            <a:avLst/>
          </a:prstGeom>
          <a:noFill/>
        </p:spPr>
        <p:txBody>
          <a:bodyPr wrap="square" anchor="t" lIns="0" rIns="0" tIns="0" bIns="0">
            <a:spAutoFit/>
          </a:bodyPr>
          <a:lstStyle/>
          <a:p>
            <a:r>
              <a:rPr sz="1150" b="1" i="0" spc="300">
                <a:solidFill>
                  <a:srgbClr val="5A9CFF"/>
                </a:solidFill>
                <a:latin typeface="JetBrains Mono"/>
              </a:rPr>
              <a:t>05 · OPTIMIZATION &amp; SIMULATION</a:t>
            </a:r>
          </a:p>
        </p:txBody>
      </p:sp>
      <p:sp>
        <p:nvSpPr>
          <p:cNvPr id="3" name="TextBox 2"/>
          <p:cNvSpPr txBox="1"/>
          <p:nvPr/>
        </p:nvSpPr>
        <p:spPr>
          <a:xfrm>
            <a:off x="841248" y="896112"/>
            <a:ext cx="10515600" cy="1143000"/>
          </a:xfrm>
          <a:prstGeom prst="rect">
            <a:avLst/>
          </a:prstGeom>
          <a:noFill/>
        </p:spPr>
        <p:txBody>
          <a:bodyPr wrap="square" anchor="t" lIns="0" rIns="0" tIns="0" bIns="0">
            <a:spAutoFit/>
          </a:bodyPr>
          <a:lstStyle/>
          <a:p>
            <a:pPr>
              <a:lnSpc>
                <a:spcPct val="100000"/>
              </a:lnSpc>
            </a:pPr>
            <a:r>
              <a:rPr sz="2900" b="1" i="0">
                <a:solidFill>
                  <a:srgbClr val="FFFFFF"/>
                </a:solidFill>
                <a:latin typeface="Verdana"/>
              </a:rPr>
              <a:t>When the answer is </a:t>
            </a:r>
            <a:r>
              <a:rPr sz="2900" b="1" i="0">
                <a:solidFill>
                  <a:srgbClr val="5A9CFF"/>
                </a:solidFill>
                <a:latin typeface="Verdana"/>
              </a:rPr>
              <a:t>computed</a:t>
            </a:r>
            <a:r>
              <a:rPr sz="2900" b="1" i="0">
                <a:solidFill>
                  <a:srgbClr val="FFFFFF"/>
                </a:solidFill>
                <a:latin typeface="Verdana"/>
              </a:rPr>
              <a:t>, not learned or looked up.</a:t>
            </a:r>
          </a:p>
        </p:txBody>
      </p:sp>
      <p:sp>
        <p:nvSpPr>
          <p:cNvPr id="4" name="TextBox 3"/>
          <p:cNvSpPr txBox="1"/>
          <p:nvPr/>
        </p:nvSpPr>
        <p:spPr>
          <a:xfrm>
            <a:off x="841248" y="1993392"/>
            <a:ext cx="9509760" cy="731520"/>
          </a:xfrm>
          <a:prstGeom prst="rect">
            <a:avLst/>
          </a:prstGeom>
          <a:noFill/>
        </p:spPr>
        <p:txBody>
          <a:bodyPr wrap="square" anchor="t" lIns="0" rIns="0" tIns="0" bIns="0">
            <a:spAutoFit/>
          </a:bodyPr>
          <a:lstStyle/>
          <a:p>
            <a:r>
              <a:rPr sz="1500" b="0" i="0">
                <a:solidFill>
                  <a:srgbClr val="D6E6FF"/>
                </a:solidFill>
                <a:latin typeface="Verdana"/>
              </a:rPr>
              <a:t>Deterministic but hard — solvers and physics, not pattern-matching. The math is the workload.</a:t>
            </a:r>
          </a:p>
        </p:txBody>
      </p:sp>
      <p:sp>
        <p:nvSpPr>
          <p:cNvPr id="5" name="Rounded Rectangle 4"/>
          <p:cNvSpPr/>
          <p:nvPr/>
        </p:nvSpPr>
        <p:spPr>
          <a:xfrm>
            <a:off x="960120" y="2697480"/>
            <a:ext cx="2468880" cy="731520"/>
          </a:xfrm>
          <a:prstGeom prst="roundRect">
            <a:avLst/>
          </a:prstGeom>
          <a:solidFill>
            <a:srgbClr val="102A52"/>
          </a:solidFill>
          <a:ln w="15875">
            <a:solidFill>
              <a:srgbClr val="3C66B0"/>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lnSpc>
                <a:spcPct val="100000"/>
              </a:lnSpc>
            </a:pPr>
            <a:r>
              <a:rPr sz="1100" b="1" i="0">
                <a:solidFill>
                  <a:srgbClr val="FFFFFF"/>
                </a:solidFill>
                <a:latin typeface="JetBrains Mono"/>
              </a:rPr>
              <a:t>objective + constraints</a:t>
            </a:r>
          </a:p>
        </p:txBody>
      </p:sp>
      <p:sp>
        <p:nvSpPr>
          <p:cNvPr id="6" name="Rounded Rectangle 5"/>
          <p:cNvSpPr/>
          <p:nvPr/>
        </p:nvSpPr>
        <p:spPr>
          <a:xfrm>
            <a:off x="4297680" y="2697480"/>
            <a:ext cx="2743200" cy="731520"/>
          </a:xfrm>
          <a:prstGeom prst="roundRect">
            <a:avLst/>
          </a:prstGeom>
          <a:solidFill>
            <a:srgbClr val="0A3A86"/>
          </a:solidFill>
          <a:ln w="15875">
            <a:solidFill>
              <a:srgbClr val="3C66B0"/>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lnSpc>
                <a:spcPct val="100000"/>
              </a:lnSpc>
            </a:pPr>
            <a:r>
              <a:rPr sz="1200" b="1" i="0">
                <a:solidFill>
                  <a:srgbClr val="FFFFFF"/>
                </a:solidFill>
                <a:latin typeface="JetBrains Mono"/>
              </a:rPr>
              <a:t>SOLVER</a:t>
            </a:r>
          </a:p>
          <a:p>
            <a:pPr algn="ctr">
              <a:lnSpc>
                <a:spcPct val="100000"/>
              </a:lnSpc>
            </a:pPr>
            <a:r>
              <a:rPr sz="1000" b="0" i="0">
                <a:solidFill>
                  <a:srgbClr val="5A9CFF"/>
                </a:solidFill>
                <a:latin typeface="JetBrains Mono"/>
              </a:rPr>
              <a:t>LP / MIP / OR-Tools</a:t>
            </a:r>
          </a:p>
        </p:txBody>
      </p:sp>
      <p:sp>
        <p:nvSpPr>
          <p:cNvPr id="7" name="Rounded Rectangle 6"/>
          <p:cNvSpPr/>
          <p:nvPr/>
        </p:nvSpPr>
        <p:spPr>
          <a:xfrm>
            <a:off x="7909560" y="2697480"/>
            <a:ext cx="3291840" cy="731520"/>
          </a:xfrm>
          <a:prstGeom prst="roundRect">
            <a:avLst/>
          </a:prstGeom>
          <a:solidFill>
            <a:srgbClr val="102A52"/>
          </a:solidFill>
          <a:ln w="15875">
            <a:solidFill>
              <a:srgbClr val="3C66B0"/>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lnSpc>
                <a:spcPct val="100000"/>
              </a:lnSpc>
            </a:pPr>
            <a:r>
              <a:rPr sz="1100" b="1" i="0">
                <a:solidFill>
                  <a:srgbClr val="FFFFFF"/>
                </a:solidFill>
                <a:latin typeface="JetBrains Mono"/>
              </a:rPr>
              <a:t>provably optimal plan</a:t>
            </a:r>
          </a:p>
        </p:txBody>
      </p:sp>
      <p:sp>
        <p:nvSpPr>
          <p:cNvPr id="8" name="Right Arrow 7"/>
          <p:cNvSpPr/>
          <p:nvPr/>
        </p:nvSpPr>
        <p:spPr>
          <a:xfrm>
            <a:off x="3566160" y="2990088"/>
            <a:ext cx="310896" cy="146304"/>
          </a:xfrm>
          <a:prstGeom prst="rightArrow">
            <a:avLst/>
          </a:prstGeom>
          <a:solidFill>
            <a:srgbClr val="0073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ight Arrow 8"/>
          <p:cNvSpPr/>
          <p:nvPr/>
        </p:nvSpPr>
        <p:spPr>
          <a:xfrm>
            <a:off x="7178040" y="2990088"/>
            <a:ext cx="310896" cy="146304"/>
          </a:xfrm>
          <a:prstGeom prst="rightArrow">
            <a:avLst/>
          </a:prstGeom>
          <a:solidFill>
            <a:srgbClr val="0073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960120" y="3703320"/>
            <a:ext cx="2468880" cy="731520"/>
          </a:xfrm>
          <a:prstGeom prst="roundRect">
            <a:avLst/>
          </a:prstGeom>
          <a:solidFill>
            <a:srgbClr val="102A52"/>
          </a:solidFill>
          <a:ln w="15875">
            <a:solidFill>
              <a:srgbClr val="3C66B0"/>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lnSpc>
                <a:spcPct val="100000"/>
              </a:lnSpc>
            </a:pPr>
            <a:r>
              <a:rPr sz="1100" b="1" i="0">
                <a:solidFill>
                  <a:srgbClr val="FFFFFF"/>
                </a:solidFill>
                <a:latin typeface="JetBrains Mono"/>
              </a:rPr>
              <a:t>model of the world</a:t>
            </a:r>
          </a:p>
        </p:txBody>
      </p:sp>
      <p:sp>
        <p:nvSpPr>
          <p:cNvPr id="11" name="Rounded Rectangle 10"/>
          <p:cNvSpPr/>
          <p:nvPr/>
        </p:nvSpPr>
        <p:spPr>
          <a:xfrm>
            <a:off x="4297680" y="3703320"/>
            <a:ext cx="2743200" cy="731520"/>
          </a:xfrm>
          <a:prstGeom prst="roundRect">
            <a:avLst/>
          </a:prstGeom>
          <a:solidFill>
            <a:srgbClr val="0A3A86"/>
          </a:solidFill>
          <a:ln w="15875">
            <a:solidFill>
              <a:srgbClr val="3C66B0"/>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lnSpc>
                <a:spcPct val="100000"/>
              </a:lnSpc>
            </a:pPr>
            <a:r>
              <a:rPr sz="1200" b="1" i="0">
                <a:solidFill>
                  <a:srgbClr val="FFFFFF"/>
                </a:solidFill>
                <a:latin typeface="JetBrains Mono"/>
              </a:rPr>
              <a:t>SIMULATION</a:t>
            </a:r>
          </a:p>
          <a:p>
            <a:pPr algn="ctr">
              <a:lnSpc>
                <a:spcPct val="100000"/>
              </a:lnSpc>
            </a:pPr>
            <a:r>
              <a:rPr sz="1000" b="0" i="0">
                <a:solidFill>
                  <a:srgbClr val="5A9CFF"/>
                </a:solidFill>
                <a:latin typeface="JetBrains Mono"/>
              </a:rPr>
              <a:t>Monte Carlo / FEA</a:t>
            </a:r>
          </a:p>
        </p:txBody>
      </p:sp>
      <p:sp>
        <p:nvSpPr>
          <p:cNvPr id="12" name="Rounded Rectangle 11"/>
          <p:cNvSpPr/>
          <p:nvPr/>
        </p:nvSpPr>
        <p:spPr>
          <a:xfrm>
            <a:off x="7909560" y="3703320"/>
            <a:ext cx="3291840" cy="731520"/>
          </a:xfrm>
          <a:prstGeom prst="roundRect">
            <a:avLst/>
          </a:prstGeom>
          <a:solidFill>
            <a:srgbClr val="102A52"/>
          </a:solidFill>
          <a:ln w="15875">
            <a:solidFill>
              <a:srgbClr val="3C66B0"/>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lnSpc>
                <a:spcPct val="100000"/>
              </a:lnSpc>
            </a:pPr>
            <a:r>
              <a:rPr sz="1100" b="1" i="0">
                <a:solidFill>
                  <a:srgbClr val="FFFFFF"/>
                </a:solidFill>
                <a:latin typeface="JetBrains Mono"/>
              </a:rPr>
              <a:t>distribution of outcomes</a:t>
            </a:r>
          </a:p>
        </p:txBody>
      </p:sp>
      <p:sp>
        <p:nvSpPr>
          <p:cNvPr id="13" name="Right Arrow 12"/>
          <p:cNvSpPr/>
          <p:nvPr/>
        </p:nvSpPr>
        <p:spPr>
          <a:xfrm>
            <a:off x="3566160" y="3995928"/>
            <a:ext cx="310896" cy="146304"/>
          </a:xfrm>
          <a:prstGeom prst="rightArrow">
            <a:avLst/>
          </a:prstGeom>
          <a:solidFill>
            <a:srgbClr val="0073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ight Arrow 13"/>
          <p:cNvSpPr/>
          <p:nvPr/>
        </p:nvSpPr>
        <p:spPr>
          <a:xfrm>
            <a:off x="7178040" y="3995928"/>
            <a:ext cx="310896" cy="146304"/>
          </a:xfrm>
          <a:prstGeom prst="rightArrow">
            <a:avLst/>
          </a:prstGeom>
          <a:solidFill>
            <a:srgbClr val="0073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841248" y="4983480"/>
            <a:ext cx="10509504" cy="10972"/>
          </a:xfrm>
          <a:prstGeom prst="rect">
            <a:avLst/>
          </a:prstGeom>
          <a:solidFill>
            <a:srgbClr val="2A40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41248" y="5093208"/>
            <a:ext cx="3320288" cy="274320"/>
          </a:xfrm>
          <a:prstGeom prst="rect">
            <a:avLst/>
          </a:prstGeom>
          <a:noFill/>
        </p:spPr>
        <p:txBody>
          <a:bodyPr wrap="square" anchor="t" lIns="0" rIns="0" tIns="0" bIns="0">
            <a:spAutoFit/>
          </a:bodyPr>
          <a:lstStyle/>
          <a:p>
            <a:r>
              <a:rPr sz="950" b="1" i="0" spc="150">
                <a:solidFill>
                  <a:srgbClr val="54585C"/>
                </a:solidFill>
                <a:latin typeface="JetBrains Mono"/>
              </a:rPr>
              <a:t>PROBLEM SHAPE</a:t>
            </a:r>
          </a:p>
        </p:txBody>
      </p:sp>
      <p:sp>
        <p:nvSpPr>
          <p:cNvPr id="17" name="TextBox 16"/>
          <p:cNvSpPr txBox="1"/>
          <p:nvPr/>
        </p:nvSpPr>
        <p:spPr>
          <a:xfrm>
            <a:off x="841248" y="5367528"/>
            <a:ext cx="3320288" cy="457200"/>
          </a:xfrm>
          <a:prstGeom prst="rect">
            <a:avLst/>
          </a:prstGeom>
          <a:noFill/>
        </p:spPr>
        <p:txBody>
          <a:bodyPr wrap="square" anchor="t" lIns="0" rIns="0" tIns="0" bIns="0">
            <a:spAutoFit/>
          </a:bodyPr>
          <a:lstStyle/>
          <a:p>
            <a:r>
              <a:rPr sz="1600" b="1" i="0">
                <a:solidFill>
                  <a:srgbClr val="FFFFFF"/>
                </a:solidFill>
                <a:latin typeface="Verdana"/>
              </a:rPr>
              <a:t>Objective + constraints</a:t>
            </a:r>
          </a:p>
        </p:txBody>
      </p:sp>
      <p:sp>
        <p:nvSpPr>
          <p:cNvPr id="18" name="TextBox 17"/>
          <p:cNvSpPr txBox="1"/>
          <p:nvPr/>
        </p:nvSpPr>
        <p:spPr>
          <a:xfrm>
            <a:off x="4344416" y="5093208"/>
            <a:ext cx="3320288" cy="274320"/>
          </a:xfrm>
          <a:prstGeom prst="rect">
            <a:avLst/>
          </a:prstGeom>
          <a:noFill/>
        </p:spPr>
        <p:txBody>
          <a:bodyPr wrap="square" anchor="t" lIns="0" rIns="0" tIns="0" bIns="0">
            <a:spAutoFit/>
          </a:bodyPr>
          <a:lstStyle/>
          <a:p>
            <a:r>
              <a:rPr sz="950" b="1" i="0" spc="150">
                <a:solidFill>
                  <a:srgbClr val="54585C"/>
                </a:solidFill>
                <a:latin typeface="JetBrains Mono"/>
              </a:rPr>
              <a:t>GUARANTEE</a:t>
            </a:r>
          </a:p>
        </p:txBody>
      </p:sp>
      <p:sp>
        <p:nvSpPr>
          <p:cNvPr id="19" name="TextBox 18"/>
          <p:cNvSpPr txBox="1"/>
          <p:nvPr/>
        </p:nvSpPr>
        <p:spPr>
          <a:xfrm>
            <a:off x="4344416" y="5367528"/>
            <a:ext cx="3320288" cy="457200"/>
          </a:xfrm>
          <a:prstGeom prst="rect">
            <a:avLst/>
          </a:prstGeom>
          <a:noFill/>
        </p:spPr>
        <p:txBody>
          <a:bodyPr wrap="square" anchor="t" lIns="0" rIns="0" tIns="0" bIns="0">
            <a:spAutoFit/>
          </a:bodyPr>
          <a:lstStyle/>
          <a:p>
            <a:r>
              <a:rPr sz="1600" b="1" i="0">
                <a:solidFill>
                  <a:srgbClr val="FFFFFF"/>
                </a:solidFill>
                <a:latin typeface="Verdana"/>
              </a:rPr>
              <a:t>Provable optimality</a:t>
            </a:r>
          </a:p>
        </p:txBody>
      </p:sp>
      <p:sp>
        <p:nvSpPr>
          <p:cNvPr id="20" name="TextBox 19"/>
          <p:cNvSpPr txBox="1"/>
          <p:nvPr/>
        </p:nvSpPr>
        <p:spPr>
          <a:xfrm>
            <a:off x="7847584" y="5093208"/>
            <a:ext cx="3320288" cy="274320"/>
          </a:xfrm>
          <a:prstGeom prst="rect">
            <a:avLst/>
          </a:prstGeom>
          <a:noFill/>
        </p:spPr>
        <p:txBody>
          <a:bodyPr wrap="square" anchor="t" lIns="0" rIns="0" tIns="0" bIns="0">
            <a:spAutoFit/>
          </a:bodyPr>
          <a:lstStyle/>
          <a:p>
            <a:r>
              <a:rPr sz="950" b="1" i="0" spc="150">
                <a:solidFill>
                  <a:srgbClr val="54585C"/>
                </a:solidFill>
                <a:latin typeface="JetBrains Mono"/>
              </a:rPr>
              <a:t>FAILURE MODE</a:t>
            </a:r>
          </a:p>
        </p:txBody>
      </p:sp>
      <p:sp>
        <p:nvSpPr>
          <p:cNvPr id="21" name="TextBox 20"/>
          <p:cNvSpPr txBox="1"/>
          <p:nvPr/>
        </p:nvSpPr>
        <p:spPr>
          <a:xfrm>
            <a:off x="7847584" y="5367528"/>
            <a:ext cx="3320288" cy="457200"/>
          </a:xfrm>
          <a:prstGeom prst="rect">
            <a:avLst/>
          </a:prstGeom>
          <a:noFill/>
        </p:spPr>
        <p:txBody>
          <a:bodyPr wrap="square" anchor="t" lIns="0" rIns="0" tIns="0" bIns="0">
            <a:spAutoFit/>
          </a:bodyPr>
          <a:lstStyle/>
          <a:p>
            <a:r>
              <a:rPr sz="1600" b="1" i="0">
                <a:solidFill>
                  <a:srgbClr val="F68D2E"/>
                </a:solidFill>
                <a:latin typeface="Verdana"/>
              </a:rPr>
              <a:t>Model ≠ reality</a:t>
            </a:r>
          </a:p>
        </p:txBody>
      </p:sp>
      <p:sp>
        <p:nvSpPr>
          <p:cNvPr id="22" name="Rectangle 21"/>
          <p:cNvSpPr/>
          <p:nvPr/>
        </p:nvSpPr>
        <p:spPr>
          <a:xfrm>
            <a:off x="841248" y="5715000"/>
            <a:ext cx="45720" cy="640080"/>
          </a:xfrm>
          <a:prstGeom prst="rect">
            <a:avLst/>
          </a:prstGeom>
          <a:solidFill>
            <a:srgbClr val="0073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078992" y="5696712"/>
            <a:ext cx="9144000" cy="640080"/>
          </a:xfrm>
          <a:prstGeom prst="rect">
            <a:avLst/>
          </a:prstGeom>
          <a:noFill/>
        </p:spPr>
        <p:txBody>
          <a:bodyPr wrap="square" anchor="t" lIns="0" rIns="0" tIns="0" bIns="0">
            <a:spAutoFit/>
          </a:bodyPr>
          <a:lstStyle/>
          <a:p>
            <a:r>
              <a:rPr sz="1550" b="0" i="1">
                <a:solidFill>
                  <a:srgbClr val="D6E6FF"/>
                </a:solidFill>
                <a:latin typeface="Georgia"/>
              </a:rPr>
              <a:t>A solver gives a proof a model can't — when you can state the math, solve it.</a:t>
            </a:r>
          </a:p>
        </p:txBody>
      </p:sp>
      <p:sp>
        <p:nvSpPr>
          <p:cNvPr id="24" name="TextBox 23"/>
          <p:cNvSpPr txBox="1"/>
          <p:nvPr/>
        </p:nvSpPr>
        <p:spPr>
          <a:xfrm>
            <a:off x="841248" y="6382512"/>
            <a:ext cx="5486400" cy="274320"/>
          </a:xfrm>
          <a:prstGeom prst="rect">
            <a:avLst/>
          </a:prstGeom>
          <a:noFill/>
        </p:spPr>
        <p:txBody>
          <a:bodyPr wrap="square" anchor="t" lIns="0" rIns="0" tIns="0" bIns="0">
            <a:spAutoFit/>
          </a:bodyPr>
          <a:lstStyle/>
          <a:p>
            <a:r>
              <a:rPr sz="900" b="1" i="0" spc="220">
                <a:solidFill>
                  <a:srgbClr val="5A9CFF"/>
                </a:solidFill>
                <a:latin typeface="JetBrains Mono"/>
              </a:rPr>
              <a:t>WORKLOADS</a:t>
            </a:r>
          </a:p>
        </p:txBody>
      </p:sp>
      <p:pic>
        <p:nvPicPr>
          <p:cNvPr id="25" name="Picture 24" descr="CTG-Federal-logo-horizontal-reverse-72-dpi.png"/>
          <p:cNvPicPr>
            <a:picLocks noChangeAspect="1"/>
          </p:cNvPicPr>
          <p:nvPr/>
        </p:nvPicPr>
        <p:blipFill>
          <a:blip r:embed="rId2"/>
          <a:stretch>
            <a:fillRect/>
          </a:stretch>
        </p:blipFill>
        <p:spPr>
          <a:xfrm>
            <a:off x="9979152" y="6052700"/>
            <a:ext cx="1371600" cy="302380"/>
          </a:xfrm>
          <a:prstGeom prst="rect">
            <a:avLst/>
          </a:prstGeom>
        </p:spPr>
      </p:pic>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gradFill rotWithShape="1">
          <a:gsLst>
            <a:gs pos="0">
              <a:srgbClr val="0F1E38"/>
            </a:gs>
            <a:gs pos="100000">
              <a:srgbClr val="05080F"/>
            </a:gs>
          </a:gsLst>
          <a:lin scaled="0" ang="15000000"/>
        </a:gradFill>
        <a:effectLst/>
      </p:bgPr>
    </p:bg>
    <p:spTree>
      <p:nvGrpSpPr>
        <p:cNvPr id="1" name=""/>
        <p:cNvGrpSpPr/>
        <p:nvPr/>
      </p:nvGrpSpPr>
      <p:grpSpPr/>
      <p:sp>
        <p:nvSpPr>
          <p:cNvPr id="2" name="TextBox 1"/>
          <p:cNvSpPr txBox="1"/>
          <p:nvPr/>
        </p:nvSpPr>
        <p:spPr>
          <a:xfrm>
            <a:off x="841248" y="548640"/>
            <a:ext cx="10424160" cy="365760"/>
          </a:xfrm>
          <a:prstGeom prst="rect">
            <a:avLst/>
          </a:prstGeom>
          <a:noFill/>
        </p:spPr>
        <p:txBody>
          <a:bodyPr wrap="square" anchor="t" lIns="0" rIns="0" tIns="0" bIns="0">
            <a:spAutoFit/>
          </a:bodyPr>
          <a:lstStyle/>
          <a:p>
            <a:r>
              <a:rPr sz="1150" b="1" i="0" spc="300">
                <a:solidFill>
                  <a:srgbClr val="5A9CFF"/>
                </a:solidFill>
                <a:latin typeface="JetBrains Mono"/>
              </a:rPr>
              <a:t>06 · WORKFLOWS · THE COMPOSITION AXIS</a:t>
            </a:r>
          </a:p>
        </p:txBody>
      </p:sp>
      <p:sp>
        <p:nvSpPr>
          <p:cNvPr id="3" name="TextBox 2"/>
          <p:cNvSpPr txBox="1"/>
          <p:nvPr/>
        </p:nvSpPr>
        <p:spPr>
          <a:xfrm>
            <a:off x="841248" y="896112"/>
            <a:ext cx="10515600" cy="1143000"/>
          </a:xfrm>
          <a:prstGeom prst="rect">
            <a:avLst/>
          </a:prstGeom>
          <a:noFill/>
        </p:spPr>
        <p:txBody>
          <a:bodyPr wrap="square" anchor="t" lIns="0" rIns="0" tIns="0" bIns="0">
            <a:spAutoFit/>
          </a:bodyPr>
          <a:lstStyle/>
          <a:p>
            <a:pPr>
              <a:lnSpc>
                <a:spcPct val="100000"/>
              </a:lnSpc>
            </a:pPr>
            <a:r>
              <a:rPr sz="2900" b="1" i="0">
                <a:solidFill>
                  <a:srgbClr val="FFFFFF"/>
                </a:solidFill>
                <a:latin typeface="Verdana"/>
              </a:rPr>
              <a:t>Workflows: composition, not a new kind of </a:t>
            </a:r>
            <a:r>
              <a:rPr sz="2900" b="1" i="0">
                <a:solidFill>
                  <a:srgbClr val="5A9CFF"/>
                </a:solidFill>
                <a:latin typeface="Verdana"/>
              </a:rPr>
              <a:t>compute</a:t>
            </a:r>
            <a:r>
              <a:rPr sz="2900" b="1" i="0">
                <a:solidFill>
                  <a:srgbClr val="FFFFFF"/>
                </a:solidFill>
                <a:latin typeface="Verdana"/>
              </a:rPr>
              <a:t>.</a:t>
            </a:r>
          </a:p>
        </p:txBody>
      </p:sp>
      <p:sp>
        <p:nvSpPr>
          <p:cNvPr id="4" name="TextBox 3"/>
          <p:cNvSpPr txBox="1"/>
          <p:nvPr/>
        </p:nvSpPr>
        <p:spPr>
          <a:xfrm>
            <a:off x="841248" y="1993392"/>
            <a:ext cx="9509760" cy="731520"/>
          </a:xfrm>
          <a:prstGeom prst="rect">
            <a:avLst/>
          </a:prstGeom>
          <a:noFill/>
        </p:spPr>
        <p:txBody>
          <a:bodyPr wrap="square" anchor="t" lIns="0" rIns="0" tIns="0" bIns="0">
            <a:spAutoFit/>
          </a:bodyPr>
          <a:lstStyle/>
          <a:p>
            <a:r>
              <a:rPr sz="1500" b="0" i="0">
                <a:solidFill>
                  <a:srgbClr val="D6E6FF"/>
                </a:solidFill>
                <a:latin typeface="Verdana"/>
              </a:rPr>
              <a:t>A DAG wires the other types into one procedure — order, dependencies, state, retries, a human gate.</a:t>
            </a:r>
          </a:p>
        </p:txBody>
      </p:sp>
      <p:sp>
        <p:nvSpPr>
          <p:cNvPr id="5" name="Rounded Rectangle 4"/>
          <p:cNvSpPr/>
          <p:nvPr/>
        </p:nvSpPr>
        <p:spPr>
          <a:xfrm>
            <a:off x="932687" y="2926080"/>
            <a:ext cx="1845868" cy="914400"/>
          </a:xfrm>
          <a:prstGeom prst="roundRect">
            <a:avLst/>
          </a:prstGeom>
          <a:solidFill>
            <a:srgbClr val="102A52"/>
          </a:solidFill>
          <a:ln w="15875">
            <a:solidFill>
              <a:srgbClr val="3C66B0"/>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lnSpc>
                <a:spcPct val="100000"/>
              </a:lnSpc>
            </a:pPr>
            <a:r>
              <a:rPr sz="1100" b="1" i="0">
                <a:solidFill>
                  <a:srgbClr val="FFFFFF"/>
                </a:solidFill>
                <a:latin typeface="JetBrains Mono"/>
              </a:rPr>
              <a:t>trigger</a:t>
            </a:r>
          </a:p>
          <a:p>
            <a:pPr algn="ctr">
              <a:lnSpc>
                <a:spcPct val="100000"/>
              </a:lnSpc>
            </a:pPr>
            <a:r>
              <a:rPr sz="950" b="0" i="0">
                <a:solidFill>
                  <a:srgbClr val="5A9CFF"/>
                </a:solidFill>
                <a:latin typeface="JetBrains Mono"/>
              </a:rPr>
              <a:t>script</a:t>
            </a:r>
          </a:p>
        </p:txBody>
      </p:sp>
      <p:sp>
        <p:nvSpPr>
          <p:cNvPr id="6" name="Right Arrow 5"/>
          <p:cNvSpPr/>
          <p:nvPr/>
        </p:nvSpPr>
        <p:spPr>
          <a:xfrm>
            <a:off x="2760268" y="3310128"/>
            <a:ext cx="310896" cy="146304"/>
          </a:xfrm>
          <a:prstGeom prst="rightArrow">
            <a:avLst/>
          </a:prstGeom>
          <a:solidFill>
            <a:srgbClr val="0073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3052876" y="2926080"/>
            <a:ext cx="1845868" cy="914400"/>
          </a:xfrm>
          <a:prstGeom prst="roundRect">
            <a:avLst/>
          </a:prstGeom>
          <a:solidFill>
            <a:srgbClr val="102A52"/>
          </a:solidFill>
          <a:ln w="15875">
            <a:solidFill>
              <a:srgbClr val="3C66B0"/>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lnSpc>
                <a:spcPct val="100000"/>
              </a:lnSpc>
            </a:pPr>
            <a:r>
              <a:rPr sz="1100" b="1" i="0">
                <a:solidFill>
                  <a:srgbClr val="FFFFFF"/>
                </a:solidFill>
                <a:latin typeface="JetBrains Mono"/>
              </a:rPr>
              <a:t>find similar</a:t>
            </a:r>
          </a:p>
          <a:p>
            <a:pPr algn="ctr">
              <a:lnSpc>
                <a:spcPct val="100000"/>
              </a:lnSpc>
            </a:pPr>
            <a:r>
              <a:rPr sz="950" b="0" i="0">
                <a:solidFill>
                  <a:srgbClr val="5A9CFF"/>
                </a:solidFill>
                <a:latin typeface="JetBrains Mono"/>
              </a:rPr>
              <a:t>retrieval</a:t>
            </a:r>
          </a:p>
        </p:txBody>
      </p:sp>
      <p:sp>
        <p:nvSpPr>
          <p:cNvPr id="8" name="Right Arrow 7"/>
          <p:cNvSpPr/>
          <p:nvPr/>
        </p:nvSpPr>
        <p:spPr>
          <a:xfrm>
            <a:off x="4880457" y="3310128"/>
            <a:ext cx="310896" cy="146304"/>
          </a:xfrm>
          <a:prstGeom prst="rightArrow">
            <a:avLst/>
          </a:prstGeom>
          <a:solidFill>
            <a:srgbClr val="0073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5173065" y="2926080"/>
            <a:ext cx="1845868" cy="914400"/>
          </a:xfrm>
          <a:prstGeom prst="roundRect">
            <a:avLst/>
          </a:prstGeom>
          <a:solidFill>
            <a:srgbClr val="102A52"/>
          </a:solidFill>
          <a:ln w="15875">
            <a:solidFill>
              <a:srgbClr val="3C66B0"/>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lnSpc>
                <a:spcPct val="100000"/>
              </a:lnSpc>
            </a:pPr>
            <a:r>
              <a:rPr sz="1100" b="1" i="0">
                <a:solidFill>
                  <a:srgbClr val="FFFFFF"/>
                </a:solidFill>
                <a:latin typeface="JetBrains Mono"/>
              </a:rPr>
              <a:t>classify</a:t>
            </a:r>
          </a:p>
          <a:p>
            <a:pPr algn="ctr">
              <a:lnSpc>
                <a:spcPct val="100000"/>
              </a:lnSpc>
            </a:pPr>
            <a:r>
              <a:rPr sz="950" b="0" i="0">
                <a:solidFill>
                  <a:srgbClr val="5A9CFF"/>
                </a:solidFill>
                <a:latin typeface="JetBrains Mono"/>
              </a:rPr>
              <a:t>ML</a:t>
            </a:r>
          </a:p>
        </p:txBody>
      </p:sp>
      <p:sp>
        <p:nvSpPr>
          <p:cNvPr id="10" name="Right Arrow 9"/>
          <p:cNvSpPr/>
          <p:nvPr/>
        </p:nvSpPr>
        <p:spPr>
          <a:xfrm>
            <a:off x="7000646" y="3310128"/>
            <a:ext cx="310896" cy="146304"/>
          </a:xfrm>
          <a:prstGeom prst="rightArrow">
            <a:avLst/>
          </a:prstGeom>
          <a:solidFill>
            <a:srgbClr val="0073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Diamond 10"/>
          <p:cNvSpPr/>
          <p:nvPr/>
        </p:nvSpPr>
        <p:spPr>
          <a:xfrm>
            <a:off x="7293254" y="2926080"/>
            <a:ext cx="1845868" cy="914400"/>
          </a:xfrm>
          <a:prstGeom prst="diamond">
            <a:avLst/>
          </a:prstGeom>
          <a:solidFill>
            <a:srgbClr val="0A3A86"/>
          </a:solidFill>
          <a:ln w="15875">
            <a:solidFill>
              <a:srgbClr val="3C66B0"/>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lnSpc>
                <a:spcPct val="100000"/>
              </a:lnSpc>
            </a:pPr>
            <a:r>
              <a:rPr sz="1100" b="1" i="0">
                <a:solidFill>
                  <a:srgbClr val="FFFFFF"/>
                </a:solidFill>
                <a:latin typeface="JetBrains Mono"/>
              </a:rPr>
              <a:t>human gate</a:t>
            </a:r>
          </a:p>
        </p:txBody>
      </p:sp>
      <p:sp>
        <p:nvSpPr>
          <p:cNvPr id="12" name="Right Arrow 11"/>
          <p:cNvSpPr/>
          <p:nvPr/>
        </p:nvSpPr>
        <p:spPr>
          <a:xfrm>
            <a:off x="9120835" y="3310128"/>
            <a:ext cx="310896" cy="146304"/>
          </a:xfrm>
          <a:prstGeom prst="rightArrow">
            <a:avLst/>
          </a:prstGeom>
          <a:solidFill>
            <a:srgbClr val="0073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9413443" y="2926080"/>
            <a:ext cx="1845868" cy="914400"/>
          </a:xfrm>
          <a:prstGeom prst="roundRect">
            <a:avLst/>
          </a:prstGeom>
          <a:solidFill>
            <a:srgbClr val="102A52"/>
          </a:solidFill>
          <a:ln w="15875">
            <a:solidFill>
              <a:srgbClr val="3C66B0"/>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lnSpc>
                <a:spcPct val="100000"/>
              </a:lnSpc>
            </a:pPr>
            <a:r>
              <a:rPr sz="1100" b="1" i="0">
                <a:solidFill>
                  <a:srgbClr val="FFFFFF"/>
                </a:solidFill>
                <a:latin typeface="JetBrains Mono"/>
              </a:rPr>
              <a:t>record + notify</a:t>
            </a:r>
          </a:p>
          <a:p>
            <a:pPr algn="ctr">
              <a:lnSpc>
                <a:spcPct val="100000"/>
              </a:lnSpc>
            </a:pPr>
            <a:r>
              <a:rPr sz="950" b="0" i="0">
                <a:solidFill>
                  <a:srgbClr val="5A9CFF"/>
                </a:solidFill>
                <a:latin typeface="JetBrains Mono"/>
              </a:rPr>
              <a:t>script</a:t>
            </a:r>
          </a:p>
        </p:txBody>
      </p:sp>
      <p:sp>
        <p:nvSpPr>
          <p:cNvPr id="14" name="Rectangle 13"/>
          <p:cNvSpPr/>
          <p:nvPr/>
        </p:nvSpPr>
        <p:spPr>
          <a:xfrm>
            <a:off x="841248" y="4983480"/>
            <a:ext cx="10509504" cy="10972"/>
          </a:xfrm>
          <a:prstGeom prst="rect">
            <a:avLst/>
          </a:prstGeom>
          <a:solidFill>
            <a:srgbClr val="2A40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41248" y="5093208"/>
            <a:ext cx="3320288" cy="274320"/>
          </a:xfrm>
          <a:prstGeom prst="rect">
            <a:avLst/>
          </a:prstGeom>
          <a:noFill/>
        </p:spPr>
        <p:txBody>
          <a:bodyPr wrap="square" anchor="t" lIns="0" rIns="0" tIns="0" bIns="0">
            <a:spAutoFit/>
          </a:bodyPr>
          <a:lstStyle/>
          <a:p>
            <a:r>
              <a:rPr sz="950" b="1" i="0" spc="150">
                <a:solidFill>
                  <a:srgbClr val="54585C"/>
                </a:solidFill>
                <a:latin typeface="JetBrains Mono"/>
              </a:rPr>
              <a:t>AXIS</a:t>
            </a:r>
          </a:p>
        </p:txBody>
      </p:sp>
      <p:sp>
        <p:nvSpPr>
          <p:cNvPr id="16" name="TextBox 15"/>
          <p:cNvSpPr txBox="1"/>
          <p:nvPr/>
        </p:nvSpPr>
        <p:spPr>
          <a:xfrm>
            <a:off x="841248" y="5367528"/>
            <a:ext cx="3320288" cy="457200"/>
          </a:xfrm>
          <a:prstGeom prst="rect">
            <a:avLst/>
          </a:prstGeom>
          <a:noFill/>
        </p:spPr>
        <p:txBody>
          <a:bodyPr wrap="square" anchor="t" lIns="0" rIns="0" tIns="0" bIns="0">
            <a:spAutoFit/>
          </a:bodyPr>
          <a:lstStyle/>
          <a:p>
            <a:r>
              <a:rPr sz="1600" b="1" i="0">
                <a:solidFill>
                  <a:srgbClr val="FFFFFF"/>
                </a:solidFill>
                <a:latin typeface="Verdana"/>
              </a:rPr>
              <a:t>Orchestration</a:t>
            </a:r>
          </a:p>
        </p:txBody>
      </p:sp>
      <p:sp>
        <p:nvSpPr>
          <p:cNvPr id="17" name="TextBox 16"/>
          <p:cNvSpPr txBox="1"/>
          <p:nvPr/>
        </p:nvSpPr>
        <p:spPr>
          <a:xfrm>
            <a:off x="4344416" y="5093208"/>
            <a:ext cx="3320288" cy="274320"/>
          </a:xfrm>
          <a:prstGeom prst="rect">
            <a:avLst/>
          </a:prstGeom>
          <a:noFill/>
        </p:spPr>
        <p:txBody>
          <a:bodyPr wrap="square" anchor="t" lIns="0" rIns="0" tIns="0" bIns="0">
            <a:spAutoFit/>
          </a:bodyPr>
          <a:lstStyle/>
          <a:p>
            <a:r>
              <a:rPr sz="950" b="1" i="0" spc="150">
                <a:solidFill>
                  <a:srgbClr val="54585C"/>
                </a:solidFill>
                <a:latin typeface="JetBrains Mono"/>
              </a:rPr>
              <a:t>BOTTLENECK IT SOLVES</a:t>
            </a:r>
          </a:p>
        </p:txBody>
      </p:sp>
      <p:sp>
        <p:nvSpPr>
          <p:cNvPr id="18" name="TextBox 17"/>
          <p:cNvSpPr txBox="1"/>
          <p:nvPr/>
        </p:nvSpPr>
        <p:spPr>
          <a:xfrm>
            <a:off x="4344416" y="5367528"/>
            <a:ext cx="3320288" cy="457200"/>
          </a:xfrm>
          <a:prstGeom prst="rect">
            <a:avLst/>
          </a:prstGeom>
          <a:noFill/>
        </p:spPr>
        <p:txBody>
          <a:bodyPr wrap="square" anchor="t" lIns="0" rIns="0" tIns="0" bIns="0">
            <a:spAutoFit/>
          </a:bodyPr>
          <a:lstStyle/>
          <a:p>
            <a:r>
              <a:rPr sz="1600" b="1" i="0">
                <a:solidFill>
                  <a:srgbClr val="FFFFFF"/>
                </a:solidFill>
                <a:latin typeface="Verdana"/>
              </a:rPr>
              <a:t>Integration breadth</a:t>
            </a:r>
          </a:p>
        </p:txBody>
      </p:sp>
      <p:sp>
        <p:nvSpPr>
          <p:cNvPr id="19" name="TextBox 18"/>
          <p:cNvSpPr txBox="1"/>
          <p:nvPr/>
        </p:nvSpPr>
        <p:spPr>
          <a:xfrm>
            <a:off x="7847584" y="5093208"/>
            <a:ext cx="3320288" cy="274320"/>
          </a:xfrm>
          <a:prstGeom prst="rect">
            <a:avLst/>
          </a:prstGeom>
          <a:noFill/>
        </p:spPr>
        <p:txBody>
          <a:bodyPr wrap="square" anchor="t" lIns="0" rIns="0" tIns="0" bIns="0">
            <a:spAutoFit/>
          </a:bodyPr>
          <a:lstStyle/>
          <a:p>
            <a:r>
              <a:rPr sz="950" b="1" i="0" spc="150">
                <a:solidFill>
                  <a:srgbClr val="54585C"/>
                </a:solidFill>
                <a:latin typeface="JetBrains Mono"/>
              </a:rPr>
              <a:t>FAILURE MODE</a:t>
            </a:r>
          </a:p>
        </p:txBody>
      </p:sp>
      <p:sp>
        <p:nvSpPr>
          <p:cNvPr id="20" name="TextBox 19"/>
          <p:cNvSpPr txBox="1"/>
          <p:nvPr/>
        </p:nvSpPr>
        <p:spPr>
          <a:xfrm>
            <a:off x="7847584" y="5367528"/>
            <a:ext cx="3320288" cy="457200"/>
          </a:xfrm>
          <a:prstGeom prst="rect">
            <a:avLst/>
          </a:prstGeom>
          <a:noFill/>
        </p:spPr>
        <p:txBody>
          <a:bodyPr wrap="square" anchor="t" lIns="0" rIns="0" tIns="0" bIns="0">
            <a:spAutoFit/>
          </a:bodyPr>
          <a:lstStyle/>
          <a:p>
            <a:r>
              <a:rPr sz="1600" b="1" i="0">
                <a:solidFill>
                  <a:srgbClr val="F68D2E"/>
                </a:solidFill>
                <a:latin typeface="Verdana"/>
              </a:rPr>
              <a:t>Brittle glue, coupling</a:t>
            </a:r>
          </a:p>
        </p:txBody>
      </p:sp>
      <p:sp>
        <p:nvSpPr>
          <p:cNvPr id="21" name="Rectangle 20"/>
          <p:cNvSpPr/>
          <p:nvPr/>
        </p:nvSpPr>
        <p:spPr>
          <a:xfrm>
            <a:off x="841248" y="5715000"/>
            <a:ext cx="45720" cy="640080"/>
          </a:xfrm>
          <a:prstGeom prst="rect">
            <a:avLst/>
          </a:prstGeom>
          <a:solidFill>
            <a:srgbClr val="0073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078992" y="5696712"/>
            <a:ext cx="9144000" cy="640080"/>
          </a:xfrm>
          <a:prstGeom prst="rect">
            <a:avLst/>
          </a:prstGeom>
          <a:noFill/>
        </p:spPr>
        <p:txBody>
          <a:bodyPr wrap="square" anchor="t" lIns="0" rIns="0" tIns="0" bIns="0">
            <a:spAutoFit/>
          </a:bodyPr>
          <a:lstStyle/>
          <a:p>
            <a:r>
              <a:rPr sz="1550" b="0" i="1">
                <a:solidFill>
                  <a:srgbClr val="D6E6FF"/>
                </a:solidFill>
                <a:latin typeface="Georgia"/>
              </a:rPr>
              <a:t>A workflow is the sentence; the other types are the words.</a:t>
            </a:r>
          </a:p>
        </p:txBody>
      </p:sp>
      <p:sp>
        <p:nvSpPr>
          <p:cNvPr id="23" name="TextBox 22"/>
          <p:cNvSpPr txBox="1"/>
          <p:nvPr/>
        </p:nvSpPr>
        <p:spPr>
          <a:xfrm>
            <a:off x="841248" y="6382512"/>
            <a:ext cx="5486400" cy="274320"/>
          </a:xfrm>
          <a:prstGeom prst="rect">
            <a:avLst/>
          </a:prstGeom>
          <a:noFill/>
        </p:spPr>
        <p:txBody>
          <a:bodyPr wrap="square" anchor="t" lIns="0" rIns="0" tIns="0" bIns="0">
            <a:spAutoFit/>
          </a:bodyPr>
          <a:lstStyle/>
          <a:p>
            <a:r>
              <a:rPr sz="900" b="1" i="0" spc="220">
                <a:solidFill>
                  <a:srgbClr val="5A9CFF"/>
                </a:solidFill>
                <a:latin typeface="JetBrains Mono"/>
              </a:rPr>
              <a:t>WORKLOADS</a:t>
            </a:r>
          </a:p>
        </p:txBody>
      </p:sp>
      <p:pic>
        <p:nvPicPr>
          <p:cNvPr id="24" name="Picture 23" descr="CTG-Federal-logo-horizontal-reverse-72-dpi.png"/>
          <p:cNvPicPr>
            <a:picLocks noChangeAspect="1"/>
          </p:cNvPicPr>
          <p:nvPr/>
        </p:nvPicPr>
        <p:blipFill>
          <a:blip r:embed="rId2"/>
          <a:stretch>
            <a:fillRect/>
          </a:stretch>
        </p:blipFill>
        <p:spPr>
          <a:xfrm>
            <a:off x="9979152" y="6052700"/>
            <a:ext cx="1371600" cy="302380"/>
          </a:xfrm>
          <a:prstGeom prst="rect">
            <a:avLst/>
          </a:prstGeom>
        </p:spPr>
      </p:pic>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gradFill rotWithShape="1">
          <a:gsLst>
            <a:gs pos="0">
              <a:srgbClr val="0F1E38"/>
            </a:gs>
            <a:gs pos="100000">
              <a:srgbClr val="05080F"/>
            </a:gs>
          </a:gsLst>
          <a:lin scaled="0" ang="15000000"/>
        </a:gradFill>
        <a:effectLst/>
      </p:bgPr>
    </p:bg>
    <p:spTree>
      <p:nvGrpSpPr>
        <p:cNvPr id="1" name=""/>
        <p:cNvGrpSpPr/>
        <p:nvPr/>
      </p:nvGrpSpPr>
      <p:grpSpPr/>
      <p:sp>
        <p:nvSpPr>
          <p:cNvPr id="2" name="TextBox 1"/>
          <p:cNvSpPr txBox="1"/>
          <p:nvPr/>
        </p:nvSpPr>
        <p:spPr>
          <a:xfrm>
            <a:off x="841248" y="548640"/>
            <a:ext cx="10424160" cy="365760"/>
          </a:xfrm>
          <a:prstGeom prst="rect">
            <a:avLst/>
          </a:prstGeom>
          <a:noFill/>
        </p:spPr>
        <p:txBody>
          <a:bodyPr wrap="square" anchor="t" lIns="0" rIns="0" tIns="0" bIns="0">
            <a:spAutoFit/>
          </a:bodyPr>
          <a:lstStyle/>
          <a:p>
            <a:r>
              <a:rPr sz="1150" b="1" i="0" spc="300">
                <a:solidFill>
                  <a:srgbClr val="5A9CFF"/>
                </a:solidFill>
                <a:latin typeface="JetBrains Mono"/>
              </a:rPr>
              <a:t>07 · AGENTIC</a:t>
            </a:r>
          </a:p>
        </p:txBody>
      </p:sp>
      <p:sp>
        <p:nvSpPr>
          <p:cNvPr id="3" name="TextBox 2"/>
          <p:cNvSpPr txBox="1"/>
          <p:nvPr/>
        </p:nvSpPr>
        <p:spPr>
          <a:xfrm>
            <a:off x="841248" y="896112"/>
            <a:ext cx="10515600" cy="1143000"/>
          </a:xfrm>
          <a:prstGeom prst="rect">
            <a:avLst/>
          </a:prstGeom>
          <a:noFill/>
        </p:spPr>
        <p:txBody>
          <a:bodyPr wrap="square" anchor="t" lIns="0" rIns="0" tIns="0" bIns="0">
            <a:spAutoFit/>
          </a:bodyPr>
          <a:lstStyle/>
          <a:p>
            <a:pPr>
              <a:lnSpc>
                <a:spcPct val="100000"/>
              </a:lnSpc>
            </a:pPr>
            <a:r>
              <a:rPr sz="2900" b="1" i="0">
                <a:solidFill>
                  <a:srgbClr val="FFFFFF"/>
                </a:solidFill>
                <a:latin typeface="Verdana"/>
              </a:rPr>
              <a:t>Agentic: the path is decided at </a:t>
            </a:r>
            <a:r>
              <a:rPr sz="2900" b="1" i="0">
                <a:solidFill>
                  <a:srgbClr val="5A9CFF"/>
                </a:solidFill>
                <a:latin typeface="Verdana"/>
              </a:rPr>
              <a:t>runtime</a:t>
            </a:r>
            <a:r>
              <a:rPr sz="2900" b="1" i="0">
                <a:solidFill>
                  <a:srgbClr val="FFFFFF"/>
                </a:solidFill>
                <a:latin typeface="Verdana"/>
              </a:rPr>
              <a:t>.</a:t>
            </a:r>
          </a:p>
        </p:txBody>
      </p:sp>
      <p:sp>
        <p:nvSpPr>
          <p:cNvPr id="4" name="TextBox 3"/>
          <p:cNvSpPr txBox="1"/>
          <p:nvPr/>
        </p:nvSpPr>
        <p:spPr>
          <a:xfrm>
            <a:off x="841248" y="1993392"/>
            <a:ext cx="9509760" cy="731520"/>
          </a:xfrm>
          <a:prstGeom prst="rect">
            <a:avLst/>
          </a:prstGeom>
          <a:noFill/>
        </p:spPr>
        <p:txBody>
          <a:bodyPr wrap="square" anchor="t" lIns="0" rIns="0" tIns="0" bIns="0">
            <a:spAutoFit/>
          </a:bodyPr>
          <a:lstStyle/>
          <a:p>
            <a:r>
              <a:rPr sz="1500" b="0" i="0">
                <a:solidFill>
                  <a:srgbClr val="D6E6FF"/>
                </a:solidFill>
                <a:latin typeface="Verdana"/>
              </a:rPr>
              <a:t>Reason → act → observe, in a loop — for when the steps can't be drawn in advance.</a:t>
            </a:r>
          </a:p>
        </p:txBody>
      </p:sp>
      <p:sp>
        <p:nvSpPr>
          <p:cNvPr id="5" name="Rounded Rectangle 4"/>
          <p:cNvSpPr/>
          <p:nvPr/>
        </p:nvSpPr>
        <p:spPr>
          <a:xfrm>
            <a:off x="1325880" y="2743200"/>
            <a:ext cx="2468880" cy="822960"/>
          </a:xfrm>
          <a:prstGeom prst="roundRect">
            <a:avLst/>
          </a:prstGeom>
          <a:solidFill>
            <a:srgbClr val="0A3A86"/>
          </a:solidFill>
          <a:ln w="15875">
            <a:solidFill>
              <a:srgbClr val="3C66B0"/>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lnSpc>
                <a:spcPct val="100000"/>
              </a:lnSpc>
            </a:pPr>
            <a:r>
              <a:rPr sz="1200" b="1" i="0">
                <a:solidFill>
                  <a:srgbClr val="FFFFFF"/>
                </a:solidFill>
                <a:latin typeface="JetBrains Mono"/>
              </a:rPr>
              <a:t>MODEL</a:t>
            </a:r>
          </a:p>
          <a:p>
            <a:pPr algn="ctr">
              <a:lnSpc>
                <a:spcPct val="100000"/>
              </a:lnSpc>
            </a:pPr>
            <a:r>
              <a:rPr sz="1000" b="0" i="0">
                <a:solidFill>
                  <a:srgbClr val="5A9CFF"/>
                </a:solidFill>
                <a:latin typeface="JetBrains Mono"/>
              </a:rPr>
              <a:t>reason</a:t>
            </a:r>
          </a:p>
        </p:txBody>
      </p:sp>
      <p:sp>
        <p:nvSpPr>
          <p:cNvPr id="6" name="Rounded Rectangle 5"/>
          <p:cNvSpPr/>
          <p:nvPr/>
        </p:nvSpPr>
        <p:spPr>
          <a:xfrm>
            <a:off x="4846320" y="2743200"/>
            <a:ext cx="2377440" cy="822960"/>
          </a:xfrm>
          <a:prstGeom prst="roundRect">
            <a:avLst/>
          </a:prstGeom>
          <a:solidFill>
            <a:srgbClr val="102A52"/>
          </a:solidFill>
          <a:ln w="15875">
            <a:solidFill>
              <a:srgbClr val="3C66B0"/>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lnSpc>
                <a:spcPct val="100000"/>
              </a:lnSpc>
            </a:pPr>
            <a:r>
              <a:rPr sz="1200" b="1" i="0">
                <a:solidFill>
                  <a:srgbClr val="FFFFFF"/>
                </a:solidFill>
                <a:latin typeface="JetBrains Mono"/>
              </a:rPr>
              <a:t>act</a:t>
            </a:r>
          </a:p>
          <a:p>
            <a:pPr algn="ctr">
              <a:lnSpc>
                <a:spcPct val="100000"/>
              </a:lnSpc>
            </a:pPr>
            <a:r>
              <a:rPr sz="1000" b="0" i="0">
                <a:solidFill>
                  <a:srgbClr val="5A9CFF"/>
                </a:solidFill>
                <a:latin typeface="JetBrains Mono"/>
              </a:rPr>
              <a:t>call a tool</a:t>
            </a:r>
          </a:p>
        </p:txBody>
      </p:sp>
      <p:sp>
        <p:nvSpPr>
          <p:cNvPr id="7" name="Rounded Rectangle 6"/>
          <p:cNvSpPr/>
          <p:nvPr/>
        </p:nvSpPr>
        <p:spPr>
          <a:xfrm>
            <a:off x="8321040" y="2743200"/>
            <a:ext cx="2560320" cy="822960"/>
          </a:xfrm>
          <a:prstGeom prst="roundRect">
            <a:avLst/>
          </a:prstGeom>
          <a:solidFill>
            <a:srgbClr val="102A52"/>
          </a:solidFill>
          <a:ln w="15875">
            <a:solidFill>
              <a:srgbClr val="3C66B0"/>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lnSpc>
                <a:spcPct val="100000"/>
              </a:lnSpc>
            </a:pPr>
            <a:r>
              <a:rPr sz="1200" b="1" i="0">
                <a:solidFill>
                  <a:srgbClr val="FFFFFF"/>
                </a:solidFill>
                <a:latin typeface="JetBrains Mono"/>
              </a:rPr>
              <a:t>observe</a:t>
            </a:r>
          </a:p>
          <a:p>
            <a:pPr algn="ctr">
              <a:lnSpc>
                <a:spcPct val="100000"/>
              </a:lnSpc>
            </a:pPr>
            <a:r>
              <a:rPr sz="1000" b="0" i="0">
                <a:solidFill>
                  <a:srgbClr val="5A9CFF"/>
                </a:solidFill>
                <a:latin typeface="JetBrains Mono"/>
              </a:rPr>
              <a:t>tool result</a:t>
            </a:r>
          </a:p>
        </p:txBody>
      </p:sp>
      <p:sp>
        <p:nvSpPr>
          <p:cNvPr id="8" name="Right Arrow 7"/>
          <p:cNvSpPr/>
          <p:nvPr/>
        </p:nvSpPr>
        <p:spPr>
          <a:xfrm>
            <a:off x="3931920" y="3081528"/>
            <a:ext cx="310896" cy="146304"/>
          </a:xfrm>
          <a:prstGeom prst="rightArrow">
            <a:avLst/>
          </a:prstGeom>
          <a:solidFill>
            <a:srgbClr val="0073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ight Arrow 8"/>
          <p:cNvSpPr/>
          <p:nvPr/>
        </p:nvSpPr>
        <p:spPr>
          <a:xfrm>
            <a:off x="7360920" y="3081528"/>
            <a:ext cx="310896" cy="146304"/>
          </a:xfrm>
          <a:prstGeom prst="rightArrow">
            <a:avLst/>
          </a:prstGeom>
          <a:solidFill>
            <a:srgbClr val="0073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Left Arrow 9"/>
          <p:cNvSpPr/>
          <p:nvPr/>
        </p:nvSpPr>
        <p:spPr>
          <a:xfrm>
            <a:off x="1554480" y="3794760"/>
            <a:ext cx="8778240" cy="146304"/>
          </a:xfrm>
          <a:prstGeom prst="leftArrow">
            <a:avLst/>
          </a:prstGeom>
          <a:solidFill>
            <a:srgbClr val="0073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554480" y="3986784"/>
            <a:ext cx="8778240" cy="256032"/>
          </a:xfrm>
          <a:prstGeom prst="rect">
            <a:avLst/>
          </a:prstGeom>
          <a:noFill/>
        </p:spPr>
        <p:txBody>
          <a:bodyPr wrap="square" anchor="t" lIns="0" rIns="0" tIns="0" bIns="0">
            <a:spAutoFit/>
          </a:bodyPr>
          <a:lstStyle/>
          <a:p>
            <a:pPr algn="ctr"/>
            <a:r>
              <a:rPr sz="1000" b="0" i="1">
                <a:solidFill>
                  <a:srgbClr val="5A9CFF"/>
                </a:solidFill>
                <a:latin typeface="JetBrains Mono"/>
              </a:rPr>
              <a:t>observe feeds the next reason — repeat until the goal is met, then stop</a:t>
            </a:r>
          </a:p>
        </p:txBody>
      </p:sp>
      <p:sp>
        <p:nvSpPr>
          <p:cNvPr id="12" name="Rounded Rectangle 11"/>
          <p:cNvSpPr/>
          <p:nvPr/>
        </p:nvSpPr>
        <p:spPr>
          <a:xfrm>
            <a:off x="841248" y="4480560"/>
            <a:ext cx="10509504" cy="384048"/>
          </a:xfrm>
          <a:prstGeom prst="roundRect">
            <a:avLst/>
          </a:prstGeom>
          <a:solidFill>
            <a:srgbClr val="0A2044"/>
          </a:solidFill>
          <a:ln w="9525">
            <a:solidFill>
              <a:srgbClr val="3C66B0"/>
            </a:solidFill>
          </a:ln>
          <a:effectLst/>
        </p:spPr>
        <p:style>
          <a:lnRef idx="1">
            <a:schemeClr val="accent1"/>
          </a:lnRef>
          <a:fillRef idx="3">
            <a:schemeClr val="accent1"/>
          </a:fillRef>
          <a:effectRef idx="2">
            <a:schemeClr val="accent1"/>
          </a:effectRef>
          <a:fontRef idx="minor">
            <a:schemeClr val="lt1"/>
          </a:fontRef>
        </p:style>
        <p:txBody>
          <a:bodyPr rtlCol="0" anchor="ctr" lIns="137160"/>
          <a:lstStyle/>
          <a:p>
            <a:pPr algn="ctr"/>
            <a:r>
              <a:rPr sz="1050" b="0" i="0">
                <a:solidFill>
                  <a:srgbClr val="5A9CFF"/>
                </a:solidFill>
                <a:latin typeface="JetBrains Mono"/>
              </a:rPr>
              <a:t>model emits  {"name":"search","input":{"q":"OOM in run 4837"}}  → harness runs it → result returns to the loop</a:t>
            </a:r>
          </a:p>
        </p:txBody>
      </p:sp>
      <p:sp>
        <p:nvSpPr>
          <p:cNvPr id="13" name="Rectangle 12"/>
          <p:cNvSpPr/>
          <p:nvPr/>
        </p:nvSpPr>
        <p:spPr>
          <a:xfrm>
            <a:off x="841248" y="4983480"/>
            <a:ext cx="10509504" cy="10972"/>
          </a:xfrm>
          <a:prstGeom prst="rect">
            <a:avLst/>
          </a:prstGeom>
          <a:solidFill>
            <a:srgbClr val="2A40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41248" y="5093208"/>
            <a:ext cx="3320288" cy="274320"/>
          </a:xfrm>
          <a:prstGeom prst="rect">
            <a:avLst/>
          </a:prstGeom>
          <a:noFill/>
        </p:spPr>
        <p:txBody>
          <a:bodyPr wrap="square" anchor="t" lIns="0" rIns="0" tIns="0" bIns="0">
            <a:spAutoFit/>
          </a:bodyPr>
          <a:lstStyle/>
          <a:p>
            <a:r>
              <a:rPr sz="950" b="1" i="0" spc="150">
                <a:solidFill>
                  <a:srgbClr val="54585C"/>
                </a:solidFill>
                <a:latin typeface="JetBrains Mono"/>
              </a:rPr>
              <a:t>DECISION</a:t>
            </a:r>
          </a:p>
        </p:txBody>
      </p:sp>
      <p:sp>
        <p:nvSpPr>
          <p:cNvPr id="15" name="TextBox 14"/>
          <p:cNvSpPr txBox="1"/>
          <p:nvPr/>
        </p:nvSpPr>
        <p:spPr>
          <a:xfrm>
            <a:off x="841248" y="5367528"/>
            <a:ext cx="3320288" cy="457200"/>
          </a:xfrm>
          <a:prstGeom prst="rect">
            <a:avLst/>
          </a:prstGeom>
          <a:noFill/>
        </p:spPr>
        <p:txBody>
          <a:bodyPr wrap="square" anchor="t" lIns="0" rIns="0" tIns="0" bIns="0">
            <a:spAutoFit/>
          </a:bodyPr>
          <a:lstStyle/>
          <a:p>
            <a:r>
              <a:rPr sz="1600" b="1" i="0">
                <a:solidFill>
                  <a:srgbClr val="FFFFFF"/>
                </a:solidFill>
                <a:latin typeface="Verdana"/>
              </a:rPr>
              <a:t>At runtime</a:t>
            </a:r>
          </a:p>
        </p:txBody>
      </p:sp>
      <p:sp>
        <p:nvSpPr>
          <p:cNvPr id="16" name="TextBox 15"/>
          <p:cNvSpPr txBox="1"/>
          <p:nvPr/>
        </p:nvSpPr>
        <p:spPr>
          <a:xfrm>
            <a:off x="4344416" y="5093208"/>
            <a:ext cx="3320288" cy="274320"/>
          </a:xfrm>
          <a:prstGeom prst="rect">
            <a:avLst/>
          </a:prstGeom>
          <a:noFill/>
        </p:spPr>
        <p:txBody>
          <a:bodyPr wrap="square" anchor="t" lIns="0" rIns="0" tIns="0" bIns="0">
            <a:spAutoFit/>
          </a:bodyPr>
          <a:lstStyle/>
          <a:p>
            <a:r>
              <a:rPr sz="950" b="1" i="0" spc="150">
                <a:solidFill>
                  <a:srgbClr val="54585C"/>
                </a:solidFill>
                <a:latin typeface="JetBrains Mono"/>
              </a:rPr>
              <a:t>COST SHAPE</a:t>
            </a:r>
          </a:p>
        </p:txBody>
      </p:sp>
      <p:sp>
        <p:nvSpPr>
          <p:cNvPr id="17" name="TextBox 16"/>
          <p:cNvSpPr txBox="1"/>
          <p:nvPr/>
        </p:nvSpPr>
        <p:spPr>
          <a:xfrm>
            <a:off x="4344416" y="5367528"/>
            <a:ext cx="3320288" cy="457200"/>
          </a:xfrm>
          <a:prstGeom prst="rect">
            <a:avLst/>
          </a:prstGeom>
          <a:noFill/>
        </p:spPr>
        <p:txBody>
          <a:bodyPr wrap="square" anchor="t" lIns="0" rIns="0" tIns="0" bIns="0">
            <a:spAutoFit/>
          </a:bodyPr>
          <a:lstStyle/>
          <a:p>
            <a:r>
              <a:rPr sz="1600" b="1" i="0">
                <a:solidFill>
                  <a:srgbClr val="FFFFFF"/>
                </a:solidFill>
                <a:latin typeface="Verdana"/>
              </a:rPr>
              <a:t>Tokens × turns</a:t>
            </a:r>
          </a:p>
        </p:txBody>
      </p:sp>
      <p:sp>
        <p:nvSpPr>
          <p:cNvPr id="18" name="TextBox 17"/>
          <p:cNvSpPr txBox="1"/>
          <p:nvPr/>
        </p:nvSpPr>
        <p:spPr>
          <a:xfrm>
            <a:off x="7847584" y="5093208"/>
            <a:ext cx="3320288" cy="274320"/>
          </a:xfrm>
          <a:prstGeom prst="rect">
            <a:avLst/>
          </a:prstGeom>
          <a:noFill/>
        </p:spPr>
        <p:txBody>
          <a:bodyPr wrap="square" anchor="t" lIns="0" rIns="0" tIns="0" bIns="0">
            <a:spAutoFit/>
          </a:bodyPr>
          <a:lstStyle/>
          <a:p>
            <a:r>
              <a:rPr sz="950" b="1" i="0" spc="150">
                <a:solidFill>
                  <a:srgbClr val="54585C"/>
                </a:solidFill>
                <a:latin typeface="JetBrains Mono"/>
              </a:rPr>
              <a:t>FAILURE MODE</a:t>
            </a:r>
          </a:p>
        </p:txBody>
      </p:sp>
      <p:sp>
        <p:nvSpPr>
          <p:cNvPr id="19" name="TextBox 18"/>
          <p:cNvSpPr txBox="1"/>
          <p:nvPr/>
        </p:nvSpPr>
        <p:spPr>
          <a:xfrm>
            <a:off x="7847584" y="5367528"/>
            <a:ext cx="3320288" cy="457200"/>
          </a:xfrm>
          <a:prstGeom prst="rect">
            <a:avLst/>
          </a:prstGeom>
          <a:noFill/>
        </p:spPr>
        <p:txBody>
          <a:bodyPr wrap="square" anchor="t" lIns="0" rIns="0" tIns="0" bIns="0">
            <a:spAutoFit/>
          </a:bodyPr>
          <a:lstStyle/>
          <a:p>
            <a:r>
              <a:rPr sz="1600" b="1" i="0">
                <a:solidFill>
                  <a:srgbClr val="F68D2E"/>
                </a:solidFill>
                <a:latin typeface="Verdana"/>
              </a:rPr>
              <a:t>Wrong tool · runaway loop</a:t>
            </a:r>
          </a:p>
        </p:txBody>
      </p:sp>
      <p:sp>
        <p:nvSpPr>
          <p:cNvPr id="20" name="Rectangle 19"/>
          <p:cNvSpPr/>
          <p:nvPr/>
        </p:nvSpPr>
        <p:spPr>
          <a:xfrm>
            <a:off x="841248" y="5943600"/>
            <a:ext cx="45720" cy="502920"/>
          </a:xfrm>
          <a:prstGeom prst="rect">
            <a:avLst/>
          </a:prstGeom>
          <a:solidFill>
            <a:srgbClr val="0073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078992" y="5925312"/>
            <a:ext cx="9144000" cy="502920"/>
          </a:xfrm>
          <a:prstGeom prst="rect">
            <a:avLst/>
          </a:prstGeom>
          <a:noFill/>
        </p:spPr>
        <p:txBody>
          <a:bodyPr wrap="square" anchor="t" lIns="0" rIns="0" tIns="0" bIns="0">
            <a:spAutoFit/>
          </a:bodyPr>
          <a:lstStyle/>
          <a:p>
            <a:r>
              <a:rPr sz="1550" b="0" i="1">
                <a:solidFill>
                  <a:srgbClr val="D6E6FF"/>
                </a:solidFill>
                <a:latin typeface="Georgia"/>
              </a:rPr>
              <a:t>Reach for an agent only when the workflow genuinely can't be drawn ahead of time.</a:t>
            </a:r>
          </a:p>
        </p:txBody>
      </p:sp>
      <p:sp>
        <p:nvSpPr>
          <p:cNvPr id="22" name="TextBox 21"/>
          <p:cNvSpPr txBox="1"/>
          <p:nvPr/>
        </p:nvSpPr>
        <p:spPr>
          <a:xfrm>
            <a:off x="841248" y="6382512"/>
            <a:ext cx="5486400" cy="274320"/>
          </a:xfrm>
          <a:prstGeom prst="rect">
            <a:avLst/>
          </a:prstGeom>
          <a:noFill/>
        </p:spPr>
        <p:txBody>
          <a:bodyPr wrap="square" anchor="t" lIns="0" rIns="0" tIns="0" bIns="0">
            <a:spAutoFit/>
          </a:bodyPr>
          <a:lstStyle/>
          <a:p>
            <a:r>
              <a:rPr sz="900" b="1" i="0" spc="220">
                <a:solidFill>
                  <a:srgbClr val="5A9CFF"/>
                </a:solidFill>
                <a:latin typeface="JetBrains Mono"/>
              </a:rPr>
              <a:t>WORKLOADS</a:t>
            </a:r>
          </a:p>
        </p:txBody>
      </p:sp>
      <p:pic>
        <p:nvPicPr>
          <p:cNvPr id="23" name="Picture 22" descr="CTG-Federal-logo-horizontal-reverse-72-dpi.png"/>
          <p:cNvPicPr>
            <a:picLocks noChangeAspect="1"/>
          </p:cNvPicPr>
          <p:nvPr/>
        </p:nvPicPr>
        <p:blipFill>
          <a:blip r:embed="rId2"/>
          <a:stretch>
            <a:fillRect/>
          </a:stretch>
        </p:blipFill>
        <p:spPr>
          <a:xfrm>
            <a:off x="9979152" y="6052700"/>
            <a:ext cx="1371600" cy="302380"/>
          </a:xfrm>
          <a:prstGeom prst="rect">
            <a:avLst/>
          </a:prstGeom>
        </p:spPr>
      </p:pic>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gradFill rotWithShape="1">
          <a:gsLst>
            <a:gs pos="0">
              <a:srgbClr val="0F1E38"/>
            </a:gs>
            <a:gs pos="100000">
              <a:srgbClr val="05080F"/>
            </a:gs>
          </a:gsLst>
          <a:lin scaled="0" ang="15000000"/>
        </a:gradFill>
        <a:effectLst/>
      </p:bgPr>
    </p:bg>
    <p:spTree>
      <p:nvGrpSpPr>
        <p:cNvPr id="1" name=""/>
        <p:cNvGrpSpPr/>
        <p:nvPr/>
      </p:nvGrpSpPr>
      <p:grpSpPr/>
      <p:sp>
        <p:nvSpPr>
          <p:cNvPr id="2" name="TextBox 1"/>
          <p:cNvSpPr txBox="1"/>
          <p:nvPr/>
        </p:nvSpPr>
        <p:spPr>
          <a:xfrm>
            <a:off x="841248" y="548640"/>
            <a:ext cx="10424160" cy="365760"/>
          </a:xfrm>
          <a:prstGeom prst="rect">
            <a:avLst/>
          </a:prstGeom>
          <a:noFill/>
        </p:spPr>
        <p:txBody>
          <a:bodyPr wrap="square" anchor="t" lIns="0" rIns="0" tIns="0" bIns="0">
            <a:spAutoFit/>
          </a:bodyPr>
          <a:lstStyle/>
          <a:p>
            <a:r>
              <a:rPr sz="1150" b="1" i="0" spc="300">
                <a:solidFill>
                  <a:srgbClr val="5A9CFF"/>
                </a:solidFill>
                <a:latin typeface="JetBrains Mono"/>
              </a:rPr>
              <a:t>08 · HOW TO CHOOSE</a:t>
            </a:r>
          </a:p>
        </p:txBody>
      </p:sp>
      <p:sp>
        <p:nvSpPr>
          <p:cNvPr id="3" name="TextBox 2"/>
          <p:cNvSpPr txBox="1"/>
          <p:nvPr/>
        </p:nvSpPr>
        <p:spPr>
          <a:xfrm>
            <a:off x="841248" y="896112"/>
            <a:ext cx="10515600" cy="1143000"/>
          </a:xfrm>
          <a:prstGeom prst="rect">
            <a:avLst/>
          </a:prstGeom>
          <a:noFill/>
        </p:spPr>
        <p:txBody>
          <a:bodyPr wrap="square" anchor="t" lIns="0" rIns="0" tIns="0" bIns="0">
            <a:spAutoFit/>
          </a:bodyPr>
          <a:lstStyle/>
          <a:p>
            <a:pPr>
              <a:lnSpc>
                <a:spcPct val="100000"/>
              </a:lnSpc>
            </a:pPr>
            <a:r>
              <a:rPr sz="2900" b="1" i="0">
                <a:solidFill>
                  <a:srgbClr val="FFFFFF"/>
                </a:solidFill>
                <a:latin typeface="Verdana"/>
              </a:rPr>
              <a:t>Five questions pick the type — in </a:t>
            </a:r>
            <a:r>
              <a:rPr sz="2900" b="1" i="0">
                <a:solidFill>
                  <a:srgbClr val="5A9CFF"/>
                </a:solidFill>
                <a:latin typeface="Verdana"/>
              </a:rPr>
              <a:t>order</a:t>
            </a:r>
            <a:r>
              <a:rPr sz="2900" b="1" i="0">
                <a:solidFill>
                  <a:srgbClr val="FFFFFF"/>
                </a:solidFill>
                <a:latin typeface="Verdana"/>
              </a:rPr>
              <a:t>.</a:t>
            </a:r>
          </a:p>
        </p:txBody>
      </p:sp>
      <p:sp>
        <p:nvSpPr>
          <p:cNvPr id="4" name="TextBox 3"/>
          <p:cNvSpPr txBox="1"/>
          <p:nvPr/>
        </p:nvSpPr>
        <p:spPr>
          <a:xfrm>
            <a:off x="841248" y="1993392"/>
            <a:ext cx="9509760" cy="731520"/>
          </a:xfrm>
          <a:prstGeom prst="rect">
            <a:avLst/>
          </a:prstGeom>
          <a:noFill/>
        </p:spPr>
        <p:txBody>
          <a:bodyPr wrap="square" anchor="t" lIns="0" rIns="0" tIns="0" bIns="0">
            <a:spAutoFit/>
          </a:bodyPr>
          <a:lstStyle/>
          <a:p>
            <a:r>
              <a:rPr sz="1500" b="0" i="0">
                <a:solidFill>
                  <a:srgbClr val="D6E6FF"/>
                </a:solidFill>
                <a:latin typeface="Verdana"/>
              </a:rPr>
              <a:t>Walk them top to bottom and stop at the first “yes.” Cheapest fit wins.</a:t>
            </a:r>
          </a:p>
        </p:txBody>
      </p:sp>
      <p:sp>
        <p:nvSpPr>
          <p:cNvPr id="5" name="Diamond 4"/>
          <p:cNvSpPr/>
          <p:nvPr/>
        </p:nvSpPr>
        <p:spPr>
          <a:xfrm>
            <a:off x="868680" y="2697480"/>
            <a:ext cx="2468880" cy="640080"/>
          </a:xfrm>
          <a:prstGeom prst="diamond">
            <a:avLst/>
          </a:prstGeom>
          <a:solidFill>
            <a:srgbClr val="0A3A86"/>
          </a:solidFill>
          <a:ln w="15875">
            <a:solidFill>
              <a:srgbClr val="3C66B0"/>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lnSpc>
                <a:spcPct val="100000"/>
              </a:lnSpc>
            </a:pPr>
            <a:r>
              <a:rPr sz="1050" b="1" i="0">
                <a:solidFill>
                  <a:srgbClr val="FFFFFF"/>
                </a:solidFill>
                <a:latin typeface="JetBrains Mono"/>
              </a:rPr>
              <a:t>Can you write the rule?</a:t>
            </a:r>
          </a:p>
        </p:txBody>
      </p:sp>
      <p:sp>
        <p:nvSpPr>
          <p:cNvPr id="6" name="Diamond 5"/>
          <p:cNvSpPr/>
          <p:nvPr/>
        </p:nvSpPr>
        <p:spPr>
          <a:xfrm>
            <a:off x="868680" y="3611880"/>
            <a:ext cx="2468880" cy="640080"/>
          </a:xfrm>
          <a:prstGeom prst="diamond">
            <a:avLst/>
          </a:prstGeom>
          <a:solidFill>
            <a:srgbClr val="0A3A86"/>
          </a:solidFill>
          <a:ln w="15875">
            <a:solidFill>
              <a:srgbClr val="3C66B0"/>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lnSpc>
                <a:spcPct val="100000"/>
              </a:lnSpc>
            </a:pPr>
            <a:r>
              <a:rPr sz="1050" b="1" i="0">
                <a:solidFill>
                  <a:srgbClr val="FFFFFF"/>
                </a:solidFill>
                <a:latin typeface="JetBrains Mono"/>
              </a:rPr>
              <a:t>Answer in your data?</a:t>
            </a:r>
          </a:p>
        </p:txBody>
      </p:sp>
      <p:sp>
        <p:nvSpPr>
          <p:cNvPr id="7" name="Diamond 6"/>
          <p:cNvSpPr/>
          <p:nvPr/>
        </p:nvSpPr>
        <p:spPr>
          <a:xfrm>
            <a:off x="868680" y="4526280"/>
            <a:ext cx="2468880" cy="640080"/>
          </a:xfrm>
          <a:prstGeom prst="diamond">
            <a:avLst/>
          </a:prstGeom>
          <a:solidFill>
            <a:srgbClr val="0A3A86"/>
          </a:solidFill>
          <a:ln w="15875">
            <a:solidFill>
              <a:srgbClr val="3C66B0"/>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lnSpc>
                <a:spcPct val="100000"/>
              </a:lnSpc>
            </a:pPr>
            <a:r>
              <a:rPr sz="1050" b="1" i="0">
                <a:solidFill>
                  <a:srgbClr val="FFFFFF"/>
                </a:solidFill>
                <a:latin typeface="JetBrains Mono"/>
              </a:rPr>
              <a:t>Computed or learned?</a:t>
            </a:r>
          </a:p>
        </p:txBody>
      </p:sp>
      <p:sp>
        <p:nvSpPr>
          <p:cNvPr id="8" name="Rounded Rectangle 7"/>
          <p:cNvSpPr/>
          <p:nvPr/>
        </p:nvSpPr>
        <p:spPr>
          <a:xfrm>
            <a:off x="4023360" y="2395728"/>
            <a:ext cx="2377440" cy="566928"/>
          </a:xfrm>
          <a:prstGeom prst="roundRect">
            <a:avLst/>
          </a:prstGeom>
          <a:solidFill>
            <a:srgbClr val="102A52"/>
          </a:solidFill>
          <a:ln w="15875">
            <a:solidFill>
              <a:srgbClr val="3C66B0"/>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lnSpc>
                <a:spcPct val="100000"/>
              </a:lnSpc>
            </a:pPr>
            <a:r>
              <a:rPr sz="1100" b="1" i="0">
                <a:solidFill>
                  <a:srgbClr val="FFFFFF"/>
                </a:solidFill>
                <a:latin typeface="JetBrains Mono"/>
              </a:rPr>
              <a:t>SCRIPT</a:t>
            </a:r>
          </a:p>
          <a:p>
            <a:pPr algn="ctr">
              <a:lnSpc>
                <a:spcPct val="100000"/>
              </a:lnSpc>
            </a:pPr>
            <a:r>
              <a:rPr sz="900" b="0" i="0">
                <a:solidFill>
                  <a:srgbClr val="5A9CFF"/>
                </a:solidFill>
                <a:latin typeface="JetBrains Mono"/>
              </a:rPr>
              <a:t>yes &amp; stable</a:t>
            </a:r>
          </a:p>
        </p:txBody>
      </p:sp>
      <p:sp>
        <p:nvSpPr>
          <p:cNvPr id="9" name="Rounded Rectangle 8"/>
          <p:cNvSpPr/>
          <p:nvPr/>
        </p:nvSpPr>
        <p:spPr>
          <a:xfrm>
            <a:off x="4023360" y="2999232"/>
            <a:ext cx="2377440" cy="566928"/>
          </a:xfrm>
          <a:prstGeom prst="roundRect">
            <a:avLst/>
          </a:prstGeom>
          <a:solidFill>
            <a:srgbClr val="102A52"/>
          </a:solidFill>
          <a:ln w="15875">
            <a:solidFill>
              <a:srgbClr val="3C66B0"/>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lnSpc>
                <a:spcPct val="100000"/>
              </a:lnSpc>
            </a:pPr>
            <a:r>
              <a:rPr sz="1100" b="1" i="0">
                <a:solidFill>
                  <a:srgbClr val="FFFFFF"/>
                </a:solidFill>
                <a:latin typeface="JetBrains Mono"/>
              </a:rPr>
              <a:t>RULES ENGINE</a:t>
            </a:r>
          </a:p>
          <a:p>
            <a:pPr algn="ctr">
              <a:lnSpc>
                <a:spcPct val="100000"/>
              </a:lnSpc>
            </a:pPr>
            <a:r>
              <a:rPr sz="900" b="0" i="0">
                <a:solidFill>
                  <a:srgbClr val="5A9CFF"/>
                </a:solidFill>
                <a:latin typeface="JetBrains Mono"/>
              </a:rPr>
              <a:t>human owns it</a:t>
            </a:r>
          </a:p>
        </p:txBody>
      </p:sp>
      <p:sp>
        <p:nvSpPr>
          <p:cNvPr id="10" name="Rounded Rectangle 9"/>
          <p:cNvSpPr/>
          <p:nvPr/>
        </p:nvSpPr>
        <p:spPr>
          <a:xfrm>
            <a:off x="4023360" y="3657600"/>
            <a:ext cx="2377440" cy="566928"/>
          </a:xfrm>
          <a:prstGeom prst="roundRect">
            <a:avLst/>
          </a:prstGeom>
          <a:solidFill>
            <a:srgbClr val="102A52"/>
          </a:solidFill>
          <a:ln w="15875">
            <a:solidFill>
              <a:srgbClr val="3C66B0"/>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lnSpc>
                <a:spcPct val="100000"/>
              </a:lnSpc>
            </a:pPr>
            <a:r>
              <a:rPr sz="1100" b="1" i="0">
                <a:solidFill>
                  <a:srgbClr val="FFFFFF"/>
                </a:solidFill>
                <a:latin typeface="JetBrains Mono"/>
              </a:rPr>
              <a:t>RETRIEVAL</a:t>
            </a:r>
          </a:p>
          <a:p>
            <a:pPr algn="ctr">
              <a:lnSpc>
                <a:spcPct val="100000"/>
              </a:lnSpc>
            </a:pPr>
            <a:r>
              <a:rPr sz="900" b="0" i="0">
                <a:solidFill>
                  <a:srgbClr val="5A9CFF"/>
                </a:solidFill>
                <a:latin typeface="JetBrains Mono"/>
              </a:rPr>
              <a:t>yes — look it up</a:t>
            </a:r>
          </a:p>
        </p:txBody>
      </p:sp>
      <p:sp>
        <p:nvSpPr>
          <p:cNvPr id="11" name="Rounded Rectangle 10"/>
          <p:cNvSpPr/>
          <p:nvPr/>
        </p:nvSpPr>
        <p:spPr>
          <a:xfrm>
            <a:off x="6949440" y="4114800"/>
            <a:ext cx="2377440" cy="566928"/>
          </a:xfrm>
          <a:prstGeom prst="roundRect">
            <a:avLst/>
          </a:prstGeom>
          <a:solidFill>
            <a:srgbClr val="102A52"/>
          </a:solidFill>
          <a:ln w="15875">
            <a:solidFill>
              <a:srgbClr val="3C66B0"/>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lnSpc>
                <a:spcPct val="100000"/>
              </a:lnSpc>
            </a:pPr>
            <a:r>
              <a:rPr sz="1100" b="1" i="0">
                <a:solidFill>
                  <a:srgbClr val="FFFFFF"/>
                </a:solidFill>
                <a:latin typeface="JetBrains Mono"/>
              </a:rPr>
              <a:t>OPTIMIZATION / SIM</a:t>
            </a:r>
          </a:p>
          <a:p>
            <a:pPr algn="ctr">
              <a:lnSpc>
                <a:spcPct val="100000"/>
              </a:lnSpc>
            </a:pPr>
            <a:r>
              <a:rPr sz="900" b="0" i="0">
                <a:solidFill>
                  <a:srgbClr val="5A9CFF"/>
                </a:solidFill>
                <a:latin typeface="JetBrains Mono"/>
              </a:rPr>
              <a:t>provable math</a:t>
            </a:r>
          </a:p>
        </p:txBody>
      </p:sp>
      <p:sp>
        <p:nvSpPr>
          <p:cNvPr id="12" name="Rounded Rectangle 11"/>
          <p:cNvSpPr/>
          <p:nvPr/>
        </p:nvSpPr>
        <p:spPr>
          <a:xfrm>
            <a:off x="9144000" y="4114800"/>
            <a:ext cx="2377440" cy="566928"/>
          </a:xfrm>
          <a:prstGeom prst="roundRect">
            <a:avLst/>
          </a:prstGeom>
          <a:solidFill>
            <a:srgbClr val="102A52"/>
          </a:solidFill>
          <a:ln w="15875">
            <a:solidFill>
              <a:srgbClr val="3C66B0"/>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lnSpc>
                <a:spcPct val="100000"/>
              </a:lnSpc>
            </a:pPr>
            <a:r>
              <a:rPr sz="1100" b="1" i="0">
                <a:solidFill>
                  <a:srgbClr val="FFFFFF"/>
                </a:solidFill>
                <a:latin typeface="JetBrains Mono"/>
              </a:rPr>
              <a:t>MACHINE LEARNING</a:t>
            </a:r>
          </a:p>
          <a:p>
            <a:pPr algn="ctr">
              <a:lnSpc>
                <a:spcPct val="100000"/>
              </a:lnSpc>
            </a:pPr>
            <a:r>
              <a:rPr sz="900" b="0" i="0">
                <a:solidFill>
                  <a:srgbClr val="5A9CFF"/>
                </a:solidFill>
                <a:latin typeface="JetBrains Mono"/>
              </a:rPr>
              <a:t>learned pattern</a:t>
            </a:r>
          </a:p>
        </p:txBody>
      </p:sp>
      <p:sp>
        <p:nvSpPr>
          <p:cNvPr id="13" name="Rounded Rectangle 12"/>
          <p:cNvSpPr/>
          <p:nvPr/>
        </p:nvSpPr>
        <p:spPr>
          <a:xfrm>
            <a:off x="6949440" y="4800600"/>
            <a:ext cx="2377440" cy="566928"/>
          </a:xfrm>
          <a:prstGeom prst="roundRect">
            <a:avLst/>
          </a:prstGeom>
          <a:solidFill>
            <a:srgbClr val="102A52"/>
          </a:solidFill>
          <a:ln w="15875">
            <a:solidFill>
              <a:srgbClr val="3C66B0"/>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lnSpc>
                <a:spcPct val="100000"/>
              </a:lnSpc>
            </a:pPr>
            <a:r>
              <a:rPr sz="1100" b="1" i="0">
                <a:solidFill>
                  <a:srgbClr val="FFFFFF"/>
                </a:solidFill>
                <a:latin typeface="JetBrains Mono"/>
              </a:rPr>
              <a:t>AGENT</a:t>
            </a:r>
          </a:p>
          <a:p>
            <a:pPr algn="ctr">
              <a:lnSpc>
                <a:spcPct val="100000"/>
              </a:lnSpc>
            </a:pPr>
            <a:r>
              <a:rPr sz="900" b="0" i="0">
                <a:solidFill>
                  <a:srgbClr val="5A9CFF"/>
                </a:solidFill>
                <a:latin typeface="JetBrains Mono"/>
              </a:rPr>
              <a:t>steps unknown</a:t>
            </a:r>
          </a:p>
        </p:txBody>
      </p:sp>
      <p:sp>
        <p:nvSpPr>
          <p:cNvPr id="14" name="Right Arrow 13"/>
          <p:cNvSpPr/>
          <p:nvPr/>
        </p:nvSpPr>
        <p:spPr>
          <a:xfrm rot="5400000">
            <a:off x="1874519" y="3300984"/>
            <a:ext cx="146304" cy="292608"/>
          </a:xfrm>
          <a:prstGeom prst="rightArrow">
            <a:avLst/>
          </a:prstGeom>
          <a:solidFill>
            <a:srgbClr val="0073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ight Arrow 14"/>
          <p:cNvSpPr/>
          <p:nvPr/>
        </p:nvSpPr>
        <p:spPr>
          <a:xfrm rot="5400000">
            <a:off x="1874519" y="4215384"/>
            <a:ext cx="146304" cy="292608"/>
          </a:xfrm>
          <a:prstGeom prst="rightArrow">
            <a:avLst/>
          </a:prstGeom>
          <a:solidFill>
            <a:srgbClr val="0073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41248" y="5806440"/>
            <a:ext cx="45720" cy="502920"/>
          </a:xfrm>
          <a:prstGeom prst="rect">
            <a:avLst/>
          </a:prstGeom>
          <a:solidFill>
            <a:srgbClr val="0073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078992" y="5788152"/>
            <a:ext cx="9144000" cy="502920"/>
          </a:xfrm>
          <a:prstGeom prst="rect">
            <a:avLst/>
          </a:prstGeom>
          <a:noFill/>
        </p:spPr>
        <p:txBody>
          <a:bodyPr wrap="square" anchor="t" lIns="0" rIns="0" tIns="0" bIns="0">
            <a:spAutoFit/>
          </a:bodyPr>
          <a:lstStyle/>
          <a:p>
            <a:r>
              <a:rPr sz="1550" b="0" i="1">
                <a:solidFill>
                  <a:srgbClr val="D6E6FF"/>
                </a:solidFill>
                <a:latin typeface="Georgia"/>
              </a:rPr>
              <a:t>Most real problems answer “yes” more than once.</a:t>
            </a:r>
          </a:p>
        </p:txBody>
      </p:sp>
      <p:sp>
        <p:nvSpPr>
          <p:cNvPr id="18" name="TextBox 17"/>
          <p:cNvSpPr txBox="1"/>
          <p:nvPr/>
        </p:nvSpPr>
        <p:spPr>
          <a:xfrm>
            <a:off x="841248" y="6382512"/>
            <a:ext cx="5486400" cy="274320"/>
          </a:xfrm>
          <a:prstGeom prst="rect">
            <a:avLst/>
          </a:prstGeom>
          <a:noFill/>
        </p:spPr>
        <p:txBody>
          <a:bodyPr wrap="square" anchor="t" lIns="0" rIns="0" tIns="0" bIns="0">
            <a:spAutoFit/>
          </a:bodyPr>
          <a:lstStyle/>
          <a:p>
            <a:r>
              <a:rPr sz="900" b="1" i="0" spc="220">
                <a:solidFill>
                  <a:srgbClr val="5A9CFF"/>
                </a:solidFill>
                <a:latin typeface="JetBrains Mono"/>
              </a:rPr>
              <a:t>WORKLOADS</a:t>
            </a:r>
          </a:p>
        </p:txBody>
      </p:sp>
      <p:pic>
        <p:nvPicPr>
          <p:cNvPr id="19" name="Picture 18" descr="CTG-Federal-logo-horizontal-reverse-72-dpi.png"/>
          <p:cNvPicPr>
            <a:picLocks noChangeAspect="1"/>
          </p:cNvPicPr>
          <p:nvPr/>
        </p:nvPicPr>
        <p:blipFill>
          <a:blip r:embed="rId2"/>
          <a:stretch>
            <a:fillRect/>
          </a:stretch>
        </p:blipFill>
        <p:spPr>
          <a:xfrm>
            <a:off x="9979152" y="6052700"/>
            <a:ext cx="1371600" cy="302380"/>
          </a:xfrm>
          <a:prstGeom prst="rect">
            <a:avLst/>
          </a:prstGeom>
        </p:spPr>
      </p:pic>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gradFill rotWithShape="1">
          <a:gsLst>
            <a:gs pos="0">
              <a:srgbClr val="0F1E38"/>
            </a:gs>
            <a:gs pos="100000">
              <a:srgbClr val="05080F"/>
            </a:gs>
          </a:gsLst>
          <a:lin scaled="0" ang="15000000"/>
        </a:gradFill>
        <a:effectLst/>
      </p:bgPr>
    </p:bg>
    <p:spTree>
      <p:nvGrpSpPr>
        <p:cNvPr id="1" name=""/>
        <p:cNvGrpSpPr/>
        <p:nvPr/>
      </p:nvGrpSpPr>
      <p:grpSpPr/>
      <p:sp>
        <p:nvSpPr>
          <p:cNvPr id="2" name="TextBox 1"/>
          <p:cNvSpPr txBox="1"/>
          <p:nvPr/>
        </p:nvSpPr>
        <p:spPr>
          <a:xfrm>
            <a:off x="841248" y="548640"/>
            <a:ext cx="10424160" cy="365760"/>
          </a:xfrm>
          <a:prstGeom prst="rect">
            <a:avLst/>
          </a:prstGeom>
          <a:noFill/>
        </p:spPr>
        <p:txBody>
          <a:bodyPr wrap="square" anchor="t" lIns="0" rIns="0" tIns="0" bIns="0">
            <a:spAutoFit/>
          </a:bodyPr>
          <a:lstStyle/>
          <a:p>
            <a:r>
              <a:rPr sz="1150" b="1" i="0" spc="300">
                <a:solidFill>
                  <a:srgbClr val="5A9CFF"/>
                </a:solidFill>
                <a:latin typeface="JetBrains Mono"/>
              </a:rPr>
              <a:t>09 · THE REAL ANSWER</a:t>
            </a:r>
          </a:p>
        </p:txBody>
      </p:sp>
      <p:sp>
        <p:nvSpPr>
          <p:cNvPr id="3" name="TextBox 2"/>
          <p:cNvSpPr txBox="1"/>
          <p:nvPr/>
        </p:nvSpPr>
        <p:spPr>
          <a:xfrm>
            <a:off x="841248" y="896112"/>
            <a:ext cx="10515600" cy="1143000"/>
          </a:xfrm>
          <a:prstGeom prst="rect">
            <a:avLst/>
          </a:prstGeom>
          <a:noFill/>
        </p:spPr>
        <p:txBody>
          <a:bodyPr wrap="square" anchor="t" lIns="0" rIns="0" tIns="0" bIns="0">
            <a:spAutoFit/>
          </a:bodyPr>
          <a:lstStyle/>
          <a:p>
            <a:pPr>
              <a:lnSpc>
                <a:spcPct val="100000"/>
              </a:lnSpc>
            </a:pPr>
            <a:r>
              <a:rPr sz="2900" b="1" i="0">
                <a:solidFill>
                  <a:srgbClr val="FFFFFF"/>
                </a:solidFill>
                <a:latin typeface="Verdana"/>
              </a:rPr>
              <a:t>Real systems </a:t>
            </a:r>
            <a:r>
              <a:rPr sz="2900" b="1" i="0">
                <a:solidFill>
                  <a:srgbClr val="5A9CFF"/>
                </a:solidFill>
                <a:latin typeface="Verdana"/>
              </a:rPr>
              <a:t>stack</a:t>
            </a:r>
            <a:r>
              <a:rPr sz="2900" b="1" i="0">
                <a:solidFill>
                  <a:srgbClr val="FFFFFF"/>
                </a:solidFill>
                <a:latin typeface="Verdana"/>
              </a:rPr>
              <a:t> the types.</a:t>
            </a:r>
          </a:p>
        </p:txBody>
      </p:sp>
      <p:sp>
        <p:nvSpPr>
          <p:cNvPr id="4" name="TextBox 3"/>
          <p:cNvSpPr txBox="1"/>
          <p:nvPr/>
        </p:nvSpPr>
        <p:spPr>
          <a:xfrm>
            <a:off x="841248" y="1993392"/>
            <a:ext cx="9509760" cy="731520"/>
          </a:xfrm>
          <a:prstGeom prst="rect">
            <a:avLst/>
          </a:prstGeom>
          <a:noFill/>
        </p:spPr>
        <p:txBody>
          <a:bodyPr wrap="square" anchor="t" lIns="0" rIns="0" tIns="0" bIns="0">
            <a:spAutoFit/>
          </a:bodyPr>
          <a:lstStyle/>
          <a:p>
            <a:r>
              <a:rPr sz="1500" b="0" i="0">
                <a:solidFill>
                  <a:srgbClr val="D6E6FF"/>
                </a:solidFill>
                <a:latin typeface="Verdana"/>
              </a:rPr>
              <a:t>A predictive-maintenance system on lab equipment — five types, one job, each doing what only it can.</a:t>
            </a:r>
          </a:p>
        </p:txBody>
      </p:sp>
      <p:sp>
        <p:nvSpPr>
          <p:cNvPr id="5" name="Rounded Rectangle 4"/>
          <p:cNvSpPr/>
          <p:nvPr/>
        </p:nvSpPr>
        <p:spPr>
          <a:xfrm>
            <a:off x="932687" y="2971800"/>
            <a:ext cx="1553464" cy="914400"/>
          </a:xfrm>
          <a:prstGeom prst="roundRect">
            <a:avLst/>
          </a:prstGeom>
          <a:solidFill>
            <a:srgbClr val="102A52"/>
          </a:solidFill>
          <a:ln w="15875">
            <a:solidFill>
              <a:srgbClr val="3C66B0"/>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lnSpc>
                <a:spcPct val="100000"/>
              </a:lnSpc>
            </a:pPr>
            <a:r>
              <a:rPr sz="1100" b="1" i="0">
                <a:solidFill>
                  <a:srgbClr val="FFFFFF"/>
                </a:solidFill>
                <a:latin typeface="JetBrains Mono"/>
              </a:rPr>
              <a:t>ingest</a:t>
            </a:r>
          </a:p>
          <a:p>
            <a:pPr algn="ctr">
              <a:lnSpc>
                <a:spcPct val="100000"/>
              </a:lnSpc>
            </a:pPr>
            <a:r>
              <a:rPr sz="900" b="0" i="0">
                <a:solidFill>
                  <a:srgbClr val="5A9CFF"/>
                </a:solidFill>
                <a:latin typeface="JetBrains Mono"/>
              </a:rPr>
              <a:t>SCRIPT</a:t>
            </a:r>
          </a:p>
        </p:txBody>
      </p:sp>
      <p:sp>
        <p:nvSpPr>
          <p:cNvPr id="6" name="Right Arrow 5"/>
          <p:cNvSpPr/>
          <p:nvPr/>
        </p:nvSpPr>
        <p:spPr>
          <a:xfrm>
            <a:off x="2431287" y="3355848"/>
            <a:ext cx="310896" cy="146304"/>
          </a:xfrm>
          <a:prstGeom prst="rightArrow">
            <a:avLst/>
          </a:prstGeom>
          <a:solidFill>
            <a:srgbClr val="0073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2687320" y="2971800"/>
            <a:ext cx="1553464" cy="914400"/>
          </a:xfrm>
          <a:prstGeom prst="roundRect">
            <a:avLst/>
          </a:prstGeom>
          <a:solidFill>
            <a:srgbClr val="102A52"/>
          </a:solidFill>
          <a:ln w="15875">
            <a:solidFill>
              <a:srgbClr val="3C66B0"/>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lnSpc>
                <a:spcPct val="100000"/>
              </a:lnSpc>
            </a:pPr>
            <a:r>
              <a:rPr sz="1100" b="1" i="0">
                <a:solidFill>
                  <a:srgbClr val="FFFFFF"/>
                </a:solidFill>
                <a:latin typeface="JetBrains Mono"/>
              </a:rPr>
              <a:t>anomaly score</a:t>
            </a:r>
          </a:p>
          <a:p>
            <a:pPr algn="ctr">
              <a:lnSpc>
                <a:spcPct val="100000"/>
              </a:lnSpc>
            </a:pPr>
            <a:r>
              <a:rPr sz="900" b="0" i="0">
                <a:solidFill>
                  <a:srgbClr val="5A9CFF"/>
                </a:solidFill>
                <a:latin typeface="JetBrains Mono"/>
              </a:rPr>
              <a:t>ML</a:t>
            </a:r>
          </a:p>
        </p:txBody>
      </p:sp>
      <p:sp>
        <p:nvSpPr>
          <p:cNvPr id="8" name="Right Arrow 7"/>
          <p:cNvSpPr/>
          <p:nvPr/>
        </p:nvSpPr>
        <p:spPr>
          <a:xfrm>
            <a:off x="4185920" y="3355848"/>
            <a:ext cx="310896" cy="146304"/>
          </a:xfrm>
          <a:prstGeom prst="rightArrow">
            <a:avLst/>
          </a:prstGeom>
          <a:solidFill>
            <a:srgbClr val="0073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4441952" y="2971800"/>
            <a:ext cx="1553464" cy="914400"/>
          </a:xfrm>
          <a:prstGeom prst="roundRect">
            <a:avLst/>
          </a:prstGeom>
          <a:solidFill>
            <a:srgbClr val="102A52"/>
          </a:solidFill>
          <a:ln w="15875">
            <a:solidFill>
              <a:srgbClr val="3C66B0"/>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lnSpc>
                <a:spcPct val="100000"/>
              </a:lnSpc>
            </a:pPr>
            <a:r>
              <a:rPr sz="1100" b="1" i="0">
                <a:solidFill>
                  <a:srgbClr val="FFFFFF"/>
                </a:solidFill>
                <a:latin typeface="JetBrains Mono"/>
              </a:rPr>
              <a:t>recall failures</a:t>
            </a:r>
          </a:p>
          <a:p>
            <a:pPr algn="ctr">
              <a:lnSpc>
                <a:spcPct val="100000"/>
              </a:lnSpc>
            </a:pPr>
            <a:r>
              <a:rPr sz="900" b="0" i="0">
                <a:solidFill>
                  <a:srgbClr val="5A9CFF"/>
                </a:solidFill>
                <a:latin typeface="JetBrains Mono"/>
              </a:rPr>
              <a:t>RETRIEVAL</a:t>
            </a:r>
          </a:p>
        </p:txBody>
      </p:sp>
      <p:sp>
        <p:nvSpPr>
          <p:cNvPr id="10" name="Right Arrow 9"/>
          <p:cNvSpPr/>
          <p:nvPr/>
        </p:nvSpPr>
        <p:spPr>
          <a:xfrm>
            <a:off x="5940552" y="3355848"/>
            <a:ext cx="310896" cy="146304"/>
          </a:xfrm>
          <a:prstGeom prst="rightArrow">
            <a:avLst/>
          </a:prstGeom>
          <a:solidFill>
            <a:srgbClr val="0073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6196584" y="2971800"/>
            <a:ext cx="1553464" cy="914400"/>
          </a:xfrm>
          <a:prstGeom prst="roundRect">
            <a:avLst/>
          </a:prstGeom>
          <a:solidFill>
            <a:srgbClr val="102A52"/>
          </a:solidFill>
          <a:ln w="15875">
            <a:solidFill>
              <a:srgbClr val="3C66B0"/>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lnSpc>
                <a:spcPct val="100000"/>
              </a:lnSpc>
            </a:pPr>
            <a:r>
              <a:rPr sz="1100" b="1" i="0">
                <a:solidFill>
                  <a:srgbClr val="FFFFFF"/>
                </a:solidFill>
                <a:latin typeface="JetBrains Mono"/>
              </a:rPr>
              <a:t>schedule fix</a:t>
            </a:r>
          </a:p>
          <a:p>
            <a:pPr algn="ctr">
              <a:lnSpc>
                <a:spcPct val="100000"/>
              </a:lnSpc>
            </a:pPr>
            <a:r>
              <a:rPr sz="900" b="0" i="0">
                <a:solidFill>
                  <a:srgbClr val="5A9CFF"/>
                </a:solidFill>
                <a:latin typeface="JetBrains Mono"/>
              </a:rPr>
              <a:t>OPTIMIZATION</a:t>
            </a:r>
          </a:p>
        </p:txBody>
      </p:sp>
      <p:sp>
        <p:nvSpPr>
          <p:cNvPr id="12" name="Right Arrow 11"/>
          <p:cNvSpPr/>
          <p:nvPr/>
        </p:nvSpPr>
        <p:spPr>
          <a:xfrm>
            <a:off x="7695184" y="3355848"/>
            <a:ext cx="310896" cy="146304"/>
          </a:xfrm>
          <a:prstGeom prst="rightArrow">
            <a:avLst/>
          </a:prstGeom>
          <a:solidFill>
            <a:srgbClr val="0073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7951216" y="2971800"/>
            <a:ext cx="1553464" cy="914400"/>
          </a:xfrm>
          <a:prstGeom prst="roundRect">
            <a:avLst/>
          </a:prstGeom>
          <a:solidFill>
            <a:srgbClr val="102A52"/>
          </a:solidFill>
          <a:ln w="15875">
            <a:solidFill>
              <a:srgbClr val="3C66B0"/>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lnSpc>
                <a:spcPct val="100000"/>
              </a:lnSpc>
            </a:pPr>
            <a:r>
              <a:rPr sz="1100" b="1" i="0">
                <a:solidFill>
                  <a:srgbClr val="FFFFFF"/>
                </a:solidFill>
                <a:latin typeface="JetBrains Mono"/>
              </a:rPr>
              <a:t>odd case</a:t>
            </a:r>
          </a:p>
          <a:p>
            <a:pPr algn="ctr">
              <a:lnSpc>
                <a:spcPct val="100000"/>
              </a:lnSpc>
            </a:pPr>
            <a:r>
              <a:rPr sz="900" b="0" i="0">
                <a:solidFill>
                  <a:srgbClr val="5A9CFF"/>
                </a:solidFill>
                <a:latin typeface="JetBrains Mono"/>
              </a:rPr>
              <a:t>AGENT</a:t>
            </a:r>
          </a:p>
        </p:txBody>
      </p:sp>
      <p:sp>
        <p:nvSpPr>
          <p:cNvPr id="14" name="Right Arrow 13"/>
          <p:cNvSpPr/>
          <p:nvPr/>
        </p:nvSpPr>
        <p:spPr>
          <a:xfrm>
            <a:off x="9449816" y="3355848"/>
            <a:ext cx="310896" cy="146304"/>
          </a:xfrm>
          <a:prstGeom prst="rightArrow">
            <a:avLst/>
          </a:prstGeom>
          <a:solidFill>
            <a:srgbClr val="0073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Diamond 14"/>
          <p:cNvSpPr/>
          <p:nvPr/>
        </p:nvSpPr>
        <p:spPr>
          <a:xfrm>
            <a:off x="9705848" y="2971800"/>
            <a:ext cx="1553464" cy="914400"/>
          </a:xfrm>
          <a:prstGeom prst="diamond">
            <a:avLst/>
          </a:prstGeom>
          <a:solidFill>
            <a:srgbClr val="0A3A86"/>
          </a:solidFill>
          <a:ln w="15875">
            <a:solidFill>
              <a:srgbClr val="3C66B0"/>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lnSpc>
                <a:spcPct val="100000"/>
              </a:lnSpc>
            </a:pPr>
            <a:r>
              <a:rPr sz="1050" b="1" i="0">
                <a:solidFill>
                  <a:srgbClr val="FFFFFF"/>
                </a:solidFill>
                <a:latin typeface="JetBrains Mono"/>
              </a:rPr>
              <a:t>human gate</a:t>
            </a:r>
          </a:p>
        </p:txBody>
      </p:sp>
      <p:sp>
        <p:nvSpPr>
          <p:cNvPr id="16" name="Rectangle 15"/>
          <p:cNvSpPr/>
          <p:nvPr/>
        </p:nvSpPr>
        <p:spPr>
          <a:xfrm>
            <a:off x="841248" y="5120640"/>
            <a:ext cx="45720" cy="640080"/>
          </a:xfrm>
          <a:prstGeom prst="rect">
            <a:avLst/>
          </a:prstGeom>
          <a:solidFill>
            <a:srgbClr val="0073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078992" y="5102352"/>
            <a:ext cx="9144000" cy="640080"/>
          </a:xfrm>
          <a:prstGeom prst="rect">
            <a:avLst/>
          </a:prstGeom>
          <a:noFill/>
        </p:spPr>
        <p:txBody>
          <a:bodyPr wrap="square" anchor="t" lIns="0" rIns="0" tIns="0" bIns="0">
            <a:spAutoFit/>
          </a:bodyPr>
          <a:lstStyle/>
          <a:p>
            <a:r>
              <a:rPr sz="1550" b="0" i="1">
                <a:solidFill>
                  <a:srgbClr val="D6E6FF"/>
                </a:solidFill>
                <a:latin typeface="Georgia"/>
              </a:rPr>
              <a:t>The skill is decomposition — match each sub-problem to the cheapest type that fits it.</a:t>
            </a:r>
          </a:p>
        </p:txBody>
      </p:sp>
      <p:sp>
        <p:nvSpPr>
          <p:cNvPr id="18" name="TextBox 17"/>
          <p:cNvSpPr txBox="1"/>
          <p:nvPr/>
        </p:nvSpPr>
        <p:spPr>
          <a:xfrm>
            <a:off x="841248" y="6382512"/>
            <a:ext cx="5486400" cy="274320"/>
          </a:xfrm>
          <a:prstGeom prst="rect">
            <a:avLst/>
          </a:prstGeom>
          <a:noFill/>
        </p:spPr>
        <p:txBody>
          <a:bodyPr wrap="square" anchor="t" lIns="0" rIns="0" tIns="0" bIns="0">
            <a:spAutoFit/>
          </a:bodyPr>
          <a:lstStyle/>
          <a:p>
            <a:r>
              <a:rPr sz="900" b="1" i="0" spc="220">
                <a:solidFill>
                  <a:srgbClr val="5A9CFF"/>
                </a:solidFill>
                <a:latin typeface="JetBrains Mono"/>
              </a:rPr>
              <a:t>WORKLOADS</a:t>
            </a:r>
          </a:p>
        </p:txBody>
      </p:sp>
      <p:pic>
        <p:nvPicPr>
          <p:cNvPr id="19" name="Picture 18" descr="CTG-Federal-logo-horizontal-reverse-72-dpi.png"/>
          <p:cNvPicPr>
            <a:picLocks noChangeAspect="1"/>
          </p:cNvPicPr>
          <p:nvPr/>
        </p:nvPicPr>
        <p:blipFill>
          <a:blip r:embed="rId2"/>
          <a:stretch>
            <a:fillRect/>
          </a:stretch>
        </p:blipFill>
        <p:spPr>
          <a:xfrm>
            <a:off x="9979152" y="6052700"/>
            <a:ext cx="1371600" cy="302380"/>
          </a:xfrm>
          <a:prstGeom prst="rect">
            <a:avLst/>
          </a:prstGeom>
        </p:spPr>
      </p:pic>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gradFill rotWithShape="1">
          <a:gsLst>
            <a:gs pos="0">
              <a:srgbClr val="0F1E38"/>
            </a:gs>
            <a:gs pos="100000">
              <a:srgbClr val="05080F"/>
            </a:gs>
          </a:gsLst>
          <a:lin scaled="0" ang="15000000"/>
        </a:gradFill>
        <a:effectLst/>
      </p:bgPr>
    </p:bg>
    <p:spTree>
      <p:nvGrpSpPr>
        <p:cNvPr id="1" name=""/>
        <p:cNvGrpSpPr/>
        <p:nvPr/>
      </p:nvGrpSpPr>
      <p:grpSpPr/>
      <p:sp>
        <p:nvSpPr>
          <p:cNvPr id="2" name="TextBox 1"/>
          <p:cNvSpPr txBox="1"/>
          <p:nvPr/>
        </p:nvSpPr>
        <p:spPr>
          <a:xfrm>
            <a:off x="841248" y="548640"/>
            <a:ext cx="10424160" cy="365760"/>
          </a:xfrm>
          <a:prstGeom prst="rect">
            <a:avLst/>
          </a:prstGeom>
          <a:noFill/>
        </p:spPr>
        <p:txBody>
          <a:bodyPr wrap="square" anchor="t" lIns="0" rIns="0" tIns="0" bIns="0">
            <a:spAutoFit/>
          </a:bodyPr>
          <a:lstStyle/>
          <a:p>
            <a:r>
              <a:rPr sz="1150" b="1" i="0" spc="300">
                <a:solidFill>
                  <a:srgbClr val="5A9CFF"/>
                </a:solidFill>
                <a:latin typeface="JetBrains Mono"/>
              </a:rPr>
              <a:t>10 · ENGINEERING HONESTY</a:t>
            </a:r>
          </a:p>
        </p:txBody>
      </p:sp>
      <p:sp>
        <p:nvSpPr>
          <p:cNvPr id="3" name="TextBox 2"/>
          <p:cNvSpPr txBox="1"/>
          <p:nvPr/>
        </p:nvSpPr>
        <p:spPr>
          <a:xfrm>
            <a:off x="841248" y="896112"/>
            <a:ext cx="10515600" cy="1143000"/>
          </a:xfrm>
          <a:prstGeom prst="rect">
            <a:avLst/>
          </a:prstGeom>
          <a:noFill/>
        </p:spPr>
        <p:txBody>
          <a:bodyPr wrap="square" anchor="t" lIns="0" rIns="0" tIns="0" bIns="0">
            <a:spAutoFit/>
          </a:bodyPr>
          <a:lstStyle/>
          <a:p>
            <a:pPr>
              <a:lnSpc>
                <a:spcPct val="100000"/>
              </a:lnSpc>
            </a:pPr>
            <a:r>
              <a:rPr sz="2900" b="1" i="0">
                <a:solidFill>
                  <a:srgbClr val="FFFFFF"/>
                </a:solidFill>
                <a:latin typeface="Verdana"/>
              </a:rPr>
              <a:t>Climb the ladder only as far as the problem </a:t>
            </a:r>
            <a:r>
              <a:rPr sz="2900" b="1" i="0">
                <a:solidFill>
                  <a:srgbClr val="F68D2E"/>
                </a:solidFill>
                <a:latin typeface="Verdana"/>
              </a:rPr>
              <a:t>forces</a:t>
            </a:r>
            <a:r>
              <a:rPr sz="2900" b="1" i="0">
                <a:solidFill>
                  <a:srgbClr val="FFFFFF"/>
                </a:solidFill>
                <a:latin typeface="Verdana"/>
              </a:rPr>
              <a:t> you.</a:t>
            </a:r>
          </a:p>
        </p:txBody>
      </p:sp>
      <p:sp>
        <p:nvSpPr>
          <p:cNvPr id="4" name="TextBox 3"/>
          <p:cNvSpPr txBox="1"/>
          <p:nvPr/>
        </p:nvSpPr>
        <p:spPr>
          <a:xfrm>
            <a:off x="841248" y="1993392"/>
            <a:ext cx="9509760" cy="731520"/>
          </a:xfrm>
          <a:prstGeom prst="rect">
            <a:avLst/>
          </a:prstGeom>
          <a:noFill/>
        </p:spPr>
        <p:txBody>
          <a:bodyPr wrap="square" anchor="t" lIns="0" rIns="0" tIns="0" bIns="0">
            <a:spAutoFit/>
          </a:bodyPr>
          <a:lstStyle/>
          <a:p>
            <a:r>
              <a:rPr sz="1500" b="0" i="0">
                <a:solidFill>
                  <a:srgbClr val="D6E6FF"/>
                </a:solidFill>
                <a:latin typeface="Verdana"/>
              </a:rPr>
              <a:t>Each rung up costs more and trusts less. Stop at the first one that actually fits.</a:t>
            </a:r>
          </a:p>
        </p:txBody>
      </p:sp>
      <p:sp>
        <p:nvSpPr>
          <p:cNvPr id="5" name="Rounded Rectangle 4"/>
          <p:cNvSpPr/>
          <p:nvPr/>
        </p:nvSpPr>
        <p:spPr>
          <a:xfrm>
            <a:off x="841248" y="2606040"/>
            <a:ext cx="6949440" cy="292608"/>
          </a:xfrm>
          <a:prstGeom prst="roundRect">
            <a:avLst/>
          </a:prstGeom>
          <a:solidFill>
            <a:srgbClr val="002550"/>
          </a:solidFill>
          <a:ln w="6350">
            <a:solidFill>
              <a:srgbClr val="3C66B0"/>
            </a:solidFill>
          </a:ln>
          <a:effectLst/>
        </p:spPr>
        <p:style>
          <a:lnRef idx="1">
            <a:schemeClr val="accent1"/>
          </a:lnRef>
          <a:fillRef idx="3">
            <a:schemeClr val="accent1"/>
          </a:fillRef>
          <a:effectRef idx="2">
            <a:schemeClr val="accent1"/>
          </a:effectRef>
          <a:fontRef idx="minor">
            <a:schemeClr val="lt1"/>
          </a:fontRef>
        </p:style>
        <p:txBody>
          <a:bodyPr rtlCol="0" anchor="ctr" lIns="137160"/>
          <a:lstStyle/>
          <a:p>
            <a:pPr algn="ctr"/>
            <a:r>
              <a:rPr sz="1050" b="1" i="0">
                <a:solidFill>
                  <a:srgbClr val="FFFFFF"/>
                </a:solidFill>
                <a:latin typeface="JetBrains Mono"/>
              </a:rPr>
              <a:t>SCRIPT   </a:t>
            </a:r>
            <a:r>
              <a:rPr sz="950" b="0" i="0">
                <a:solidFill>
                  <a:srgbClr val="C7D6E8"/>
                </a:solidFill>
                <a:latin typeface="JetBrains Mono"/>
              </a:rPr>
              <a:t>deterministic · cheapest · most reliable</a:t>
            </a:r>
          </a:p>
        </p:txBody>
      </p:sp>
      <p:sp>
        <p:nvSpPr>
          <p:cNvPr id="6" name="Rounded Rectangle 5"/>
          <p:cNvSpPr/>
          <p:nvPr/>
        </p:nvSpPr>
        <p:spPr>
          <a:xfrm>
            <a:off x="841248" y="2935224"/>
            <a:ext cx="6949440" cy="292608"/>
          </a:xfrm>
          <a:prstGeom prst="roundRect">
            <a:avLst/>
          </a:prstGeom>
          <a:solidFill>
            <a:srgbClr val="00326D"/>
          </a:solidFill>
          <a:ln w="6350">
            <a:solidFill>
              <a:srgbClr val="3C66B0"/>
            </a:solidFill>
          </a:ln>
          <a:effectLst/>
        </p:spPr>
        <p:style>
          <a:lnRef idx="1">
            <a:schemeClr val="accent1"/>
          </a:lnRef>
          <a:fillRef idx="3">
            <a:schemeClr val="accent1"/>
          </a:fillRef>
          <a:effectRef idx="2">
            <a:schemeClr val="accent1"/>
          </a:effectRef>
          <a:fontRef idx="minor">
            <a:schemeClr val="lt1"/>
          </a:fontRef>
        </p:style>
        <p:txBody>
          <a:bodyPr rtlCol="0" anchor="ctr" lIns="137160"/>
          <a:lstStyle/>
          <a:p>
            <a:pPr algn="ctr"/>
            <a:r>
              <a:rPr sz="1050" b="1" i="0">
                <a:solidFill>
                  <a:srgbClr val="FFFFFF"/>
                </a:solidFill>
                <a:latin typeface="JetBrains Mono"/>
              </a:rPr>
              <a:t>RULES ENGINE   </a:t>
            </a:r>
            <a:r>
              <a:rPr sz="950" b="0" i="0">
                <a:solidFill>
                  <a:srgbClr val="C7D6E8"/>
                </a:solidFill>
                <a:latin typeface="JetBrains Mono"/>
              </a:rPr>
              <a:t>declarative · explainable · human-owned</a:t>
            </a:r>
          </a:p>
        </p:txBody>
      </p:sp>
      <p:sp>
        <p:nvSpPr>
          <p:cNvPr id="7" name="Rounded Rectangle 6"/>
          <p:cNvSpPr/>
          <p:nvPr/>
        </p:nvSpPr>
        <p:spPr>
          <a:xfrm>
            <a:off x="841248" y="3264408"/>
            <a:ext cx="6949440" cy="292608"/>
          </a:xfrm>
          <a:prstGeom prst="roundRect">
            <a:avLst/>
          </a:prstGeom>
          <a:solidFill>
            <a:srgbClr val="003F8A"/>
          </a:solidFill>
          <a:ln w="6350">
            <a:solidFill>
              <a:srgbClr val="3C66B0"/>
            </a:solidFill>
          </a:ln>
          <a:effectLst/>
        </p:spPr>
        <p:style>
          <a:lnRef idx="1">
            <a:schemeClr val="accent1"/>
          </a:lnRef>
          <a:fillRef idx="3">
            <a:schemeClr val="accent1"/>
          </a:fillRef>
          <a:effectRef idx="2">
            <a:schemeClr val="accent1"/>
          </a:effectRef>
          <a:fontRef idx="minor">
            <a:schemeClr val="lt1"/>
          </a:fontRef>
        </p:style>
        <p:txBody>
          <a:bodyPr rtlCol="0" anchor="ctr" lIns="137160"/>
          <a:lstStyle/>
          <a:p>
            <a:pPr algn="ctr"/>
            <a:r>
              <a:rPr sz="1050" b="1" i="0">
                <a:solidFill>
                  <a:srgbClr val="FFFFFF"/>
                </a:solidFill>
                <a:latin typeface="JetBrains Mono"/>
              </a:rPr>
              <a:t>RETRIEVAL   </a:t>
            </a:r>
            <a:r>
              <a:rPr sz="950" b="0" i="0">
                <a:solidFill>
                  <a:srgbClr val="C7D6E8"/>
                </a:solidFill>
                <a:latin typeface="JetBrains Mono"/>
              </a:rPr>
              <a:t>a lookup, not a computation</a:t>
            </a:r>
          </a:p>
        </p:txBody>
      </p:sp>
      <p:sp>
        <p:nvSpPr>
          <p:cNvPr id="8" name="Rounded Rectangle 7"/>
          <p:cNvSpPr/>
          <p:nvPr/>
        </p:nvSpPr>
        <p:spPr>
          <a:xfrm>
            <a:off x="841248" y="3593591"/>
            <a:ext cx="6949440" cy="292608"/>
          </a:xfrm>
          <a:prstGeom prst="roundRect">
            <a:avLst/>
          </a:prstGeom>
          <a:solidFill>
            <a:srgbClr val="004CA7"/>
          </a:solidFill>
          <a:ln w="6350">
            <a:solidFill>
              <a:srgbClr val="3C66B0"/>
            </a:solidFill>
          </a:ln>
          <a:effectLst/>
        </p:spPr>
        <p:style>
          <a:lnRef idx="1">
            <a:schemeClr val="accent1"/>
          </a:lnRef>
          <a:fillRef idx="3">
            <a:schemeClr val="accent1"/>
          </a:fillRef>
          <a:effectRef idx="2">
            <a:schemeClr val="accent1"/>
          </a:effectRef>
          <a:fontRef idx="minor">
            <a:schemeClr val="lt1"/>
          </a:fontRef>
        </p:style>
        <p:txBody>
          <a:bodyPr rtlCol="0" anchor="ctr" lIns="137160"/>
          <a:lstStyle/>
          <a:p>
            <a:pPr algn="ctr"/>
            <a:r>
              <a:rPr sz="1050" b="1" i="0">
                <a:solidFill>
                  <a:srgbClr val="FFFFFF"/>
                </a:solidFill>
                <a:latin typeface="JetBrains Mono"/>
              </a:rPr>
              <a:t>OPTIMIZATION   </a:t>
            </a:r>
            <a:r>
              <a:rPr sz="950" b="0" i="0">
                <a:solidFill>
                  <a:srgbClr val="C7D6E8"/>
                </a:solidFill>
                <a:latin typeface="JetBrains Mono"/>
              </a:rPr>
              <a:t>provable, but you must state the math</a:t>
            </a:r>
          </a:p>
        </p:txBody>
      </p:sp>
      <p:sp>
        <p:nvSpPr>
          <p:cNvPr id="9" name="Rounded Rectangle 8"/>
          <p:cNvSpPr/>
          <p:nvPr/>
        </p:nvSpPr>
        <p:spPr>
          <a:xfrm>
            <a:off x="841248" y="3922776"/>
            <a:ext cx="6949440" cy="292608"/>
          </a:xfrm>
          <a:prstGeom prst="roundRect">
            <a:avLst/>
          </a:prstGeom>
          <a:solidFill>
            <a:srgbClr val="0059C4"/>
          </a:solidFill>
          <a:ln w="6350">
            <a:solidFill>
              <a:srgbClr val="3C66B0"/>
            </a:solidFill>
          </a:ln>
          <a:effectLst/>
        </p:spPr>
        <p:style>
          <a:lnRef idx="1">
            <a:schemeClr val="accent1"/>
          </a:lnRef>
          <a:fillRef idx="3">
            <a:schemeClr val="accent1"/>
          </a:fillRef>
          <a:effectRef idx="2">
            <a:schemeClr val="accent1"/>
          </a:effectRef>
          <a:fontRef idx="minor">
            <a:schemeClr val="lt1"/>
          </a:fontRef>
        </p:style>
        <p:txBody>
          <a:bodyPr rtlCol="0" anchor="ctr" lIns="137160"/>
          <a:lstStyle/>
          <a:p>
            <a:pPr algn="ctr"/>
            <a:r>
              <a:rPr sz="1050" b="1" i="0">
                <a:solidFill>
                  <a:srgbClr val="FFFFFF"/>
                </a:solidFill>
                <a:latin typeface="JetBrains Mono"/>
              </a:rPr>
              <a:t>MACHINE LEARNING   </a:t>
            </a:r>
            <a:r>
              <a:rPr sz="950" b="0" i="0">
                <a:solidFill>
                  <a:srgbClr val="C7D6E8"/>
                </a:solidFill>
                <a:latin typeface="JetBrains Mono"/>
              </a:rPr>
              <a:t>needs data, labels, monitoring, retraining</a:t>
            </a:r>
          </a:p>
        </p:txBody>
      </p:sp>
      <p:sp>
        <p:nvSpPr>
          <p:cNvPr id="10" name="Rounded Rectangle 9"/>
          <p:cNvSpPr/>
          <p:nvPr/>
        </p:nvSpPr>
        <p:spPr>
          <a:xfrm>
            <a:off x="841248" y="4251960"/>
            <a:ext cx="6949440" cy="292608"/>
          </a:xfrm>
          <a:prstGeom prst="roundRect">
            <a:avLst/>
          </a:prstGeom>
          <a:solidFill>
            <a:srgbClr val="0066E1"/>
          </a:solidFill>
          <a:ln w="6350">
            <a:solidFill>
              <a:srgbClr val="3C66B0"/>
            </a:solidFill>
          </a:ln>
          <a:effectLst/>
        </p:spPr>
        <p:style>
          <a:lnRef idx="1">
            <a:schemeClr val="accent1"/>
          </a:lnRef>
          <a:fillRef idx="3">
            <a:schemeClr val="accent1"/>
          </a:fillRef>
          <a:effectRef idx="2">
            <a:schemeClr val="accent1"/>
          </a:effectRef>
          <a:fontRef idx="minor">
            <a:schemeClr val="lt1"/>
          </a:fontRef>
        </p:style>
        <p:txBody>
          <a:bodyPr rtlCol="0" anchor="ctr" lIns="137160"/>
          <a:lstStyle/>
          <a:p>
            <a:pPr algn="ctr"/>
            <a:r>
              <a:rPr sz="1050" b="1" i="0">
                <a:solidFill>
                  <a:srgbClr val="FFFFFF"/>
                </a:solidFill>
                <a:latin typeface="JetBrains Mono"/>
              </a:rPr>
              <a:t>WORKFLOW   </a:t>
            </a:r>
            <a:r>
              <a:rPr sz="950" b="0" i="0">
                <a:solidFill>
                  <a:srgbClr val="C7D6E8"/>
                </a:solidFill>
                <a:latin typeface="JetBrains Mono"/>
              </a:rPr>
              <a:t>composition cost + glue fragility</a:t>
            </a:r>
          </a:p>
        </p:txBody>
      </p:sp>
      <p:sp>
        <p:nvSpPr>
          <p:cNvPr id="11" name="Rounded Rectangle 10"/>
          <p:cNvSpPr/>
          <p:nvPr/>
        </p:nvSpPr>
        <p:spPr>
          <a:xfrm>
            <a:off x="841248" y="4581144"/>
            <a:ext cx="6949440" cy="292608"/>
          </a:xfrm>
          <a:prstGeom prst="roundRect">
            <a:avLst/>
          </a:prstGeom>
          <a:solidFill>
            <a:srgbClr val="0073FE"/>
          </a:solidFill>
          <a:ln w="6350">
            <a:solidFill>
              <a:srgbClr val="3C66B0"/>
            </a:solidFill>
          </a:ln>
          <a:effectLst/>
        </p:spPr>
        <p:style>
          <a:lnRef idx="1">
            <a:schemeClr val="accent1"/>
          </a:lnRef>
          <a:fillRef idx="3">
            <a:schemeClr val="accent1"/>
          </a:fillRef>
          <a:effectRef idx="2">
            <a:schemeClr val="accent1"/>
          </a:effectRef>
          <a:fontRef idx="minor">
            <a:schemeClr val="lt1"/>
          </a:fontRef>
        </p:style>
        <p:txBody>
          <a:bodyPr rtlCol="0" anchor="ctr" lIns="137160"/>
          <a:lstStyle/>
          <a:p>
            <a:pPr algn="ctr"/>
            <a:r>
              <a:rPr sz="1050" b="1" i="0">
                <a:solidFill>
                  <a:srgbClr val="FFFFFF"/>
                </a:solidFill>
                <a:latin typeface="JetBrains Mono"/>
              </a:rPr>
              <a:t>AGENT   </a:t>
            </a:r>
            <a:r>
              <a:rPr sz="950" b="0" i="0">
                <a:solidFill>
                  <a:srgbClr val="C7D6E8"/>
                </a:solidFill>
                <a:latin typeface="JetBrains Mono"/>
              </a:rPr>
              <a:t>most flexible · tokens × turns · non-deterministic</a:t>
            </a:r>
          </a:p>
        </p:txBody>
      </p:sp>
      <p:sp>
        <p:nvSpPr>
          <p:cNvPr id="12" name="Rounded Rectangle 11"/>
          <p:cNvSpPr/>
          <p:nvPr/>
        </p:nvSpPr>
        <p:spPr>
          <a:xfrm>
            <a:off x="8229600" y="2697480"/>
            <a:ext cx="3017520" cy="960120"/>
          </a:xfrm>
          <a:prstGeom prst="roundRect">
            <a:avLst/>
          </a:prstGeom>
          <a:solidFill>
            <a:srgbClr val="332416"/>
          </a:solidFill>
          <a:ln w="12700">
            <a:solidFill>
              <a:srgbClr val="8A5522"/>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09728"/>
          <a:lstStyle/>
          <a:p>
            <a:pPr algn="ctr"/>
            <a:r>
              <a:rPr sz="1200" b="1" i="0">
                <a:solidFill>
                  <a:srgbClr val="F68D2E"/>
                </a:solidFill>
                <a:latin typeface="JetBrains Mono"/>
              </a:rPr>
              <a:t>✕  </a:t>
            </a:r>
            <a:r>
              <a:rPr sz="1150" b="1" i="0">
                <a:solidFill>
                  <a:srgbClr val="FFFFFF"/>
                </a:solidFill>
                <a:latin typeface="Verdana"/>
              </a:rPr>
              <a:t>An agent where a script fits</a:t>
            </a:r>
          </a:p>
          <a:p>
            <a:r>
              <a:rPr sz="1050" b="0" i="0">
                <a:solidFill>
                  <a:srgbClr val="C7D6E8"/>
                </a:solidFill>
                <a:latin typeface="Verdana"/>
              </a:rPr>
              <a:t>pay 1000× for non-determinism.</a:t>
            </a:r>
          </a:p>
        </p:txBody>
      </p:sp>
      <p:sp>
        <p:nvSpPr>
          <p:cNvPr id="13" name="Rounded Rectangle 12"/>
          <p:cNvSpPr/>
          <p:nvPr/>
        </p:nvSpPr>
        <p:spPr>
          <a:xfrm>
            <a:off x="8229600" y="3840480"/>
            <a:ext cx="3017520" cy="960120"/>
          </a:xfrm>
          <a:prstGeom prst="roundRect">
            <a:avLst/>
          </a:prstGeom>
          <a:solidFill>
            <a:srgbClr val="332416"/>
          </a:solidFill>
          <a:ln w="12700">
            <a:solidFill>
              <a:srgbClr val="8A5522"/>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09728"/>
          <a:lstStyle/>
          <a:p>
            <a:pPr algn="ctr"/>
            <a:r>
              <a:rPr sz="1200" b="1" i="0">
                <a:solidFill>
                  <a:srgbClr val="F68D2E"/>
                </a:solidFill>
                <a:latin typeface="JetBrains Mono"/>
              </a:rPr>
              <a:t>✕  </a:t>
            </a:r>
            <a:r>
              <a:rPr sz="1150" b="1" i="0">
                <a:solidFill>
                  <a:srgbClr val="FFFFFF"/>
                </a:solidFill>
                <a:latin typeface="Verdana"/>
              </a:rPr>
              <a:t>Multi-agent that doesn't parallelize</a:t>
            </a:r>
          </a:p>
          <a:p>
            <a:r>
              <a:rPr sz="1050" b="0" i="0">
                <a:solidFill>
                  <a:srgbClr val="C7D6E8"/>
                </a:solidFill>
                <a:latin typeface="Verdana"/>
              </a:rPr>
              <a:t>~15× the tokens for no gain.</a:t>
            </a:r>
          </a:p>
        </p:txBody>
      </p:sp>
      <p:sp>
        <p:nvSpPr>
          <p:cNvPr id="14" name="Rectangle 13"/>
          <p:cNvSpPr/>
          <p:nvPr/>
        </p:nvSpPr>
        <p:spPr>
          <a:xfrm>
            <a:off x="841248" y="5577840"/>
            <a:ext cx="45720" cy="640080"/>
          </a:xfrm>
          <a:prstGeom prst="rect">
            <a:avLst/>
          </a:prstGeom>
          <a:solidFill>
            <a:srgbClr val="0073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078992" y="5559552"/>
            <a:ext cx="9144000" cy="640080"/>
          </a:xfrm>
          <a:prstGeom prst="rect">
            <a:avLst/>
          </a:prstGeom>
          <a:noFill/>
        </p:spPr>
        <p:txBody>
          <a:bodyPr wrap="square" anchor="t" lIns="0" rIns="0" tIns="0" bIns="0">
            <a:spAutoFit/>
          </a:bodyPr>
          <a:lstStyle/>
          <a:p>
            <a:r>
              <a:rPr sz="1550" b="0" i="1">
                <a:solidFill>
                  <a:srgbClr val="D6E6FF"/>
                </a:solidFill>
                <a:latin typeface="Georgia"/>
              </a:rPr>
              <a:t>The newest type isn't the best type — it's the most expensive one that happens to fit.</a:t>
            </a:r>
          </a:p>
        </p:txBody>
      </p:sp>
      <p:sp>
        <p:nvSpPr>
          <p:cNvPr id="16" name="TextBox 15"/>
          <p:cNvSpPr txBox="1"/>
          <p:nvPr/>
        </p:nvSpPr>
        <p:spPr>
          <a:xfrm>
            <a:off x="841248" y="6382512"/>
            <a:ext cx="5486400" cy="274320"/>
          </a:xfrm>
          <a:prstGeom prst="rect">
            <a:avLst/>
          </a:prstGeom>
          <a:noFill/>
        </p:spPr>
        <p:txBody>
          <a:bodyPr wrap="square" anchor="t" lIns="0" rIns="0" tIns="0" bIns="0">
            <a:spAutoFit/>
          </a:bodyPr>
          <a:lstStyle/>
          <a:p>
            <a:r>
              <a:rPr sz="900" b="1" i="0" spc="220">
                <a:solidFill>
                  <a:srgbClr val="5A9CFF"/>
                </a:solidFill>
                <a:latin typeface="JetBrains Mono"/>
              </a:rPr>
              <a:t>WORKLOADS</a:t>
            </a:r>
          </a:p>
        </p:txBody>
      </p:sp>
      <p:pic>
        <p:nvPicPr>
          <p:cNvPr id="17" name="Picture 16" descr="CTG-Federal-logo-horizontal-reverse-72-dpi.png"/>
          <p:cNvPicPr>
            <a:picLocks noChangeAspect="1"/>
          </p:cNvPicPr>
          <p:nvPr/>
        </p:nvPicPr>
        <p:blipFill>
          <a:blip r:embed="rId2"/>
          <a:stretch>
            <a:fillRect/>
          </a:stretch>
        </p:blipFill>
        <p:spPr>
          <a:xfrm>
            <a:off x="9979152" y="6052700"/>
            <a:ext cx="1371600" cy="302380"/>
          </a:xfrm>
          <a:prstGeom prst="rect">
            <a:avLst/>
          </a:prstGeom>
        </p:spPr>
      </p:pic>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gradFill rotWithShape="1">
          <a:gsLst>
            <a:gs pos="0">
              <a:srgbClr val="0F1E38"/>
            </a:gs>
            <a:gs pos="100000">
              <a:srgbClr val="05080F"/>
            </a:gs>
          </a:gsLst>
          <a:lin scaled="0" ang="14400000"/>
        </a:gradFill>
        <a:effectLst/>
      </p:bgPr>
    </p:bg>
    <p:spTree>
      <p:nvGrpSpPr>
        <p:cNvPr id="1" name=""/>
        <p:cNvGrpSpPr/>
        <p:nvPr/>
      </p:nvGrpSpPr>
      <p:grpSpPr/>
      <p:pic>
        <p:nvPicPr>
          <p:cNvPr id="2" name="Picture 1" descr="CTG emblem_watermark.png"/>
          <p:cNvPicPr>
            <a:picLocks noChangeAspect="1"/>
          </p:cNvPicPr>
          <p:nvPr/>
        </p:nvPicPr>
        <p:blipFill>
          <a:blip r:embed="rId2"/>
          <a:stretch>
            <a:fillRect/>
          </a:stretch>
        </p:blipFill>
        <p:spPr>
          <a:xfrm>
            <a:off x="7254240" y="1406303"/>
            <a:ext cx="4937760" cy="4045394"/>
          </a:xfrm>
          <a:prstGeom prst="rect">
            <a:avLst/>
          </a:prstGeom>
        </p:spPr>
      </p:pic>
      <p:sp>
        <p:nvSpPr>
          <p:cNvPr id="3" name="TextBox 2"/>
          <p:cNvSpPr txBox="1"/>
          <p:nvPr/>
        </p:nvSpPr>
        <p:spPr>
          <a:xfrm>
            <a:off x="841248" y="1554480"/>
            <a:ext cx="7863840" cy="3657600"/>
          </a:xfrm>
          <a:prstGeom prst="rect">
            <a:avLst/>
          </a:prstGeom>
          <a:noFill/>
        </p:spPr>
        <p:txBody>
          <a:bodyPr wrap="square" anchor="t" lIns="0" rIns="0" tIns="0" bIns="0">
            <a:spAutoFit/>
          </a:bodyPr>
          <a:lstStyle/>
          <a:p>
            <a:r>
              <a:rPr sz="1150" b="1" i="0" spc="300">
                <a:solidFill>
                  <a:srgbClr val="5A9CFF"/>
                </a:solidFill>
                <a:latin typeface="JetBrains Mono"/>
              </a:rPr>
              <a:t>11 · LANDING</a:t>
            </a:r>
          </a:p>
          <a:p>
            <a:pPr>
              <a:lnSpc>
                <a:spcPct val="102000"/>
              </a:lnSpc>
              <a:spcBef>
                <a:spcPts val="1000"/>
              </a:spcBef>
            </a:pPr>
            <a:r>
              <a:rPr sz="3300" b="1" i="0">
                <a:solidFill>
                  <a:srgbClr val="FFFFFF"/>
                </a:solidFill>
                <a:latin typeface="Verdana"/>
              </a:rPr>
              <a:t>PICK BY THE SHAPE OF THE</a:t>
            </a:r>
          </a:p>
          <a:p>
            <a:pPr>
              <a:lnSpc>
                <a:spcPct val="102000"/>
              </a:lnSpc>
            </a:pPr>
            <a:r>
              <a:rPr sz="3300" b="1" i="0">
                <a:solidFill>
                  <a:srgbClr val="FFFFFF"/>
                </a:solidFill>
                <a:latin typeface="Verdana"/>
              </a:rPr>
              <a:t>PROBLEM, NOT THE </a:t>
            </a:r>
            <a:r>
              <a:rPr sz="3300" b="1" i="0">
                <a:solidFill>
                  <a:srgbClr val="5A9CFF"/>
                </a:solidFill>
                <a:latin typeface="Verdana"/>
              </a:rPr>
              <a:t>TOOL</a:t>
            </a:r>
            <a:r>
              <a:rPr sz="3300" b="1" i="0">
                <a:solidFill>
                  <a:srgbClr val="FFFFFF"/>
                </a:solidFill>
                <a:latin typeface="Verdana"/>
              </a:rPr>
              <a:t>.</a:t>
            </a:r>
          </a:p>
          <a:p>
            <a:pPr>
              <a:spcBef>
                <a:spcPts val="1600"/>
              </a:spcBef>
            </a:pPr>
            <a:r>
              <a:rPr sz="1400" b="0" i="0">
                <a:solidFill>
                  <a:srgbClr val="C7D6E8"/>
                </a:solidFill>
                <a:latin typeface="Verdana"/>
              </a:rPr>
              <a:t>Seven types, one bench. Scripts and rules for the writable, ML and solvers for the hard, retrieval for the known, workflows to compose, agents for the unknown.</a:t>
            </a:r>
          </a:p>
          <a:p>
            <a:pPr>
              <a:spcBef>
                <a:spcPts val="1400"/>
              </a:spcBef>
            </a:pPr>
            <a:r>
              <a:rPr sz="1600" b="0" i="1">
                <a:solidFill>
                  <a:srgbClr val="D6E6FF"/>
                </a:solidFill>
                <a:latin typeface="Georgia"/>
              </a:rPr>
              <a:t>Let's decompose a real problem live and name each piece.  →  To the notebook.</a:t>
            </a:r>
          </a:p>
        </p:txBody>
      </p:sp>
      <p:sp>
        <p:nvSpPr>
          <p:cNvPr id="4" name="TextBox 3"/>
          <p:cNvSpPr txBox="1"/>
          <p:nvPr/>
        </p:nvSpPr>
        <p:spPr>
          <a:xfrm>
            <a:off x="841248" y="6382512"/>
            <a:ext cx="5486400" cy="274320"/>
          </a:xfrm>
          <a:prstGeom prst="rect">
            <a:avLst/>
          </a:prstGeom>
          <a:noFill/>
        </p:spPr>
        <p:txBody>
          <a:bodyPr wrap="square" anchor="t" lIns="0" rIns="0" tIns="0" bIns="0">
            <a:spAutoFit/>
          </a:bodyPr>
          <a:lstStyle/>
          <a:p>
            <a:r>
              <a:rPr sz="900" b="1" i="0" spc="220">
                <a:solidFill>
                  <a:srgbClr val="5A9CFF"/>
                </a:solidFill>
                <a:latin typeface="JetBrains Mono"/>
              </a:rPr>
              <a:t>WORKLOADS</a:t>
            </a:r>
          </a:p>
        </p:txBody>
      </p:sp>
      <p:pic>
        <p:nvPicPr>
          <p:cNvPr id="5" name="Picture 4" descr="CTG-Federal-logo-horizontal-reverse-72-dpi.png"/>
          <p:cNvPicPr>
            <a:picLocks noChangeAspect="1"/>
          </p:cNvPicPr>
          <p:nvPr/>
        </p:nvPicPr>
        <p:blipFill>
          <a:blip r:embed="rId3"/>
          <a:stretch>
            <a:fillRect/>
          </a:stretch>
        </p:blipFill>
        <p:spPr>
          <a:xfrm>
            <a:off x="9979152" y="6052700"/>
            <a:ext cx="1371600" cy="302380"/>
          </a:xfrm>
          <a:prstGeom prst="rect">
            <a:avLst/>
          </a:prstGeom>
        </p:spPr>
      </p:pic>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gradFill rotWithShape="1">
          <a:gsLst>
            <a:gs pos="0">
              <a:srgbClr val="FFFFFF"/>
            </a:gs>
            <a:gs pos="100000">
              <a:srgbClr val="E8EDF5"/>
            </a:gs>
          </a:gsLst>
          <a:lin scaled="0" ang="12600000"/>
        </a:gradFill>
        <a:effectLst/>
      </p:bgPr>
    </p:bg>
    <p:spTree>
      <p:nvGrpSpPr>
        <p:cNvPr id="1" name=""/>
        <p:cNvGrpSpPr/>
        <p:nvPr/>
      </p:nvGrpSpPr>
      <p:grpSpPr/>
      <p:sp>
        <p:nvSpPr>
          <p:cNvPr id="2" name="TextBox 1"/>
          <p:cNvSpPr txBox="1"/>
          <p:nvPr/>
        </p:nvSpPr>
        <p:spPr>
          <a:xfrm>
            <a:off x="841248" y="548640"/>
            <a:ext cx="10424160" cy="365760"/>
          </a:xfrm>
          <a:prstGeom prst="rect">
            <a:avLst/>
          </a:prstGeom>
          <a:noFill/>
        </p:spPr>
        <p:txBody>
          <a:bodyPr wrap="square" anchor="t" lIns="0" rIns="0" tIns="0" bIns="0">
            <a:spAutoFit/>
          </a:bodyPr>
          <a:lstStyle/>
          <a:p>
            <a:r>
              <a:rPr sz="1150" b="1" i="0" spc="300">
                <a:solidFill>
                  <a:srgbClr val="0055BC"/>
                </a:solidFill>
                <a:latin typeface="JetBrains Mono"/>
              </a:rPr>
              <a:t>12 · SOURCES — THE RECEIPTS</a:t>
            </a:r>
          </a:p>
        </p:txBody>
      </p:sp>
      <p:sp>
        <p:nvSpPr>
          <p:cNvPr id="3" name="TextBox 2"/>
          <p:cNvSpPr txBox="1"/>
          <p:nvPr/>
        </p:nvSpPr>
        <p:spPr>
          <a:xfrm>
            <a:off x="841248" y="896112"/>
            <a:ext cx="10515600" cy="1143000"/>
          </a:xfrm>
          <a:prstGeom prst="rect">
            <a:avLst/>
          </a:prstGeom>
          <a:noFill/>
        </p:spPr>
        <p:txBody>
          <a:bodyPr wrap="square" anchor="t" lIns="0" rIns="0" tIns="0" bIns="0">
            <a:spAutoFit/>
          </a:bodyPr>
          <a:lstStyle/>
          <a:p>
            <a:pPr>
              <a:lnSpc>
                <a:spcPct val="100000"/>
              </a:lnSpc>
            </a:pPr>
            <a:r>
              <a:rPr sz="2900" b="1" i="0">
                <a:solidFill>
                  <a:srgbClr val="002550"/>
                </a:solidFill>
                <a:latin typeface="Verdana"/>
              </a:rPr>
              <a:t>The mechanisms are cited; the </a:t>
            </a:r>
            <a:r>
              <a:rPr sz="2900" b="1" i="0">
                <a:solidFill>
                  <a:srgbClr val="0055BC"/>
                </a:solidFill>
                <a:latin typeface="Verdana"/>
              </a:rPr>
              <a:t>taxonomy</a:t>
            </a:r>
            <a:r>
              <a:rPr sz="2900" b="1" i="0">
                <a:solidFill>
                  <a:srgbClr val="002550"/>
                </a:solidFill>
                <a:latin typeface="Verdana"/>
              </a:rPr>
              <a:t> is ours.</a:t>
            </a:r>
          </a:p>
        </p:txBody>
      </p:sp>
      <p:sp>
        <p:nvSpPr>
          <p:cNvPr id="4" name="TextBox 3"/>
          <p:cNvSpPr txBox="1"/>
          <p:nvPr/>
        </p:nvSpPr>
        <p:spPr>
          <a:xfrm>
            <a:off x="841248" y="1993392"/>
            <a:ext cx="9509760" cy="731520"/>
          </a:xfrm>
          <a:prstGeom prst="rect">
            <a:avLst/>
          </a:prstGeom>
          <a:noFill/>
        </p:spPr>
        <p:txBody>
          <a:bodyPr wrap="square" anchor="t" lIns="0" rIns="0" tIns="0" bIns="0">
            <a:spAutoFit/>
          </a:bodyPr>
          <a:lstStyle/>
          <a:p>
            <a:r>
              <a:rPr sz="1500" b="0" i="0">
                <a:solidFill>
                  <a:srgbClr val="243042"/>
                </a:solidFill>
                <a:latin typeface="Verdana"/>
              </a:rPr>
              <a:t>The seven-way cut and the two-axis framing are a teaching lens — useful, opinionated, not a standard.</a:t>
            </a:r>
          </a:p>
        </p:txBody>
      </p:sp>
      <p:sp>
        <p:nvSpPr>
          <p:cNvPr id="5" name="TextBox 4"/>
          <p:cNvSpPr txBox="1"/>
          <p:nvPr/>
        </p:nvSpPr>
        <p:spPr>
          <a:xfrm>
            <a:off x="841248" y="2514600"/>
            <a:ext cx="5026152" cy="777240"/>
          </a:xfrm>
          <a:prstGeom prst="rect">
            <a:avLst/>
          </a:prstGeom>
          <a:noFill/>
        </p:spPr>
        <p:txBody>
          <a:bodyPr wrap="square" anchor="t" lIns="0" rIns="0" tIns="0" bIns="0">
            <a:spAutoFit/>
          </a:bodyPr>
          <a:lstStyle/>
          <a:p>
            <a:pPr>
              <a:lnSpc>
                <a:spcPct val="105000"/>
              </a:lnSpc>
            </a:pPr>
            <a:r>
              <a:rPr sz="1250" b="1" i="0">
                <a:solidFill>
                  <a:srgbClr val="0055BC"/>
                </a:solidFill>
                <a:latin typeface="Verdana"/>
              </a:rPr>
              <a:t>BlackArc — </a:t>
            </a:r>
            <a:r>
              <a:rPr sz="1150" b="0" i="0">
                <a:solidFill>
                  <a:srgbClr val="334052"/>
                </a:solidFill>
                <a:latin typeface="Verdana"/>
              </a:rPr>
              <a:t>Eight Patterns of Automation (BA-FN-002, 2026) — pick the shape of automation by the shape of the problem.</a:t>
            </a:r>
          </a:p>
        </p:txBody>
      </p:sp>
      <p:sp>
        <p:nvSpPr>
          <p:cNvPr id="6" name="TextBox 5"/>
          <p:cNvSpPr txBox="1"/>
          <p:nvPr/>
        </p:nvSpPr>
        <p:spPr>
          <a:xfrm>
            <a:off x="6324600" y="2514600"/>
            <a:ext cx="5026152" cy="777240"/>
          </a:xfrm>
          <a:prstGeom prst="rect">
            <a:avLst/>
          </a:prstGeom>
          <a:noFill/>
        </p:spPr>
        <p:txBody>
          <a:bodyPr wrap="square" anchor="t" lIns="0" rIns="0" tIns="0" bIns="0">
            <a:spAutoFit/>
          </a:bodyPr>
          <a:lstStyle/>
          <a:p>
            <a:pPr>
              <a:lnSpc>
                <a:spcPct val="105000"/>
              </a:lnSpc>
            </a:pPr>
            <a:r>
              <a:rPr sz="1250" b="1" i="0">
                <a:solidFill>
                  <a:srgbClr val="0055BC"/>
                </a:solidFill>
                <a:latin typeface="Verdana"/>
              </a:rPr>
              <a:t>Yao et al. — </a:t>
            </a:r>
            <a:r>
              <a:rPr sz="1150" b="0" i="0">
                <a:solidFill>
                  <a:srgbClr val="334052"/>
                </a:solidFill>
                <a:latin typeface="Verdana"/>
              </a:rPr>
              <a:t>ReAct: Synergizing Reasoning and Acting in Language Models (ICLR 2023) — the agentic loop.</a:t>
            </a:r>
          </a:p>
        </p:txBody>
      </p:sp>
      <p:sp>
        <p:nvSpPr>
          <p:cNvPr id="7" name="TextBox 6"/>
          <p:cNvSpPr txBox="1"/>
          <p:nvPr/>
        </p:nvSpPr>
        <p:spPr>
          <a:xfrm>
            <a:off x="841248" y="3355848"/>
            <a:ext cx="5026152" cy="777240"/>
          </a:xfrm>
          <a:prstGeom prst="rect">
            <a:avLst/>
          </a:prstGeom>
          <a:noFill/>
        </p:spPr>
        <p:txBody>
          <a:bodyPr wrap="square" anchor="t" lIns="0" rIns="0" tIns="0" bIns="0">
            <a:spAutoFit/>
          </a:bodyPr>
          <a:lstStyle/>
          <a:p>
            <a:pPr>
              <a:lnSpc>
                <a:spcPct val="105000"/>
              </a:lnSpc>
            </a:pPr>
            <a:r>
              <a:rPr sz="1250" b="1" i="0">
                <a:solidFill>
                  <a:srgbClr val="0055BC"/>
                </a:solidFill>
                <a:latin typeface="Verdana"/>
              </a:rPr>
              <a:t>Lewis et al. — </a:t>
            </a:r>
            <a:r>
              <a:rPr sz="1150" b="0" i="0">
                <a:solidFill>
                  <a:srgbClr val="334052"/>
                </a:solidFill>
                <a:latin typeface="Verdana"/>
              </a:rPr>
              <a:t>Retrieval-Augmented Generation (NeurIPS 2020) — grounding a model in fetched knowledge.</a:t>
            </a:r>
          </a:p>
        </p:txBody>
      </p:sp>
      <p:sp>
        <p:nvSpPr>
          <p:cNvPr id="8" name="TextBox 7"/>
          <p:cNvSpPr txBox="1"/>
          <p:nvPr/>
        </p:nvSpPr>
        <p:spPr>
          <a:xfrm>
            <a:off x="6324600" y="3355848"/>
            <a:ext cx="5026152" cy="777240"/>
          </a:xfrm>
          <a:prstGeom prst="rect">
            <a:avLst/>
          </a:prstGeom>
          <a:noFill/>
        </p:spPr>
        <p:txBody>
          <a:bodyPr wrap="square" anchor="t" lIns="0" rIns="0" tIns="0" bIns="0">
            <a:spAutoFit/>
          </a:bodyPr>
          <a:lstStyle/>
          <a:p>
            <a:pPr>
              <a:lnSpc>
                <a:spcPct val="105000"/>
              </a:lnSpc>
            </a:pPr>
            <a:r>
              <a:rPr sz="1250" b="1" i="0">
                <a:solidFill>
                  <a:srgbClr val="0055BC"/>
                </a:solidFill>
                <a:latin typeface="Verdana"/>
              </a:rPr>
              <a:t>Anthropic — </a:t>
            </a:r>
            <a:r>
              <a:rPr sz="1150" b="0" i="0">
                <a:solidFill>
                  <a:srgbClr val="334052"/>
                </a:solidFill>
                <a:latin typeface="Verdana"/>
              </a:rPr>
              <a:t>How We Built Our Multi-Agent Research System (2025) — ~15× tokens; pays off only on parallelizable work.</a:t>
            </a:r>
          </a:p>
        </p:txBody>
      </p:sp>
      <p:sp>
        <p:nvSpPr>
          <p:cNvPr id="9" name="TextBox 8"/>
          <p:cNvSpPr txBox="1"/>
          <p:nvPr/>
        </p:nvSpPr>
        <p:spPr>
          <a:xfrm>
            <a:off x="841248" y="4197096"/>
            <a:ext cx="5026152" cy="777240"/>
          </a:xfrm>
          <a:prstGeom prst="rect">
            <a:avLst/>
          </a:prstGeom>
          <a:noFill/>
        </p:spPr>
        <p:txBody>
          <a:bodyPr wrap="square" anchor="t" lIns="0" rIns="0" tIns="0" bIns="0">
            <a:spAutoFit/>
          </a:bodyPr>
          <a:lstStyle/>
          <a:p>
            <a:pPr>
              <a:lnSpc>
                <a:spcPct val="105000"/>
              </a:lnSpc>
            </a:pPr>
            <a:r>
              <a:rPr sz="1250" b="1" i="0">
                <a:solidFill>
                  <a:srgbClr val="0055BC"/>
                </a:solidFill>
                <a:latin typeface="Verdana"/>
              </a:rPr>
              <a:t>Classical OR — </a:t>
            </a:r>
            <a:r>
              <a:rPr sz="1150" b="0" i="0">
                <a:solidFill>
                  <a:srgbClr val="334052"/>
                </a:solidFill>
                <a:latin typeface="Verdana"/>
              </a:rPr>
              <a:t>MIP solvers (OR-Tools, Gurobi, CPLEX); Monte Carlo / FEA / CFD — provable optimality.</a:t>
            </a:r>
          </a:p>
        </p:txBody>
      </p:sp>
      <p:sp>
        <p:nvSpPr>
          <p:cNvPr id="10" name="TextBox 9"/>
          <p:cNvSpPr txBox="1"/>
          <p:nvPr/>
        </p:nvSpPr>
        <p:spPr>
          <a:xfrm>
            <a:off x="6324600" y="4197096"/>
            <a:ext cx="5026152" cy="777240"/>
          </a:xfrm>
          <a:prstGeom prst="rect">
            <a:avLst/>
          </a:prstGeom>
          <a:noFill/>
        </p:spPr>
        <p:txBody>
          <a:bodyPr wrap="square" anchor="t" lIns="0" rIns="0" tIns="0" bIns="0">
            <a:spAutoFit/>
          </a:bodyPr>
          <a:lstStyle/>
          <a:p>
            <a:pPr>
              <a:lnSpc>
                <a:spcPct val="105000"/>
              </a:lnSpc>
            </a:pPr>
            <a:r>
              <a:rPr sz="1250" b="1" i="0">
                <a:solidFill>
                  <a:srgbClr val="0055BC"/>
                </a:solidFill>
                <a:latin typeface="Verdana"/>
              </a:rPr>
              <a:t>Rules systems — </a:t>
            </a:r>
            <a:r>
              <a:rPr sz="1150" b="0" i="0">
                <a:solidFill>
                  <a:srgbClr val="334052"/>
                </a:solidFill>
                <a:latin typeface="Verdana"/>
              </a:rPr>
              <a:t>Production-rule / inference engines (the Rete lineage) — declarative, explainable policy.</a:t>
            </a:r>
          </a:p>
        </p:txBody>
      </p:sp>
      <p:sp>
        <p:nvSpPr>
          <p:cNvPr id="11" name="Rectangle 10"/>
          <p:cNvSpPr/>
          <p:nvPr/>
        </p:nvSpPr>
        <p:spPr>
          <a:xfrm>
            <a:off x="841248" y="5486400"/>
            <a:ext cx="45720" cy="640080"/>
          </a:xfrm>
          <a:prstGeom prst="rect">
            <a:avLst/>
          </a:prstGeom>
          <a:solidFill>
            <a:srgbClr val="0073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78992" y="5468112"/>
            <a:ext cx="9144000" cy="640080"/>
          </a:xfrm>
          <a:prstGeom prst="rect">
            <a:avLst/>
          </a:prstGeom>
          <a:noFill/>
        </p:spPr>
        <p:txBody>
          <a:bodyPr wrap="square" anchor="t" lIns="0" rIns="0" tIns="0" bIns="0">
            <a:spAutoFit/>
          </a:bodyPr>
          <a:lstStyle/>
          <a:p>
            <a:r>
              <a:rPr sz="1550" b="0" i="1">
                <a:solidFill>
                  <a:srgbClr val="003B82"/>
                </a:solidFill>
                <a:latin typeface="Georgia"/>
              </a:rPr>
              <a:t>Agree on the mechanism; the seven boxes are how we teach it — and we'll say so.</a:t>
            </a:r>
          </a:p>
        </p:txBody>
      </p:sp>
      <p:sp>
        <p:nvSpPr>
          <p:cNvPr id="13" name="TextBox 12"/>
          <p:cNvSpPr txBox="1"/>
          <p:nvPr/>
        </p:nvSpPr>
        <p:spPr>
          <a:xfrm>
            <a:off x="841248" y="6382512"/>
            <a:ext cx="5486400" cy="274320"/>
          </a:xfrm>
          <a:prstGeom prst="rect">
            <a:avLst/>
          </a:prstGeom>
          <a:noFill/>
        </p:spPr>
        <p:txBody>
          <a:bodyPr wrap="square" anchor="t" lIns="0" rIns="0" tIns="0" bIns="0">
            <a:spAutoFit/>
          </a:bodyPr>
          <a:lstStyle/>
          <a:p>
            <a:r>
              <a:rPr sz="900" b="1" i="0" spc="220">
                <a:solidFill>
                  <a:srgbClr val="0055BC"/>
                </a:solidFill>
                <a:latin typeface="JetBrains Mono"/>
              </a:rPr>
              <a:t>WORKLOADS</a:t>
            </a:r>
          </a:p>
        </p:txBody>
      </p:sp>
      <p:pic>
        <p:nvPicPr>
          <p:cNvPr id="14" name="Picture 13" descr="CTG-Federal-logo-horizontal-color-72-dpi.png"/>
          <p:cNvPicPr>
            <a:picLocks noChangeAspect="1"/>
          </p:cNvPicPr>
          <p:nvPr/>
        </p:nvPicPr>
        <p:blipFill>
          <a:blip r:embed="rId2"/>
          <a:stretch>
            <a:fillRect/>
          </a:stretch>
        </p:blipFill>
        <p:spPr>
          <a:xfrm>
            <a:off x="9979152" y="6052700"/>
            <a:ext cx="1371600" cy="30238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rgbClr val="0B1220"/>
      </a:dk1>
      <a:lt1>
        <a:srgbClr val="FFFFFF"/>
      </a:lt1>
      <a:dk2>
        <a:srgbClr val="002550"/>
      </a:dk2>
      <a:lt2>
        <a:srgbClr val="F4F5F6"/>
      </a:lt2>
      <a:accent1>
        <a:srgbClr val="0073FE"/>
      </a:accent1>
      <a:accent2>
        <a:srgbClr val="5A9CFF"/>
      </a:accent2>
      <a:accent3>
        <a:srgbClr val="0055BC"/>
      </a:accent3>
      <a:accent4>
        <a:srgbClr val="003B82"/>
      </a:accent4>
      <a:accent5>
        <a:srgbClr val="C7D6E8"/>
      </a:accent5>
      <a:accent6>
        <a:srgbClr val="F68D2E"/>
      </a:accent6>
      <a:hlink>
        <a:srgbClr val="0055BC"/>
      </a:hlink>
      <a:folHlink>
        <a:srgbClr val="003B82"/>
      </a:folHlink>
    </a:clrScheme>
    <a:fontScheme name="Office">
      <a:majorFont>
        <a:latin typeface="Verdana"/>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Verdana"/>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CTG Federal — Types of Workloads</dc:title>
  <dc:subject/>
  <dc:creator>CTG Federal</dc:creator>
  <cp:keywords/>
  <dc:description>Section 09 — Types of Workloads (native/editable)</dc:description>
  <cp:lastModifiedBy>Steve Canny</cp:lastModifiedBy>
  <cp:revision>1</cp:revision>
  <dcterms:created xsi:type="dcterms:W3CDTF">2013-01-27T09:14:16Z</dcterms:created>
  <dcterms:modified xsi:type="dcterms:W3CDTF">2013-01-27T09:15:58Z</dcterms:modified>
  <cp:category>The AI Roadshow</cp:category>
</cp:coreProperties>
</file>